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9" r:id="rId5"/>
    <p:sldId id="279" r:id="rId6"/>
    <p:sldId id="260" r:id="rId7"/>
    <p:sldId id="283" r:id="rId8"/>
    <p:sldId id="270" r:id="rId9"/>
    <p:sldId id="282" r:id="rId10"/>
    <p:sldId id="272" r:id="rId11"/>
    <p:sldId id="274" r:id="rId12"/>
    <p:sldId id="262" r:id="rId13"/>
    <p:sldId id="273" r:id="rId14"/>
    <p:sldId id="284" r:id="rId15"/>
    <p:sldId id="263" r:id="rId16"/>
    <p:sldId id="264" r:id="rId17"/>
    <p:sldId id="275" r:id="rId18"/>
    <p:sldId id="276"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9059FA-E9F4-4529-9E77-B4E4CB6697E3}" v="2" dt="2025-11-06T03:39:47.00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ruddhihsabale@outlook.com" userId="ce6048c2ee28f414" providerId="LiveId" clId="{9D4F1FAE-23EE-4547-AC47-88F2A53C15C8}"/>
    <pc:docChg chg="undo custSel modSld">
      <pc:chgData name="samruddhihsabale@outlook.com" userId="ce6048c2ee28f414" providerId="LiveId" clId="{9D4F1FAE-23EE-4547-AC47-88F2A53C15C8}" dt="2025-11-06T03:40:33.477" v="35" actId="14100"/>
      <pc:docMkLst>
        <pc:docMk/>
      </pc:docMkLst>
      <pc:sldChg chg="modSp mod">
        <pc:chgData name="samruddhihsabale@outlook.com" userId="ce6048c2ee28f414" providerId="LiveId" clId="{9D4F1FAE-23EE-4547-AC47-88F2A53C15C8}" dt="2025-11-06T03:29:04.467" v="8" actId="20577"/>
        <pc:sldMkLst>
          <pc:docMk/>
          <pc:sldMk cId="0" sldId="257"/>
        </pc:sldMkLst>
        <pc:spChg chg="mod">
          <ac:chgData name="samruddhihsabale@outlook.com" userId="ce6048c2ee28f414" providerId="LiveId" clId="{9D4F1FAE-23EE-4547-AC47-88F2A53C15C8}" dt="2025-11-06T03:29:04.467" v="8" actId="20577"/>
          <ac:spMkLst>
            <pc:docMk/>
            <pc:sldMk cId="0" sldId="257"/>
            <ac:spMk id="3" creationId="{00000000-0000-0000-0000-000000000000}"/>
          </ac:spMkLst>
        </pc:spChg>
      </pc:sldChg>
      <pc:sldChg chg="addSp delSp modSp mod">
        <pc:chgData name="samruddhihsabale@outlook.com" userId="ce6048c2ee28f414" providerId="LiveId" clId="{9D4F1FAE-23EE-4547-AC47-88F2A53C15C8}" dt="2025-11-06T03:40:33.477" v="35" actId="14100"/>
        <pc:sldMkLst>
          <pc:docMk/>
          <pc:sldMk cId="2205238361" sldId="262"/>
        </pc:sldMkLst>
        <pc:spChg chg="add mod">
          <ac:chgData name="samruddhihsabale@outlook.com" userId="ce6048c2ee28f414" providerId="LiveId" clId="{9D4F1FAE-23EE-4547-AC47-88F2A53C15C8}" dt="2025-11-06T03:40:28.752" v="33" actId="14100"/>
          <ac:spMkLst>
            <pc:docMk/>
            <pc:sldMk cId="2205238361" sldId="262"/>
            <ac:spMk id="7" creationId="{827BBC11-7C94-2FC1-F6F0-89B0C918B861}"/>
          </ac:spMkLst>
        </pc:spChg>
        <pc:picChg chg="add mod">
          <ac:chgData name="samruddhihsabale@outlook.com" userId="ce6048c2ee28f414" providerId="LiveId" clId="{9D4F1FAE-23EE-4547-AC47-88F2A53C15C8}" dt="2025-11-06T03:40:33.477" v="35" actId="14100"/>
          <ac:picMkLst>
            <pc:docMk/>
            <pc:sldMk cId="2205238361" sldId="262"/>
            <ac:picMk id="4" creationId="{D421E1D0-EB7E-7F87-9F3F-1C7E300FE7EB}"/>
          </ac:picMkLst>
        </pc:picChg>
        <pc:picChg chg="del">
          <ac:chgData name="samruddhihsabale@outlook.com" userId="ce6048c2ee28f414" providerId="LiveId" clId="{9D4F1FAE-23EE-4547-AC47-88F2A53C15C8}" dt="2025-11-06T03:38:15.331" v="9" actId="478"/>
          <ac:picMkLst>
            <pc:docMk/>
            <pc:sldMk cId="2205238361" sldId="262"/>
            <ac:picMk id="6" creationId="{6EE4DA71-7E73-DF4E-35D1-CFB9E9D5E96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831F9-F5BA-44DB-AACD-D081BF54B29F}"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9B54CC-32EE-4BF9-A9D5-D66B67701607}" type="slidenum">
              <a:rPr lang="en-IN" smtClean="0"/>
              <a:t>‹#›</a:t>
            </a:fld>
            <a:endParaRPr lang="en-IN"/>
          </a:p>
        </p:txBody>
      </p:sp>
    </p:spTree>
    <p:extLst>
      <p:ext uri="{BB962C8B-B14F-4D97-AF65-F5344CB8AC3E}">
        <p14:creationId xmlns:p14="http://schemas.microsoft.com/office/powerpoint/2010/main" val="366718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7: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67C7E-C087-259E-D922-8ACECC1837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18BE26-8BAE-6106-E962-7905B06ABB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BBEB93-C712-2165-EC9D-17D5D844EF4F}"/>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5" name="Footer Placeholder 4">
            <a:extLst>
              <a:ext uri="{FF2B5EF4-FFF2-40B4-BE49-F238E27FC236}">
                <a16:creationId xmlns:a16="http://schemas.microsoft.com/office/drawing/2014/main" id="{90F6B59F-C63B-2180-E9F9-5200346C3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927669-4C58-2C21-3BBF-B3D176D0B8A9}"/>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112014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9B1B7-C8C3-F548-C38B-F653E08598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8ACFE8-8D24-4A84-E3B0-7A5251328E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CD9DCB-34E6-9BED-E1F9-214EF4487D37}"/>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5" name="Footer Placeholder 4">
            <a:extLst>
              <a:ext uri="{FF2B5EF4-FFF2-40B4-BE49-F238E27FC236}">
                <a16:creationId xmlns:a16="http://schemas.microsoft.com/office/drawing/2014/main" id="{ABA8576C-0977-7BC5-CD6F-333BEEDCDB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7A1700-CB07-9A29-40C8-B2DA62DDCEAB}"/>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448552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B13DF-A9B6-EFC4-012A-FC2E08C4EF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DCEBAB-D12B-4DBE-7781-49F9FCA977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F4E45B-86EA-7C25-CC01-8791D0110ECE}"/>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5" name="Footer Placeholder 4">
            <a:extLst>
              <a:ext uri="{FF2B5EF4-FFF2-40B4-BE49-F238E27FC236}">
                <a16:creationId xmlns:a16="http://schemas.microsoft.com/office/drawing/2014/main" id="{970A0E0C-77BC-6B19-0D1B-9729657942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D7615D-84CE-246B-2EBB-E5DD0219E2D5}"/>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16517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69250-EFC3-E264-E4B3-9CC04ACE1B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648713-406C-C231-76C8-ECEE9F59AB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B65300-114F-857A-DEB2-8777DFA0A3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990B11-8C01-AFDB-FFA6-9515B5A711BB}"/>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6" name="Footer Placeholder 5">
            <a:extLst>
              <a:ext uri="{FF2B5EF4-FFF2-40B4-BE49-F238E27FC236}">
                <a16:creationId xmlns:a16="http://schemas.microsoft.com/office/drawing/2014/main" id="{7096143E-C847-4D87-9A99-4B6BE25910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A31B15-558C-2F0B-9AE2-EAE60A6A0126}"/>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19584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ABC1-2422-4769-FCD1-6632F56FBB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D2510E-3B07-92BD-4A2B-522BE9FB59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050E24-7225-C415-A4EC-1FDD986B2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81F5FC-69FF-D381-05F9-E65A2F691D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214BD0-B151-33DD-644C-E3BC59E76E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BBA3BE-B509-DF6D-028D-8E151CBC9096}"/>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8" name="Footer Placeholder 7">
            <a:extLst>
              <a:ext uri="{FF2B5EF4-FFF2-40B4-BE49-F238E27FC236}">
                <a16:creationId xmlns:a16="http://schemas.microsoft.com/office/drawing/2014/main" id="{8764739A-B088-B548-AEE7-93752D9579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47280C-1040-DC0F-61FF-338C25F1F287}"/>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444878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8D4F8-CDEB-F377-DC6B-72D7785B78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94600B-E7E7-2260-0874-B64E8D5AF7B6}"/>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4" name="Footer Placeholder 3">
            <a:extLst>
              <a:ext uri="{FF2B5EF4-FFF2-40B4-BE49-F238E27FC236}">
                <a16:creationId xmlns:a16="http://schemas.microsoft.com/office/drawing/2014/main" id="{F4DFFC39-66EC-14DC-F724-BFD1B27E82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3FB435-F60B-4C77-2608-DB5C1117486B}"/>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020113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D3BBC6-91D9-BD1B-953E-4B42869228CC}"/>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3" name="Footer Placeholder 2">
            <a:extLst>
              <a:ext uri="{FF2B5EF4-FFF2-40B4-BE49-F238E27FC236}">
                <a16:creationId xmlns:a16="http://schemas.microsoft.com/office/drawing/2014/main" id="{7EBE96E0-9F96-5383-609F-7F885E472E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8CB925-0560-65BD-2059-C7DD40875F28}"/>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4084841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5228F-9775-5848-D5F2-B6D8A68E3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3535EC-1F2E-F136-C153-B1AA508BA1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159DCDE-E3E5-9A29-138B-1461FCBF3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25A07-178D-A8E1-0C38-6A94A0E4E692}"/>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6" name="Footer Placeholder 5">
            <a:extLst>
              <a:ext uri="{FF2B5EF4-FFF2-40B4-BE49-F238E27FC236}">
                <a16:creationId xmlns:a16="http://schemas.microsoft.com/office/drawing/2014/main" id="{10A9DE1D-35EB-51D7-0AD6-6376146907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4CF80F-A6DD-DE20-7B2E-0FECB86E2E4B}"/>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96169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8491-FBDB-F7CE-B774-09FF7E59F7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99F3BA9-34FB-1AB8-55AD-0DFA274F1C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CCE4F8-6D28-A42B-15FC-3D6D54920C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5BD1B8-146C-8098-6465-2C6F6453D057}"/>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6" name="Footer Placeholder 5">
            <a:extLst>
              <a:ext uri="{FF2B5EF4-FFF2-40B4-BE49-F238E27FC236}">
                <a16:creationId xmlns:a16="http://schemas.microsoft.com/office/drawing/2014/main" id="{4194482B-FA99-BFE6-772F-AC8E35C54D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2BF36F-9BED-12DE-7605-40AEE7666E45}"/>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4113931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3D77B-3B07-47F5-2764-391B0CC3D0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F35E03-1E54-7981-0F59-2C6C1587FA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2DB669-8A6D-BC23-8781-6D9519EEFC35}"/>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5" name="Footer Placeholder 4">
            <a:extLst>
              <a:ext uri="{FF2B5EF4-FFF2-40B4-BE49-F238E27FC236}">
                <a16:creationId xmlns:a16="http://schemas.microsoft.com/office/drawing/2014/main" id="{DE332D73-FAD5-8EEE-8D12-56ECD136A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81C594-318B-A1D9-631F-1E6F57FD785F}"/>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15710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E550F8-F532-6431-A1FF-74DFF3BCC1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EA553C-DACB-4B24-EC20-8F5E83FA11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B65CE1-8466-5A4D-0873-BBB7A49EEEF0}"/>
              </a:ext>
            </a:extLst>
          </p:cNvPr>
          <p:cNvSpPr>
            <a:spLocks noGrp="1"/>
          </p:cNvSpPr>
          <p:nvPr>
            <p:ph type="dt" sz="half" idx="10"/>
          </p:nvPr>
        </p:nvSpPr>
        <p:spPr/>
        <p:txBody>
          <a:bodyPr/>
          <a:lstStyle/>
          <a:p>
            <a:fld id="{A2A358D8-BD83-477A-B7AE-C7A5055A1886}" type="datetimeFigureOut">
              <a:rPr lang="en-IN" smtClean="0"/>
              <a:t>06-11-2025</a:t>
            </a:fld>
            <a:endParaRPr lang="en-IN"/>
          </a:p>
        </p:txBody>
      </p:sp>
      <p:sp>
        <p:nvSpPr>
          <p:cNvPr id="5" name="Footer Placeholder 4">
            <a:extLst>
              <a:ext uri="{FF2B5EF4-FFF2-40B4-BE49-F238E27FC236}">
                <a16:creationId xmlns:a16="http://schemas.microsoft.com/office/drawing/2014/main" id="{3762D793-4145-A4F6-55F1-250A2F9140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793A8-5D53-BE44-8113-5DF1A1FDCC49}"/>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835721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78"/>
        <p:cNvGrpSpPr/>
        <p:nvPr/>
      </p:nvGrpSpPr>
      <p:grpSpPr>
        <a:xfrm>
          <a:off x="0" y="0"/>
          <a:ext cx="0" cy="0"/>
          <a:chOff x="0" y="0"/>
          <a:chExt cx="0" cy="0"/>
        </a:xfrm>
      </p:grpSpPr>
      <p:sp>
        <p:nvSpPr>
          <p:cNvPr id="179" name="Google Shape;179;p4"/>
          <p:cNvSpPr txBox="1">
            <a:spLocks noGrp="1"/>
          </p:cNvSpPr>
          <p:nvPr>
            <p:ph type="title"/>
          </p:nvPr>
        </p:nvSpPr>
        <p:spPr>
          <a:xfrm>
            <a:off x="1176019" y="299720"/>
            <a:ext cx="7256145" cy="13842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800" b="0" i="0">
                <a:solidFill>
                  <a:srgbClr val="404040"/>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fld id="{17288DF8-AC44-4378-B535-63ECD99AF690}" type="datetime1">
              <a:rPr lang="en-US" smtClean="0"/>
              <a:t>11/6/2025</a:t>
            </a:fld>
            <a:endParaRPr/>
          </a:p>
        </p:txBody>
      </p:sp>
      <p:sp>
        <p:nvSpPr>
          <p:cNvPr id="182" name="Google Shape;182;p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2835219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D9B4A3-3615-5F15-93DE-FFE47588F6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500063-7A09-FF11-D956-61A8745E3B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3CB810-294A-E972-7321-43BD056F4A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358D8-BD83-477A-B7AE-C7A5055A1886}" type="datetimeFigureOut">
              <a:rPr lang="en-IN" smtClean="0"/>
              <a:t>06-11-2025</a:t>
            </a:fld>
            <a:endParaRPr lang="en-IN"/>
          </a:p>
        </p:txBody>
      </p:sp>
      <p:sp>
        <p:nvSpPr>
          <p:cNvPr id="5" name="Footer Placeholder 4">
            <a:extLst>
              <a:ext uri="{FF2B5EF4-FFF2-40B4-BE49-F238E27FC236}">
                <a16:creationId xmlns:a16="http://schemas.microsoft.com/office/drawing/2014/main" id="{24D03618-B66C-31CB-44AC-FB38AF57FD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7156578-9413-804D-CFD7-B211B2A3B0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CEB229-5006-46D5-9D5C-01B7C8D633D9}" type="slidenum">
              <a:rPr lang="en-IN" smtClean="0"/>
              <a:t>‹#›</a:t>
            </a:fld>
            <a:endParaRPr lang="en-IN"/>
          </a:p>
        </p:txBody>
      </p:sp>
    </p:spTree>
    <p:extLst>
      <p:ext uri="{BB962C8B-B14F-4D97-AF65-F5344CB8AC3E}">
        <p14:creationId xmlns:p14="http://schemas.microsoft.com/office/powerpoint/2010/main" val="3383210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3972" y="237490"/>
            <a:ext cx="426275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Arial"/>
                <a:cs typeface="Arial"/>
              </a:rPr>
              <a:t>SAVITRIBAI</a:t>
            </a:r>
            <a:r>
              <a:rPr sz="1800" spc="-50" dirty="0">
                <a:solidFill>
                  <a:srgbClr val="FF0000"/>
                </a:solidFill>
                <a:latin typeface="Arial"/>
                <a:cs typeface="Arial"/>
              </a:rPr>
              <a:t> </a:t>
            </a:r>
            <a:r>
              <a:rPr sz="1800" dirty="0">
                <a:solidFill>
                  <a:srgbClr val="FF0000"/>
                </a:solidFill>
                <a:latin typeface="Arial"/>
                <a:cs typeface="Arial"/>
              </a:rPr>
              <a:t>PHULE</a:t>
            </a:r>
            <a:r>
              <a:rPr sz="1800" spc="-100" dirty="0">
                <a:solidFill>
                  <a:srgbClr val="FF0000"/>
                </a:solidFill>
                <a:latin typeface="Arial"/>
                <a:cs typeface="Arial"/>
              </a:rPr>
              <a:t> </a:t>
            </a:r>
            <a:r>
              <a:rPr sz="1800" dirty="0">
                <a:solidFill>
                  <a:srgbClr val="FF0000"/>
                </a:solidFill>
                <a:latin typeface="Arial"/>
                <a:cs typeface="Arial"/>
              </a:rPr>
              <a:t>PUNE</a:t>
            </a:r>
            <a:r>
              <a:rPr sz="1800" spc="-100" dirty="0">
                <a:solidFill>
                  <a:srgbClr val="FF0000"/>
                </a:solidFill>
                <a:latin typeface="Arial"/>
                <a:cs typeface="Arial"/>
              </a:rPr>
              <a:t> </a:t>
            </a:r>
            <a:r>
              <a:rPr sz="1800" spc="-10" dirty="0">
                <a:solidFill>
                  <a:srgbClr val="FF0000"/>
                </a:solidFill>
                <a:latin typeface="Arial"/>
                <a:cs typeface="Arial"/>
              </a:rPr>
              <a:t>UNIVERSITY</a:t>
            </a:r>
            <a:endParaRPr sz="1800" dirty="0">
              <a:latin typeface="Arial"/>
              <a:cs typeface="Arial"/>
            </a:endParaRPr>
          </a:p>
        </p:txBody>
      </p:sp>
      <p:sp>
        <p:nvSpPr>
          <p:cNvPr id="3" name="object 3"/>
          <p:cNvSpPr txBox="1"/>
          <p:nvPr/>
        </p:nvSpPr>
        <p:spPr>
          <a:xfrm>
            <a:off x="398781" y="990600"/>
            <a:ext cx="9050019" cy="5264150"/>
          </a:xfrm>
          <a:prstGeom prst="rect">
            <a:avLst/>
          </a:prstGeom>
        </p:spPr>
        <p:txBody>
          <a:bodyPr vert="horz" wrap="square" lIns="0" tIns="12700" rIns="0" bIns="0" rtlCol="0">
            <a:spAutoFit/>
          </a:bodyPr>
          <a:lstStyle/>
          <a:p>
            <a:pPr marL="2058035">
              <a:lnSpc>
                <a:spcPct val="100000"/>
              </a:lnSpc>
              <a:spcBef>
                <a:spcPts val="100"/>
              </a:spcBef>
            </a:pPr>
            <a:r>
              <a:rPr sz="1800" spc="-20" dirty="0">
                <a:latin typeface="Calibri"/>
                <a:cs typeface="Calibri"/>
              </a:rPr>
              <a:t>JAYAWANTRAO</a:t>
            </a:r>
            <a:r>
              <a:rPr sz="1800" spc="-45" dirty="0">
                <a:latin typeface="Calibri"/>
                <a:cs typeface="Calibri"/>
              </a:rPr>
              <a:t> </a:t>
            </a:r>
            <a:r>
              <a:rPr sz="1800" spc="-20" dirty="0">
                <a:latin typeface="Calibri"/>
                <a:cs typeface="Calibri"/>
              </a:rPr>
              <a:t>SAWANT</a:t>
            </a:r>
            <a:r>
              <a:rPr sz="1800" spc="-50" dirty="0">
                <a:latin typeface="Calibri"/>
                <a:cs typeface="Calibri"/>
              </a:rPr>
              <a:t> </a:t>
            </a:r>
            <a:r>
              <a:rPr sz="1800" spc="-20" dirty="0">
                <a:latin typeface="Calibri"/>
                <a:cs typeface="Calibri"/>
              </a:rPr>
              <a:t>COLLEGE</a:t>
            </a:r>
            <a:r>
              <a:rPr sz="1800" spc="-15" dirty="0">
                <a:latin typeface="Calibri"/>
                <a:cs typeface="Calibri"/>
              </a:rPr>
              <a:t> </a:t>
            </a:r>
            <a:r>
              <a:rPr sz="1800" dirty="0">
                <a:latin typeface="Calibri"/>
                <a:cs typeface="Calibri"/>
              </a:rPr>
              <a:t>OF</a:t>
            </a:r>
            <a:r>
              <a:rPr sz="1800" spc="-75" dirty="0">
                <a:latin typeface="Calibri"/>
                <a:cs typeface="Calibri"/>
              </a:rPr>
              <a:t> </a:t>
            </a:r>
            <a:r>
              <a:rPr sz="1800" spc="-20" dirty="0">
                <a:latin typeface="Calibri"/>
                <a:cs typeface="Calibri"/>
              </a:rPr>
              <a:t>ENGINEERING,</a:t>
            </a:r>
            <a:r>
              <a:rPr sz="1800" spc="-50" dirty="0">
                <a:latin typeface="Calibri"/>
                <a:cs typeface="Calibri"/>
              </a:rPr>
              <a:t> </a:t>
            </a:r>
            <a:r>
              <a:rPr sz="1800" spc="-10" dirty="0">
                <a:latin typeface="Calibri"/>
                <a:cs typeface="Calibri"/>
              </a:rPr>
              <a:t>HADAPSAR,PUNE</a:t>
            </a:r>
            <a:endParaRPr sz="1800" dirty="0">
              <a:latin typeface="Calibri"/>
              <a:cs typeface="Calibri"/>
            </a:endParaRPr>
          </a:p>
          <a:p>
            <a:pPr marL="3804920" marR="1884680" indent="-525145">
              <a:lnSpc>
                <a:spcPct val="100000"/>
              </a:lnSpc>
              <a:spcBef>
                <a:spcPts val="1655"/>
              </a:spcBef>
            </a:pPr>
            <a:r>
              <a:rPr sz="1800" spc="-10" dirty="0">
                <a:latin typeface="Calibri"/>
                <a:cs typeface="Calibri"/>
              </a:rPr>
              <a:t>Department</a:t>
            </a:r>
            <a:r>
              <a:rPr sz="1800" spc="-90" dirty="0">
                <a:latin typeface="Calibri"/>
                <a:cs typeface="Calibri"/>
              </a:rPr>
              <a:t> </a:t>
            </a:r>
            <a:r>
              <a:rPr sz="1800" dirty="0">
                <a:latin typeface="Calibri"/>
                <a:cs typeface="Calibri"/>
              </a:rPr>
              <a:t>of</a:t>
            </a:r>
            <a:r>
              <a:rPr sz="1800" spc="-75" dirty="0">
                <a:latin typeface="Calibri"/>
                <a:cs typeface="Calibri"/>
              </a:rPr>
              <a:t> </a:t>
            </a:r>
            <a:r>
              <a:rPr sz="1800" spc="-10" dirty="0">
                <a:latin typeface="Calibri"/>
                <a:cs typeface="Calibri"/>
              </a:rPr>
              <a:t>Computer</a:t>
            </a:r>
            <a:r>
              <a:rPr sz="1800" spc="-50" dirty="0">
                <a:latin typeface="Calibri"/>
                <a:cs typeface="Calibri"/>
              </a:rPr>
              <a:t> </a:t>
            </a:r>
            <a:r>
              <a:rPr sz="1800" spc="-10" dirty="0">
                <a:latin typeface="Calibri"/>
                <a:cs typeface="Calibri"/>
              </a:rPr>
              <a:t>Engineering </a:t>
            </a:r>
            <a:r>
              <a:rPr sz="1800" dirty="0">
                <a:latin typeface="Calibri"/>
                <a:cs typeface="Calibri"/>
              </a:rPr>
              <a:t>Academic</a:t>
            </a:r>
            <a:r>
              <a:rPr sz="1800" spc="-50" dirty="0">
                <a:latin typeface="Calibri"/>
                <a:cs typeface="Calibri"/>
              </a:rPr>
              <a:t> </a:t>
            </a:r>
            <a:r>
              <a:rPr sz="1800" dirty="0">
                <a:latin typeface="Calibri"/>
                <a:cs typeface="Calibri"/>
              </a:rPr>
              <a:t>Year</a:t>
            </a:r>
            <a:r>
              <a:rPr sz="1800" spc="-45" dirty="0">
                <a:latin typeface="Calibri"/>
                <a:cs typeface="Calibri"/>
              </a:rPr>
              <a:t> </a:t>
            </a:r>
            <a:r>
              <a:rPr sz="1800" spc="-10" dirty="0">
                <a:latin typeface="Calibri"/>
                <a:cs typeface="Calibri"/>
              </a:rPr>
              <a:t>2025-</a:t>
            </a:r>
            <a:r>
              <a:rPr sz="1800" spc="-25" dirty="0">
                <a:latin typeface="Calibri"/>
                <a:cs typeface="Calibri"/>
              </a:rPr>
              <a:t>26</a:t>
            </a:r>
            <a:endParaRPr sz="1800" dirty="0">
              <a:latin typeface="Calibri"/>
              <a:cs typeface="Calibri"/>
            </a:endParaRPr>
          </a:p>
          <a:p>
            <a:pPr>
              <a:lnSpc>
                <a:spcPct val="100000"/>
              </a:lnSpc>
            </a:pPr>
            <a:endParaRPr sz="1800" dirty="0">
              <a:latin typeface="Calibri"/>
              <a:cs typeface="Calibri"/>
            </a:endParaRPr>
          </a:p>
          <a:p>
            <a:pPr>
              <a:lnSpc>
                <a:spcPct val="100000"/>
              </a:lnSpc>
              <a:spcBef>
                <a:spcPts val="40"/>
              </a:spcBef>
            </a:pPr>
            <a:endParaRPr sz="1800" dirty="0">
              <a:latin typeface="Calibri"/>
              <a:cs typeface="Calibri"/>
            </a:endParaRPr>
          </a:p>
          <a:p>
            <a:pPr marL="4155440">
              <a:lnSpc>
                <a:spcPct val="100000"/>
              </a:lnSpc>
              <a:tabLst>
                <a:tab pos="5854065" algn="l"/>
              </a:tabLst>
            </a:pPr>
            <a:r>
              <a:rPr sz="2000" b="1" dirty="0">
                <a:latin typeface="Calibri"/>
                <a:cs typeface="Calibri"/>
              </a:rPr>
              <a:t>Project</a:t>
            </a:r>
            <a:r>
              <a:rPr sz="2000" b="1" spc="-65" dirty="0">
                <a:latin typeface="Calibri"/>
                <a:cs typeface="Calibri"/>
              </a:rPr>
              <a:t> </a:t>
            </a:r>
            <a:r>
              <a:rPr sz="2000" b="1" spc="-25" dirty="0">
                <a:latin typeface="Calibri"/>
                <a:cs typeface="Calibri"/>
              </a:rPr>
              <a:t>Stage-</a:t>
            </a:r>
            <a:r>
              <a:rPr sz="2000" b="1" spc="-50" dirty="0">
                <a:latin typeface="Calibri"/>
                <a:cs typeface="Calibri"/>
              </a:rPr>
              <a:t>I</a:t>
            </a:r>
            <a:r>
              <a:rPr sz="2000" b="1" dirty="0">
                <a:latin typeface="Calibri"/>
                <a:cs typeface="Calibri"/>
              </a:rPr>
              <a:t>	</a:t>
            </a:r>
            <a:endParaRPr sz="2000" dirty="0">
              <a:latin typeface="Calibri"/>
              <a:cs typeface="Calibri"/>
            </a:endParaRPr>
          </a:p>
          <a:p>
            <a:pPr marL="1600200" algn="ctr">
              <a:lnSpc>
                <a:spcPct val="100000"/>
              </a:lnSpc>
              <a:spcBef>
                <a:spcPts val="1645"/>
              </a:spcBef>
            </a:pPr>
            <a:r>
              <a:rPr sz="1800" b="1" spc="-10" dirty="0">
                <a:solidFill>
                  <a:schemeClr val="tx1"/>
                </a:solidFill>
                <a:latin typeface="Calibri"/>
                <a:cs typeface="Calibri"/>
              </a:rPr>
              <a:t>“</a:t>
            </a:r>
            <a:r>
              <a:rPr sz="1800" b="1" spc="-10" dirty="0">
                <a:solidFill>
                  <a:schemeClr val="tx1"/>
                </a:solidFill>
                <a:latin typeface="Arial"/>
                <a:cs typeface="Arial"/>
              </a:rPr>
              <a:t>RareDetect:</a:t>
            </a:r>
            <a:r>
              <a:rPr sz="1800" b="1" spc="-80" dirty="0">
                <a:solidFill>
                  <a:schemeClr val="tx1"/>
                </a:solidFill>
                <a:latin typeface="Arial"/>
                <a:cs typeface="Arial"/>
              </a:rPr>
              <a:t> </a:t>
            </a:r>
            <a:r>
              <a:rPr sz="1800" b="1" dirty="0">
                <a:solidFill>
                  <a:schemeClr val="tx1"/>
                </a:solidFill>
                <a:latin typeface="Arial"/>
                <a:cs typeface="Arial"/>
              </a:rPr>
              <a:t>AI</a:t>
            </a:r>
            <a:r>
              <a:rPr sz="1800" b="1" spc="-70" dirty="0">
                <a:solidFill>
                  <a:schemeClr val="tx1"/>
                </a:solidFill>
                <a:latin typeface="Arial"/>
                <a:cs typeface="Arial"/>
              </a:rPr>
              <a:t> </a:t>
            </a:r>
            <a:r>
              <a:rPr sz="1800" b="1" dirty="0">
                <a:solidFill>
                  <a:schemeClr val="tx1"/>
                </a:solidFill>
                <a:latin typeface="Arial"/>
                <a:cs typeface="Arial"/>
              </a:rPr>
              <a:t>Based</a:t>
            </a:r>
            <a:r>
              <a:rPr sz="1800" b="1" spc="-70" dirty="0">
                <a:solidFill>
                  <a:schemeClr val="tx1"/>
                </a:solidFill>
                <a:latin typeface="Arial"/>
                <a:cs typeface="Arial"/>
              </a:rPr>
              <a:t> </a:t>
            </a:r>
            <a:r>
              <a:rPr sz="1800" b="1" dirty="0">
                <a:solidFill>
                  <a:schemeClr val="tx1"/>
                </a:solidFill>
                <a:latin typeface="Arial"/>
                <a:cs typeface="Arial"/>
              </a:rPr>
              <a:t>System</a:t>
            </a:r>
            <a:r>
              <a:rPr sz="1800" b="1" spc="-65" dirty="0">
                <a:solidFill>
                  <a:schemeClr val="tx1"/>
                </a:solidFill>
                <a:latin typeface="Arial"/>
                <a:cs typeface="Arial"/>
              </a:rPr>
              <a:t> </a:t>
            </a:r>
            <a:r>
              <a:rPr sz="1800" b="1" dirty="0">
                <a:solidFill>
                  <a:schemeClr val="tx1"/>
                </a:solidFill>
                <a:latin typeface="Arial"/>
                <a:cs typeface="Arial"/>
              </a:rPr>
              <a:t>for</a:t>
            </a:r>
            <a:r>
              <a:rPr sz="1800" b="1" spc="-80" dirty="0">
                <a:solidFill>
                  <a:schemeClr val="tx1"/>
                </a:solidFill>
                <a:latin typeface="Arial"/>
                <a:cs typeface="Arial"/>
              </a:rPr>
              <a:t> </a:t>
            </a:r>
            <a:r>
              <a:rPr sz="1800" b="1" spc="-10" dirty="0">
                <a:solidFill>
                  <a:schemeClr val="tx1"/>
                </a:solidFill>
                <a:latin typeface="Arial"/>
                <a:cs typeface="Arial"/>
              </a:rPr>
              <a:t>Identifying</a:t>
            </a:r>
            <a:r>
              <a:rPr sz="1800" b="1" spc="-70" dirty="0">
                <a:solidFill>
                  <a:schemeClr val="tx1"/>
                </a:solidFill>
                <a:latin typeface="Arial"/>
                <a:cs typeface="Arial"/>
              </a:rPr>
              <a:t> </a:t>
            </a:r>
            <a:r>
              <a:rPr sz="1800" b="1" dirty="0">
                <a:solidFill>
                  <a:schemeClr val="tx1"/>
                </a:solidFill>
                <a:latin typeface="Arial"/>
                <a:cs typeface="Arial"/>
              </a:rPr>
              <a:t>Rare</a:t>
            </a:r>
            <a:r>
              <a:rPr sz="1800" b="1" spc="-70" dirty="0">
                <a:solidFill>
                  <a:schemeClr val="tx1"/>
                </a:solidFill>
                <a:latin typeface="Arial"/>
                <a:cs typeface="Arial"/>
              </a:rPr>
              <a:t> </a:t>
            </a:r>
            <a:r>
              <a:rPr sz="1800" b="1" dirty="0">
                <a:solidFill>
                  <a:schemeClr val="tx1"/>
                </a:solidFill>
                <a:latin typeface="Arial"/>
                <a:cs typeface="Arial"/>
              </a:rPr>
              <a:t>Brain</a:t>
            </a:r>
            <a:r>
              <a:rPr sz="1800" b="1" spc="-90" dirty="0">
                <a:solidFill>
                  <a:schemeClr val="tx1"/>
                </a:solidFill>
                <a:latin typeface="Arial"/>
                <a:cs typeface="Arial"/>
              </a:rPr>
              <a:t> </a:t>
            </a:r>
            <a:r>
              <a:rPr sz="1800" b="1" spc="-10" dirty="0">
                <a:solidFill>
                  <a:schemeClr val="tx1"/>
                </a:solidFill>
                <a:latin typeface="Arial"/>
                <a:cs typeface="Arial"/>
              </a:rPr>
              <a:t>Tumors</a:t>
            </a:r>
            <a:r>
              <a:rPr sz="1800" b="1" spc="-10" dirty="0">
                <a:solidFill>
                  <a:schemeClr val="tx1"/>
                </a:solidFill>
                <a:latin typeface="Calibri"/>
                <a:cs typeface="Calibri"/>
              </a:rPr>
              <a:t>”</a:t>
            </a:r>
            <a:endParaRPr sz="1800" dirty="0">
              <a:solidFill>
                <a:schemeClr val="tx1"/>
              </a:solidFill>
              <a:latin typeface="Calibri"/>
              <a:cs typeface="Calibri"/>
            </a:endParaRPr>
          </a:p>
          <a:p>
            <a:pPr>
              <a:lnSpc>
                <a:spcPct val="100000"/>
              </a:lnSpc>
              <a:spcBef>
                <a:spcPts val="445"/>
              </a:spcBef>
            </a:pPr>
            <a:endParaRPr sz="1800" dirty="0">
              <a:latin typeface="Calibri"/>
              <a:cs typeface="Calibri"/>
            </a:endParaRPr>
          </a:p>
          <a:p>
            <a:pPr marL="1642110" algn="ctr">
              <a:lnSpc>
                <a:spcPct val="100000"/>
              </a:lnSpc>
            </a:pPr>
            <a:r>
              <a:rPr sz="1800" b="1" dirty="0">
                <a:latin typeface="Arial"/>
                <a:cs typeface="Arial"/>
              </a:rPr>
              <a:t>Final</a:t>
            </a:r>
            <a:r>
              <a:rPr sz="1800" b="1" spc="-90" dirty="0">
                <a:latin typeface="Arial"/>
                <a:cs typeface="Arial"/>
              </a:rPr>
              <a:t> </a:t>
            </a:r>
            <a:r>
              <a:rPr sz="1800" b="1" dirty="0">
                <a:latin typeface="Arial"/>
                <a:cs typeface="Arial"/>
              </a:rPr>
              <a:t>Year</a:t>
            </a:r>
            <a:r>
              <a:rPr sz="1800" b="1" spc="-40" dirty="0">
                <a:latin typeface="Arial"/>
                <a:cs typeface="Arial"/>
              </a:rPr>
              <a:t> </a:t>
            </a:r>
            <a:r>
              <a:rPr sz="1800" b="1" dirty="0">
                <a:latin typeface="Arial"/>
                <a:cs typeface="Arial"/>
              </a:rPr>
              <a:t>of</a:t>
            </a:r>
            <a:r>
              <a:rPr sz="1800" b="1" spc="-40" dirty="0">
                <a:latin typeface="Arial"/>
                <a:cs typeface="Arial"/>
              </a:rPr>
              <a:t> </a:t>
            </a:r>
            <a:r>
              <a:rPr sz="1800" b="1" dirty="0">
                <a:latin typeface="Arial"/>
                <a:cs typeface="Arial"/>
              </a:rPr>
              <a:t>Computer</a:t>
            </a:r>
            <a:r>
              <a:rPr sz="1800" b="1" spc="-60" dirty="0">
                <a:latin typeface="Arial"/>
                <a:cs typeface="Arial"/>
              </a:rPr>
              <a:t> </a:t>
            </a:r>
            <a:r>
              <a:rPr sz="1800" b="1" spc="-10" dirty="0">
                <a:latin typeface="Arial"/>
                <a:cs typeface="Arial"/>
              </a:rPr>
              <a:t>Engineering</a:t>
            </a:r>
            <a:endParaRPr sz="1800" dirty="0">
              <a:latin typeface="Arial"/>
              <a:cs typeface="Arial"/>
            </a:endParaRPr>
          </a:p>
          <a:p>
            <a:pPr>
              <a:lnSpc>
                <a:spcPct val="100000"/>
              </a:lnSpc>
              <a:spcBef>
                <a:spcPts val="885"/>
              </a:spcBef>
            </a:pPr>
            <a:endParaRPr sz="1800" dirty="0">
              <a:latin typeface="Arial"/>
              <a:cs typeface="Arial"/>
            </a:endParaRPr>
          </a:p>
          <a:p>
            <a:pPr marL="1605280" algn="ctr">
              <a:lnSpc>
                <a:spcPct val="100000"/>
              </a:lnSpc>
            </a:pPr>
            <a:r>
              <a:rPr sz="1800" dirty="0">
                <a:latin typeface="Calibri"/>
                <a:cs typeface="Calibri"/>
              </a:rPr>
              <a:t>PROJECT</a:t>
            </a:r>
            <a:r>
              <a:rPr sz="1800" spc="-60" dirty="0">
                <a:latin typeface="Calibri"/>
                <a:cs typeface="Calibri"/>
              </a:rPr>
              <a:t> </a:t>
            </a:r>
            <a:r>
              <a:rPr sz="1800" spc="-10" dirty="0">
                <a:latin typeface="Calibri"/>
                <a:cs typeface="Calibri"/>
              </a:rPr>
              <a:t>GUIDE:</a:t>
            </a:r>
            <a:r>
              <a:rPr sz="1800" spc="-100" dirty="0">
                <a:latin typeface="Calibri"/>
                <a:cs typeface="Calibri"/>
              </a:rPr>
              <a:t> </a:t>
            </a:r>
            <a:r>
              <a:rPr sz="1800" spc="-10" dirty="0">
                <a:latin typeface="Calibri"/>
                <a:cs typeface="Calibri"/>
              </a:rPr>
              <a:t>Prof.S.C.Patle</a:t>
            </a:r>
            <a:endParaRPr sz="1800" dirty="0">
              <a:latin typeface="Calibri"/>
              <a:cs typeface="Calibri"/>
            </a:endParaRPr>
          </a:p>
          <a:p>
            <a:pPr>
              <a:lnSpc>
                <a:spcPct val="100000"/>
              </a:lnSpc>
              <a:spcBef>
                <a:spcPts val="1689"/>
              </a:spcBef>
            </a:pPr>
            <a:endParaRPr sz="1800" dirty="0">
              <a:latin typeface="Calibri"/>
              <a:cs typeface="Calibri"/>
            </a:endParaRPr>
          </a:p>
          <a:p>
            <a:pPr marL="12700" algn="ctr">
              <a:lnSpc>
                <a:spcPct val="100000"/>
              </a:lnSpc>
            </a:pPr>
            <a:r>
              <a:rPr sz="1800" dirty="0">
                <a:latin typeface="Calibri"/>
                <a:cs typeface="Calibri"/>
              </a:rPr>
              <a:t>Group</a:t>
            </a:r>
            <a:r>
              <a:rPr sz="1800" spc="-65" dirty="0">
                <a:latin typeface="Calibri"/>
                <a:cs typeface="Calibri"/>
              </a:rPr>
              <a:t> </a:t>
            </a:r>
            <a:r>
              <a:rPr sz="1800" spc="-10" dirty="0">
                <a:latin typeface="Calibri"/>
                <a:cs typeface="Calibri"/>
              </a:rPr>
              <a:t>Members:</a:t>
            </a:r>
            <a:r>
              <a:rPr sz="1800" spc="-50" dirty="0">
                <a:latin typeface="Calibri"/>
                <a:cs typeface="Calibri"/>
              </a:rPr>
              <a:t> </a:t>
            </a:r>
            <a:r>
              <a:rPr lang="en-US" sz="1800" spc="-50" dirty="0">
                <a:latin typeface="Calibri"/>
                <a:cs typeface="Calibri"/>
              </a:rPr>
              <a:t>           </a:t>
            </a:r>
            <a:r>
              <a:rPr sz="1800" dirty="0">
                <a:latin typeface="Calibri"/>
                <a:cs typeface="Calibri"/>
              </a:rPr>
              <a:t>1.</a:t>
            </a:r>
            <a:r>
              <a:rPr sz="1800" spc="-55" dirty="0">
                <a:latin typeface="Calibri"/>
                <a:cs typeface="Calibri"/>
              </a:rPr>
              <a:t> </a:t>
            </a:r>
            <a:r>
              <a:rPr sz="1800" dirty="0">
                <a:latin typeface="Calibri"/>
                <a:cs typeface="Calibri"/>
              </a:rPr>
              <a:t>Rushikesh</a:t>
            </a:r>
            <a:r>
              <a:rPr sz="1800" spc="-25" dirty="0">
                <a:latin typeface="Calibri"/>
                <a:cs typeface="Calibri"/>
              </a:rPr>
              <a:t> </a:t>
            </a:r>
            <a:r>
              <a:rPr sz="1800" spc="-10" dirty="0">
                <a:latin typeface="Calibri"/>
                <a:cs typeface="Calibri"/>
              </a:rPr>
              <a:t>Shiraskar</a:t>
            </a:r>
            <a:endParaRPr sz="1800" dirty="0">
              <a:latin typeface="Calibri"/>
              <a:cs typeface="Calibri"/>
            </a:endParaRPr>
          </a:p>
          <a:p>
            <a:pPr marL="1910714" indent="-221615" algn="ctr">
              <a:lnSpc>
                <a:spcPct val="100000"/>
              </a:lnSpc>
              <a:buAutoNum type="arabicPeriod" startAt="2"/>
              <a:tabLst>
                <a:tab pos="1910714" algn="l"/>
              </a:tabLst>
            </a:pPr>
            <a:r>
              <a:rPr sz="1800" dirty="0">
                <a:latin typeface="Calibri"/>
                <a:cs typeface="Calibri"/>
              </a:rPr>
              <a:t>Piyush</a:t>
            </a:r>
            <a:r>
              <a:rPr sz="1800" spc="-55" dirty="0">
                <a:latin typeface="Calibri"/>
                <a:cs typeface="Calibri"/>
              </a:rPr>
              <a:t> </a:t>
            </a:r>
            <a:r>
              <a:rPr sz="1800" spc="-10" dirty="0">
                <a:latin typeface="Calibri"/>
                <a:cs typeface="Calibri"/>
              </a:rPr>
              <a:t>Borade</a:t>
            </a:r>
            <a:endParaRPr sz="1800" dirty="0">
              <a:latin typeface="Calibri"/>
              <a:cs typeface="Calibri"/>
            </a:endParaRPr>
          </a:p>
          <a:p>
            <a:pPr marL="1910714" indent="-221615" algn="ctr">
              <a:lnSpc>
                <a:spcPct val="100000"/>
              </a:lnSpc>
              <a:spcBef>
                <a:spcPts val="5"/>
              </a:spcBef>
              <a:buAutoNum type="arabicPeriod" startAt="2"/>
              <a:tabLst>
                <a:tab pos="1910714" algn="l"/>
              </a:tabLst>
            </a:pPr>
            <a:r>
              <a:rPr sz="1800" dirty="0">
                <a:latin typeface="Calibri"/>
                <a:cs typeface="Calibri"/>
              </a:rPr>
              <a:t>Rutuja</a:t>
            </a:r>
            <a:r>
              <a:rPr sz="1800" spc="-55" dirty="0">
                <a:latin typeface="Calibri"/>
                <a:cs typeface="Calibri"/>
              </a:rPr>
              <a:t> </a:t>
            </a:r>
            <a:r>
              <a:rPr sz="1800" spc="-10" dirty="0">
                <a:latin typeface="Calibri"/>
                <a:cs typeface="Calibri"/>
              </a:rPr>
              <a:t>Londhe</a:t>
            </a:r>
            <a:r>
              <a:rPr lang="en-US" sz="1800" spc="-10" dirty="0">
                <a:latin typeface="Calibri"/>
                <a:cs typeface="Calibri"/>
              </a:rPr>
              <a:t>                                                                                                                                                                                                                                                            </a:t>
            </a:r>
            <a:endParaRPr sz="1800" dirty="0">
              <a:latin typeface="Calibri"/>
              <a:cs typeface="Calibri"/>
            </a:endParaRPr>
          </a:p>
          <a:p>
            <a:pPr marL="1913889" indent="-224790" algn="ctr">
              <a:lnSpc>
                <a:spcPct val="100000"/>
              </a:lnSpc>
              <a:spcBef>
                <a:spcPts val="25"/>
              </a:spcBef>
              <a:buAutoNum type="arabicPeriod" startAt="2"/>
              <a:tabLst>
                <a:tab pos="1913889" algn="l"/>
              </a:tabLst>
            </a:pPr>
            <a:r>
              <a:rPr sz="1800" dirty="0">
                <a:latin typeface="Calibri"/>
                <a:cs typeface="Calibri"/>
              </a:rPr>
              <a:t>Samruddhi</a:t>
            </a:r>
            <a:r>
              <a:rPr sz="1800" spc="-105" dirty="0">
                <a:latin typeface="Calibri"/>
                <a:cs typeface="Calibri"/>
              </a:rPr>
              <a:t> </a:t>
            </a:r>
            <a:r>
              <a:rPr sz="1800" spc="-20" dirty="0">
                <a:latin typeface="Calibri"/>
                <a:cs typeface="Calibri"/>
              </a:rPr>
              <a:t>Sable</a:t>
            </a:r>
            <a:endParaRPr sz="1800" dirty="0">
              <a:latin typeface="Calibri"/>
              <a:cs typeface="Calibri"/>
            </a:endParaRPr>
          </a:p>
        </p:txBody>
      </p:sp>
      <p:pic>
        <p:nvPicPr>
          <p:cNvPr id="4" name="object 4"/>
          <p:cNvPicPr/>
          <p:nvPr/>
        </p:nvPicPr>
        <p:blipFill>
          <a:blip r:embed="rId2" cstate="print"/>
          <a:stretch>
            <a:fillRect/>
          </a:stretch>
        </p:blipFill>
        <p:spPr>
          <a:xfrm>
            <a:off x="198754" y="233679"/>
            <a:ext cx="1304798" cy="1286510"/>
          </a:xfrm>
          <a:prstGeom prst="rect">
            <a:avLst/>
          </a:prstGeom>
        </p:spPr>
      </p:pic>
      <p:pic>
        <p:nvPicPr>
          <p:cNvPr id="5" name="object 5"/>
          <p:cNvPicPr/>
          <p:nvPr/>
        </p:nvPicPr>
        <p:blipFill>
          <a:blip r:embed="rId3" cstate="print"/>
          <a:stretch>
            <a:fillRect/>
          </a:stretch>
        </p:blipFill>
        <p:spPr>
          <a:xfrm>
            <a:off x="10031094" y="224777"/>
            <a:ext cx="1762125" cy="11828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06BF888-8172-E0EF-33CF-7DD427F5F416}"/>
              </a:ext>
            </a:extLst>
          </p:cNvPr>
          <p:cNvSpPr txBox="1">
            <a:spLocks/>
          </p:cNvSpPr>
          <p:nvPr/>
        </p:nvSpPr>
        <p:spPr>
          <a:xfrm>
            <a:off x="1113182" y="349961"/>
            <a:ext cx="2623931" cy="689291"/>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58495">
              <a:lnSpc>
                <a:spcPct val="100000"/>
              </a:lnSpc>
              <a:spcBef>
                <a:spcPts val="95"/>
              </a:spcBef>
            </a:pPr>
            <a:r>
              <a:rPr lang="en-IN" spc="-10" dirty="0"/>
              <a:t>INDEX</a:t>
            </a:r>
          </a:p>
        </p:txBody>
      </p:sp>
      <p:sp>
        <p:nvSpPr>
          <p:cNvPr id="4" name="TextBox 3">
            <a:extLst>
              <a:ext uri="{FF2B5EF4-FFF2-40B4-BE49-F238E27FC236}">
                <a16:creationId xmlns:a16="http://schemas.microsoft.com/office/drawing/2014/main" id="{2718AA79-2AB4-61CF-C958-D43932256681}"/>
              </a:ext>
            </a:extLst>
          </p:cNvPr>
          <p:cNvSpPr txBox="1"/>
          <p:nvPr/>
        </p:nvSpPr>
        <p:spPr>
          <a:xfrm>
            <a:off x="1113182" y="1267602"/>
            <a:ext cx="6096000" cy="3693319"/>
          </a:xfrm>
          <a:prstGeom prst="rect">
            <a:avLst/>
          </a:prstGeom>
          <a:noFill/>
        </p:spPr>
        <p:txBody>
          <a:bodyPr wrap="square">
            <a:spAutoFit/>
          </a:bodyPr>
          <a:lstStyle/>
          <a:p>
            <a:pPr marL="354965" indent="-342265">
              <a:lnSpc>
                <a:spcPct val="100000"/>
              </a:lnSpc>
              <a:spcBef>
                <a:spcPts val="100"/>
              </a:spcBef>
              <a:buFont typeface="Wingdings"/>
              <a:buChar char=""/>
              <a:tabLst>
                <a:tab pos="354965" algn="l"/>
              </a:tabLst>
            </a:pPr>
            <a:r>
              <a:rPr lang="en-US" sz="1800" spc="-10" dirty="0">
                <a:latin typeface="Times New Roman"/>
                <a:cs typeface="Times New Roman"/>
              </a:rPr>
              <a:t>Abstract</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spc="-10" dirty="0">
                <a:latin typeface="Times New Roman"/>
                <a:cs typeface="Times New Roman"/>
              </a:rPr>
              <a:t>Introduction</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Literature</a:t>
            </a:r>
            <a:r>
              <a:rPr lang="en-US" sz="1800" spc="-80" dirty="0">
                <a:latin typeface="Times New Roman"/>
                <a:cs typeface="Times New Roman"/>
              </a:rPr>
              <a:t> </a:t>
            </a:r>
            <a:r>
              <a:rPr lang="en-US" sz="1800" spc="-10" dirty="0">
                <a:latin typeface="Times New Roman"/>
                <a:cs typeface="Times New Roman"/>
              </a:rPr>
              <a:t>Review</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Motivation</a:t>
            </a:r>
            <a:r>
              <a:rPr lang="en-US" sz="1800" spc="-10" dirty="0">
                <a:latin typeface="Times New Roman"/>
                <a:cs typeface="Times New Roman"/>
              </a:rPr>
              <a:t> </a:t>
            </a:r>
            <a:r>
              <a:rPr lang="en-US" sz="1800" dirty="0">
                <a:latin typeface="Times New Roman"/>
                <a:cs typeface="Times New Roman"/>
              </a:rPr>
              <a:t>&amp;</a:t>
            </a:r>
            <a:r>
              <a:rPr lang="en-US" sz="1800" spc="5" dirty="0">
                <a:latin typeface="Times New Roman"/>
                <a:cs typeface="Times New Roman"/>
              </a:rPr>
              <a:t> </a:t>
            </a:r>
            <a:r>
              <a:rPr lang="en-US" sz="1800" spc="-10" dirty="0">
                <a:latin typeface="Times New Roman"/>
                <a:cs typeface="Times New Roman"/>
              </a:rPr>
              <a:t>Gap</a:t>
            </a:r>
            <a:r>
              <a:rPr lang="en-US" sz="1800" spc="-105" dirty="0">
                <a:latin typeface="Times New Roman"/>
                <a:cs typeface="Times New Roman"/>
              </a:rPr>
              <a:t> </a:t>
            </a:r>
            <a:r>
              <a:rPr lang="en-US" sz="1800" spc="-10" dirty="0">
                <a:latin typeface="Times New Roman"/>
                <a:cs typeface="Times New Roman"/>
              </a:rPr>
              <a:t>Analysis</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Project</a:t>
            </a:r>
            <a:r>
              <a:rPr lang="en-US" sz="1800" spc="-75" dirty="0">
                <a:latin typeface="Times New Roman"/>
                <a:cs typeface="Times New Roman"/>
              </a:rPr>
              <a:t> </a:t>
            </a:r>
            <a:r>
              <a:rPr lang="en-US" sz="1800" dirty="0">
                <a:latin typeface="Times New Roman"/>
                <a:cs typeface="Times New Roman"/>
              </a:rPr>
              <a:t>Description</a:t>
            </a:r>
            <a:r>
              <a:rPr lang="en-US" sz="1800" spc="-65" dirty="0">
                <a:latin typeface="Times New Roman"/>
                <a:cs typeface="Times New Roman"/>
              </a:rPr>
              <a:t> </a:t>
            </a:r>
            <a:r>
              <a:rPr lang="en-US" sz="1800" spc="-10" dirty="0">
                <a:latin typeface="Times New Roman"/>
                <a:cs typeface="Times New Roman"/>
              </a:rPr>
              <a:t>/Objective</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Architecture</a:t>
            </a:r>
            <a:r>
              <a:rPr lang="en-US" sz="1800" spc="-15" dirty="0">
                <a:latin typeface="Times New Roman"/>
                <a:cs typeface="Times New Roman"/>
              </a:rPr>
              <a:t> </a:t>
            </a:r>
            <a:r>
              <a:rPr lang="en-US" sz="1800" spc="-10" dirty="0">
                <a:latin typeface="Times New Roman"/>
                <a:cs typeface="Times New Roman"/>
              </a:rPr>
              <a:t>Diagram</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Mathematical</a:t>
            </a:r>
            <a:r>
              <a:rPr lang="en-US" sz="1800" spc="340" dirty="0">
                <a:latin typeface="Times New Roman"/>
                <a:cs typeface="Times New Roman"/>
              </a:rPr>
              <a:t> </a:t>
            </a:r>
            <a:r>
              <a:rPr lang="en-US" sz="1800" spc="-20" dirty="0">
                <a:latin typeface="Times New Roman"/>
                <a:cs typeface="Times New Roman"/>
              </a:rPr>
              <a:t>Model</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spc="-10" dirty="0">
                <a:latin typeface="Times New Roman"/>
                <a:cs typeface="Times New Roman"/>
              </a:rPr>
              <a:t>Design</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Algorithm</a:t>
            </a:r>
            <a:r>
              <a:rPr lang="en-US" sz="1800" spc="-15" dirty="0">
                <a:latin typeface="Times New Roman"/>
                <a:cs typeface="Times New Roman"/>
              </a:rPr>
              <a:t> </a:t>
            </a:r>
            <a:r>
              <a:rPr lang="en-US" sz="1800" dirty="0">
                <a:latin typeface="Times New Roman"/>
                <a:cs typeface="Times New Roman"/>
              </a:rPr>
              <a:t>to</a:t>
            </a:r>
            <a:r>
              <a:rPr lang="en-US" sz="1800" spc="-5" dirty="0">
                <a:latin typeface="Times New Roman"/>
                <a:cs typeface="Times New Roman"/>
              </a:rPr>
              <a:t> </a:t>
            </a:r>
            <a:r>
              <a:rPr lang="en-US" sz="1800" dirty="0">
                <a:latin typeface="Times New Roman"/>
                <a:cs typeface="Times New Roman"/>
              </a:rPr>
              <a:t>be</a:t>
            </a:r>
            <a:r>
              <a:rPr lang="en-US" sz="1800" spc="-5" dirty="0">
                <a:latin typeface="Times New Roman"/>
                <a:cs typeface="Times New Roman"/>
              </a:rPr>
              <a:t> </a:t>
            </a:r>
            <a:r>
              <a:rPr lang="en-US" sz="1800" spc="-20" dirty="0">
                <a:latin typeface="Times New Roman"/>
                <a:cs typeface="Times New Roman"/>
              </a:rPr>
              <a:t>used</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dirty="0">
                <a:latin typeface="Times New Roman"/>
                <a:cs typeface="Times New Roman"/>
              </a:rPr>
              <a:t>End</a:t>
            </a:r>
            <a:r>
              <a:rPr lang="en-US" sz="1800" spc="-35" dirty="0">
                <a:latin typeface="Times New Roman"/>
                <a:cs typeface="Times New Roman"/>
              </a:rPr>
              <a:t> </a:t>
            </a:r>
            <a:r>
              <a:rPr lang="en-US" sz="1800" dirty="0">
                <a:latin typeface="Times New Roman"/>
                <a:cs typeface="Times New Roman"/>
              </a:rPr>
              <a:t>user</a:t>
            </a:r>
            <a:r>
              <a:rPr lang="en-US" sz="1800" spc="-35" dirty="0">
                <a:latin typeface="Times New Roman"/>
                <a:cs typeface="Times New Roman"/>
              </a:rPr>
              <a:t> </a:t>
            </a:r>
            <a:r>
              <a:rPr lang="en-US" sz="1800" dirty="0">
                <a:latin typeface="Times New Roman"/>
                <a:cs typeface="Times New Roman"/>
              </a:rPr>
              <a:t>/Business</a:t>
            </a:r>
            <a:r>
              <a:rPr lang="en-US" sz="1800" spc="-35" dirty="0">
                <a:latin typeface="Times New Roman"/>
                <a:cs typeface="Times New Roman"/>
              </a:rPr>
              <a:t> </a:t>
            </a:r>
            <a:r>
              <a:rPr lang="en-US" sz="1800" spc="-10" dirty="0">
                <a:latin typeface="Times New Roman"/>
                <a:cs typeface="Times New Roman"/>
              </a:rPr>
              <a:t>Model</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spc="-10" dirty="0">
                <a:latin typeface="Times New Roman"/>
                <a:cs typeface="Times New Roman"/>
              </a:rPr>
              <a:t>Application</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spc="-10" dirty="0">
                <a:latin typeface="Times New Roman"/>
                <a:cs typeface="Times New Roman"/>
              </a:rPr>
              <a:t>Conclusion</a:t>
            </a:r>
            <a:endParaRPr lang="en-US" sz="1800" dirty="0">
              <a:latin typeface="Times New Roman"/>
              <a:cs typeface="Times New Roman"/>
            </a:endParaRPr>
          </a:p>
          <a:p>
            <a:pPr marL="354965" indent="-342265">
              <a:lnSpc>
                <a:spcPct val="100000"/>
              </a:lnSpc>
              <a:buFont typeface="Wingdings"/>
              <a:buChar char=""/>
              <a:tabLst>
                <a:tab pos="354965" algn="l"/>
              </a:tabLst>
            </a:pPr>
            <a:r>
              <a:rPr lang="en-US" sz="1800" spc="-10" dirty="0">
                <a:latin typeface="Times New Roman"/>
                <a:cs typeface="Times New Roman"/>
              </a:rPr>
              <a:t>References</a:t>
            </a:r>
            <a:endParaRPr lang="en-US" sz="1800" dirty="0">
              <a:latin typeface="Times New Roman"/>
              <a:cs typeface="Times New Roman"/>
            </a:endParaRPr>
          </a:p>
        </p:txBody>
      </p:sp>
    </p:spTree>
    <p:extLst>
      <p:ext uri="{BB962C8B-B14F-4D97-AF65-F5344CB8AC3E}">
        <p14:creationId xmlns:p14="http://schemas.microsoft.com/office/powerpoint/2010/main" val="130676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B0ADC73-309D-B8E6-C860-6C777AB06114}"/>
              </a:ext>
            </a:extLst>
          </p:cNvPr>
          <p:cNvSpPr txBox="1">
            <a:spLocks/>
          </p:cNvSpPr>
          <p:nvPr/>
        </p:nvSpPr>
        <p:spPr>
          <a:xfrm>
            <a:off x="838200" y="365125"/>
            <a:ext cx="10515600" cy="1043619"/>
          </a:xfrm>
          <a:prstGeom prst="rect">
            <a:avLst/>
          </a:prstGeom>
        </p:spPr>
        <p:txBody>
          <a:bodyPr vert="horz" wrap="square" lIns="0" tIns="362966"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97865">
              <a:lnSpc>
                <a:spcPct val="100000"/>
              </a:lnSpc>
              <a:spcBef>
                <a:spcPts val="95"/>
              </a:spcBef>
            </a:pPr>
            <a:r>
              <a:rPr lang="en-IN" spc="-10" dirty="0"/>
              <a:t>ABSTRACT</a:t>
            </a:r>
          </a:p>
        </p:txBody>
      </p:sp>
      <p:sp>
        <p:nvSpPr>
          <p:cNvPr id="4" name="TextBox 3">
            <a:extLst>
              <a:ext uri="{FF2B5EF4-FFF2-40B4-BE49-F238E27FC236}">
                <a16:creationId xmlns:a16="http://schemas.microsoft.com/office/drawing/2014/main" id="{ED640BF8-1B3F-0827-B9D9-E082A7C52DAB}"/>
              </a:ext>
            </a:extLst>
          </p:cNvPr>
          <p:cNvSpPr txBox="1"/>
          <p:nvPr/>
        </p:nvSpPr>
        <p:spPr>
          <a:xfrm>
            <a:off x="1013791" y="1550578"/>
            <a:ext cx="10515600" cy="2677656"/>
          </a:xfrm>
          <a:prstGeom prst="rect">
            <a:avLst/>
          </a:prstGeom>
          <a:noFill/>
        </p:spPr>
        <p:txBody>
          <a:bodyPr wrap="square">
            <a:spAutoFit/>
          </a:bodyPr>
          <a:lstStyle/>
          <a:p>
            <a:r>
              <a:rPr lang="en-US" sz="2400" dirty="0"/>
              <a:t>Rare diseases are difficult to detect due to limited and imbalanced data. Existing CNN models like VGG16 and ResNet50 show good performance but face challenges in rare disease classification. To address this, we propose </a:t>
            </a:r>
            <a:r>
              <a:rPr lang="en-US" sz="2400" b="1" dirty="0" err="1"/>
              <a:t>RareNet</a:t>
            </a:r>
            <a:r>
              <a:rPr lang="en-US" sz="2400" dirty="0"/>
              <a:t>, a custom CNN model designed for accurate detection. The pipeline includes preprocessing, feature extraction, classification, and evaluation using metrics such as accuracy, precision, recall, and F1-score. </a:t>
            </a:r>
            <a:r>
              <a:rPr lang="en-US" sz="2400" dirty="0" err="1"/>
              <a:t>RareNet</a:t>
            </a:r>
            <a:r>
              <a:rPr lang="en-US" sz="2400" dirty="0"/>
              <a:t> provides a reliable AI-based support system for doctors and researchers in diagnosing rare diseases.</a:t>
            </a:r>
            <a:endParaRPr lang="en-IN" sz="2400" dirty="0"/>
          </a:p>
        </p:txBody>
      </p:sp>
    </p:spTree>
    <p:extLst>
      <p:ext uri="{BB962C8B-B14F-4D97-AF65-F5344CB8AC3E}">
        <p14:creationId xmlns:p14="http://schemas.microsoft.com/office/powerpoint/2010/main" val="2571849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966" rIns="0" bIns="0" rtlCol="0">
            <a:spAutoFit/>
          </a:bodyPr>
          <a:lstStyle/>
          <a:p>
            <a:pPr marL="697865">
              <a:lnSpc>
                <a:spcPct val="100000"/>
              </a:lnSpc>
              <a:spcBef>
                <a:spcPts val="95"/>
              </a:spcBef>
            </a:pPr>
            <a:r>
              <a:rPr spc="-10" dirty="0"/>
              <a:t>INTRODUCTION</a:t>
            </a:r>
          </a:p>
        </p:txBody>
      </p:sp>
      <p:sp>
        <p:nvSpPr>
          <p:cNvPr id="3" name="object 3"/>
          <p:cNvSpPr txBox="1"/>
          <p:nvPr/>
        </p:nvSpPr>
        <p:spPr>
          <a:xfrm>
            <a:off x="688644" y="1804796"/>
            <a:ext cx="10633710" cy="4426853"/>
          </a:xfrm>
          <a:prstGeom prst="rect">
            <a:avLst/>
          </a:prstGeom>
        </p:spPr>
        <p:txBody>
          <a:bodyPr vert="horz" wrap="square" lIns="0" tIns="12700" rIns="0" bIns="0" rtlCol="0">
            <a:spAutoFit/>
          </a:bodyPr>
          <a:lstStyle/>
          <a:p>
            <a:pPr marL="12700" algn="just">
              <a:lnSpc>
                <a:spcPct val="100000"/>
              </a:lnSpc>
              <a:spcBef>
                <a:spcPts val="100"/>
              </a:spcBef>
            </a:pPr>
            <a:r>
              <a:rPr sz="1800" dirty="0">
                <a:latin typeface="Calibri"/>
                <a:cs typeface="Calibri"/>
              </a:rPr>
              <a:t>Artificial</a:t>
            </a:r>
            <a:r>
              <a:rPr sz="1800" spc="270" dirty="0">
                <a:latin typeface="Calibri"/>
                <a:cs typeface="Calibri"/>
              </a:rPr>
              <a:t> </a:t>
            </a:r>
            <a:r>
              <a:rPr sz="1800" dirty="0">
                <a:latin typeface="Calibri"/>
                <a:cs typeface="Calibri"/>
              </a:rPr>
              <a:t>Intelligence</a:t>
            </a:r>
            <a:r>
              <a:rPr sz="1800" spc="265" dirty="0">
                <a:latin typeface="Calibri"/>
                <a:cs typeface="Calibri"/>
              </a:rPr>
              <a:t> </a:t>
            </a:r>
            <a:r>
              <a:rPr sz="1800" dirty="0">
                <a:latin typeface="Calibri"/>
                <a:cs typeface="Calibri"/>
              </a:rPr>
              <a:t>(AI)</a:t>
            </a:r>
            <a:r>
              <a:rPr sz="1800" spc="285" dirty="0">
                <a:latin typeface="Calibri"/>
                <a:cs typeface="Calibri"/>
              </a:rPr>
              <a:t> </a:t>
            </a:r>
            <a:r>
              <a:rPr sz="1800" dirty="0">
                <a:latin typeface="Calibri"/>
                <a:cs typeface="Calibri"/>
              </a:rPr>
              <a:t>and</a:t>
            </a:r>
            <a:r>
              <a:rPr sz="1800" spc="265" dirty="0">
                <a:latin typeface="Calibri"/>
                <a:cs typeface="Calibri"/>
              </a:rPr>
              <a:t> </a:t>
            </a:r>
            <a:r>
              <a:rPr sz="1800" dirty="0">
                <a:latin typeface="Calibri"/>
                <a:cs typeface="Calibri"/>
              </a:rPr>
              <a:t>deep</a:t>
            </a:r>
            <a:r>
              <a:rPr sz="1800" spc="265" dirty="0">
                <a:latin typeface="Calibri"/>
                <a:cs typeface="Calibri"/>
              </a:rPr>
              <a:t> </a:t>
            </a:r>
            <a:r>
              <a:rPr sz="1800" dirty="0">
                <a:latin typeface="Calibri"/>
                <a:cs typeface="Calibri"/>
              </a:rPr>
              <a:t>learning</a:t>
            </a:r>
            <a:r>
              <a:rPr sz="1800" spc="275" dirty="0">
                <a:latin typeface="Calibri"/>
                <a:cs typeface="Calibri"/>
              </a:rPr>
              <a:t> </a:t>
            </a:r>
            <a:r>
              <a:rPr sz="1800" dirty="0">
                <a:latin typeface="Calibri"/>
                <a:cs typeface="Calibri"/>
              </a:rPr>
              <a:t>have</a:t>
            </a:r>
            <a:r>
              <a:rPr sz="1800" spc="265" dirty="0">
                <a:latin typeface="Calibri"/>
                <a:cs typeface="Calibri"/>
              </a:rPr>
              <a:t> </a:t>
            </a:r>
            <a:r>
              <a:rPr sz="1800" dirty="0">
                <a:latin typeface="Calibri"/>
                <a:cs typeface="Calibri"/>
              </a:rPr>
              <a:t>significantly</a:t>
            </a:r>
            <a:r>
              <a:rPr sz="1800" spc="300" dirty="0">
                <a:latin typeface="Calibri"/>
                <a:cs typeface="Calibri"/>
              </a:rPr>
              <a:t> </a:t>
            </a:r>
            <a:r>
              <a:rPr sz="1800" dirty="0">
                <a:latin typeface="Calibri"/>
                <a:cs typeface="Calibri"/>
              </a:rPr>
              <a:t>advanced</a:t>
            </a:r>
            <a:r>
              <a:rPr sz="1800" spc="270" dirty="0">
                <a:latin typeface="Calibri"/>
                <a:cs typeface="Calibri"/>
              </a:rPr>
              <a:t> </a:t>
            </a:r>
            <a:r>
              <a:rPr sz="1800" dirty="0">
                <a:latin typeface="Calibri"/>
                <a:cs typeface="Calibri"/>
              </a:rPr>
              <a:t>medical</a:t>
            </a:r>
            <a:r>
              <a:rPr sz="1800" spc="275" dirty="0">
                <a:latin typeface="Calibri"/>
                <a:cs typeface="Calibri"/>
              </a:rPr>
              <a:t> </a:t>
            </a:r>
            <a:r>
              <a:rPr sz="1800" dirty="0">
                <a:latin typeface="Calibri"/>
                <a:cs typeface="Calibri"/>
              </a:rPr>
              <a:t>imaging,</a:t>
            </a:r>
            <a:r>
              <a:rPr sz="1800" spc="280" dirty="0">
                <a:latin typeface="Calibri"/>
                <a:cs typeface="Calibri"/>
              </a:rPr>
              <a:t> </a:t>
            </a:r>
            <a:r>
              <a:rPr sz="1800" dirty="0">
                <a:latin typeface="Calibri"/>
                <a:cs typeface="Calibri"/>
              </a:rPr>
              <a:t>enabling</a:t>
            </a:r>
            <a:r>
              <a:rPr sz="1800" spc="270" dirty="0">
                <a:latin typeface="Calibri"/>
                <a:cs typeface="Calibri"/>
              </a:rPr>
              <a:t> </a:t>
            </a:r>
            <a:r>
              <a:rPr sz="1800" dirty="0">
                <a:latin typeface="Calibri"/>
                <a:cs typeface="Calibri"/>
              </a:rPr>
              <a:t>faster</a:t>
            </a:r>
            <a:r>
              <a:rPr sz="1800" spc="275" dirty="0">
                <a:latin typeface="Calibri"/>
                <a:cs typeface="Calibri"/>
              </a:rPr>
              <a:t> </a:t>
            </a:r>
            <a:r>
              <a:rPr sz="1800" spc="-25" dirty="0">
                <a:latin typeface="Calibri"/>
                <a:cs typeface="Calibri"/>
              </a:rPr>
              <a:t>and</a:t>
            </a:r>
            <a:endParaRPr sz="1800" dirty="0">
              <a:latin typeface="Calibri"/>
              <a:cs typeface="Calibri"/>
            </a:endParaRPr>
          </a:p>
          <a:p>
            <a:pPr marL="12700" algn="just">
              <a:lnSpc>
                <a:spcPct val="100000"/>
              </a:lnSpc>
              <a:spcBef>
                <a:spcPts val="1465"/>
              </a:spcBef>
            </a:pPr>
            <a:r>
              <a:rPr sz="1800" dirty="0">
                <a:latin typeface="Calibri"/>
                <a:cs typeface="Calibri"/>
              </a:rPr>
              <a:t>more</a:t>
            </a:r>
            <a:r>
              <a:rPr sz="1800" spc="70" dirty="0">
                <a:latin typeface="Calibri"/>
                <a:cs typeface="Calibri"/>
              </a:rPr>
              <a:t>  </a:t>
            </a:r>
            <a:r>
              <a:rPr sz="1800" dirty="0">
                <a:latin typeface="Calibri"/>
                <a:cs typeface="Calibri"/>
              </a:rPr>
              <a:t>accurate</a:t>
            </a:r>
            <a:r>
              <a:rPr sz="1800" spc="70" dirty="0">
                <a:latin typeface="Calibri"/>
                <a:cs typeface="Calibri"/>
              </a:rPr>
              <a:t>  </a:t>
            </a:r>
            <a:r>
              <a:rPr sz="1800" dirty="0">
                <a:latin typeface="Calibri"/>
                <a:cs typeface="Calibri"/>
              </a:rPr>
              <a:t>diagnosis</a:t>
            </a:r>
            <a:r>
              <a:rPr sz="1800" spc="70" dirty="0">
                <a:latin typeface="Calibri"/>
                <a:cs typeface="Calibri"/>
              </a:rPr>
              <a:t>  </a:t>
            </a:r>
            <a:r>
              <a:rPr sz="1800" dirty="0">
                <a:latin typeface="Calibri"/>
                <a:cs typeface="Calibri"/>
              </a:rPr>
              <a:t>of</a:t>
            </a:r>
            <a:r>
              <a:rPr sz="1800" spc="95" dirty="0">
                <a:latin typeface="Calibri"/>
                <a:cs typeface="Calibri"/>
              </a:rPr>
              <a:t>  </a:t>
            </a:r>
            <a:r>
              <a:rPr sz="1800" dirty="0">
                <a:latin typeface="Calibri"/>
                <a:cs typeface="Calibri"/>
              </a:rPr>
              <a:t>diseases.</a:t>
            </a:r>
            <a:r>
              <a:rPr sz="1800" spc="75" dirty="0">
                <a:latin typeface="Calibri"/>
                <a:cs typeface="Calibri"/>
              </a:rPr>
              <a:t>  </a:t>
            </a:r>
            <a:r>
              <a:rPr sz="1800" dirty="0">
                <a:latin typeface="Calibri"/>
                <a:cs typeface="Calibri"/>
              </a:rPr>
              <a:t>Despite</a:t>
            </a:r>
            <a:r>
              <a:rPr sz="1800" spc="85" dirty="0">
                <a:latin typeface="Calibri"/>
                <a:cs typeface="Calibri"/>
              </a:rPr>
              <a:t>  </a:t>
            </a:r>
            <a:r>
              <a:rPr sz="1800" dirty="0">
                <a:latin typeface="Calibri"/>
                <a:cs typeface="Calibri"/>
              </a:rPr>
              <a:t>this</a:t>
            </a:r>
            <a:r>
              <a:rPr sz="1800" spc="70" dirty="0">
                <a:latin typeface="Calibri"/>
                <a:cs typeface="Calibri"/>
              </a:rPr>
              <a:t>  </a:t>
            </a:r>
            <a:r>
              <a:rPr sz="1800" dirty="0">
                <a:latin typeface="Calibri"/>
                <a:cs typeface="Calibri"/>
              </a:rPr>
              <a:t>progress,</a:t>
            </a:r>
            <a:r>
              <a:rPr sz="1800" spc="80" dirty="0">
                <a:latin typeface="Calibri"/>
                <a:cs typeface="Calibri"/>
              </a:rPr>
              <a:t>  </a:t>
            </a:r>
            <a:r>
              <a:rPr sz="1800" dirty="0">
                <a:latin typeface="Calibri"/>
                <a:cs typeface="Calibri"/>
              </a:rPr>
              <a:t>detecting</a:t>
            </a:r>
            <a:r>
              <a:rPr sz="1800" spc="70" dirty="0">
                <a:latin typeface="Calibri"/>
                <a:cs typeface="Calibri"/>
              </a:rPr>
              <a:t>  </a:t>
            </a:r>
            <a:r>
              <a:rPr sz="1800" dirty="0">
                <a:latin typeface="Calibri"/>
                <a:cs typeface="Calibri"/>
              </a:rPr>
              <a:t>rare</a:t>
            </a:r>
            <a:r>
              <a:rPr sz="1800" spc="75" dirty="0">
                <a:latin typeface="Calibri"/>
                <a:cs typeface="Calibri"/>
              </a:rPr>
              <a:t>  </a:t>
            </a:r>
            <a:r>
              <a:rPr sz="1800" dirty="0">
                <a:latin typeface="Calibri"/>
                <a:cs typeface="Calibri"/>
              </a:rPr>
              <a:t>brain</a:t>
            </a:r>
            <a:r>
              <a:rPr sz="1800" spc="70" dirty="0">
                <a:latin typeface="Calibri"/>
                <a:cs typeface="Calibri"/>
              </a:rPr>
              <a:t>  </a:t>
            </a:r>
            <a:r>
              <a:rPr sz="1800" dirty="0">
                <a:latin typeface="Calibri"/>
                <a:cs typeface="Calibri"/>
              </a:rPr>
              <a:t>tumors</a:t>
            </a:r>
            <a:r>
              <a:rPr sz="1800" spc="70" dirty="0">
                <a:latin typeface="Calibri"/>
                <a:cs typeface="Calibri"/>
              </a:rPr>
              <a:t>  </a:t>
            </a:r>
            <a:r>
              <a:rPr sz="1800" dirty="0">
                <a:latin typeface="Calibri"/>
                <a:cs typeface="Calibri"/>
              </a:rPr>
              <a:t>such</a:t>
            </a:r>
            <a:r>
              <a:rPr sz="1800" spc="110" dirty="0">
                <a:latin typeface="Calibri"/>
                <a:cs typeface="Calibri"/>
              </a:rPr>
              <a:t>  </a:t>
            </a:r>
            <a:r>
              <a:rPr sz="1800" dirty="0">
                <a:latin typeface="Calibri"/>
                <a:cs typeface="Calibri"/>
              </a:rPr>
              <a:t>as</a:t>
            </a:r>
            <a:r>
              <a:rPr sz="1800" spc="90" dirty="0">
                <a:latin typeface="Calibri"/>
                <a:cs typeface="Calibri"/>
              </a:rPr>
              <a:t>  </a:t>
            </a:r>
            <a:r>
              <a:rPr sz="1800" spc="-10" dirty="0">
                <a:latin typeface="Calibri"/>
                <a:cs typeface="Calibri"/>
              </a:rPr>
              <a:t>glioma,</a:t>
            </a:r>
            <a:endParaRPr sz="1800" dirty="0">
              <a:latin typeface="Calibri"/>
              <a:cs typeface="Calibri"/>
            </a:endParaRPr>
          </a:p>
          <a:p>
            <a:pPr marL="12700" marR="12065" algn="just">
              <a:lnSpc>
                <a:spcPct val="168400"/>
              </a:lnSpc>
              <a:spcBef>
                <a:spcPts val="15"/>
              </a:spcBef>
            </a:pPr>
            <a:r>
              <a:rPr sz="1800" dirty="0">
                <a:latin typeface="Calibri"/>
                <a:cs typeface="Calibri"/>
              </a:rPr>
              <a:t>meningioma,</a:t>
            </a:r>
            <a:r>
              <a:rPr sz="1800" spc="135" dirty="0">
                <a:latin typeface="Calibri"/>
                <a:cs typeface="Calibri"/>
              </a:rPr>
              <a:t> </a:t>
            </a:r>
            <a:r>
              <a:rPr sz="1800" dirty="0">
                <a:latin typeface="Calibri"/>
                <a:cs typeface="Calibri"/>
              </a:rPr>
              <a:t>and</a:t>
            </a:r>
            <a:r>
              <a:rPr sz="1800" spc="125" dirty="0">
                <a:latin typeface="Calibri"/>
                <a:cs typeface="Calibri"/>
              </a:rPr>
              <a:t> </a:t>
            </a:r>
            <a:r>
              <a:rPr sz="1800" dirty="0">
                <a:latin typeface="Calibri"/>
                <a:cs typeface="Calibri"/>
              </a:rPr>
              <a:t>pituitary</a:t>
            </a:r>
            <a:r>
              <a:rPr sz="1800" spc="135" dirty="0">
                <a:latin typeface="Calibri"/>
                <a:cs typeface="Calibri"/>
              </a:rPr>
              <a:t> </a:t>
            </a:r>
            <a:r>
              <a:rPr sz="1800" dirty="0">
                <a:latin typeface="Calibri"/>
                <a:cs typeface="Calibri"/>
              </a:rPr>
              <a:t>tumors</a:t>
            </a:r>
            <a:r>
              <a:rPr sz="1800" spc="120" dirty="0">
                <a:latin typeface="Calibri"/>
                <a:cs typeface="Calibri"/>
              </a:rPr>
              <a:t> </a:t>
            </a:r>
            <a:r>
              <a:rPr sz="1800" dirty="0">
                <a:latin typeface="Calibri"/>
                <a:cs typeface="Calibri"/>
              </a:rPr>
              <a:t>remains</a:t>
            </a:r>
            <a:r>
              <a:rPr sz="1800" spc="125" dirty="0">
                <a:latin typeface="Calibri"/>
                <a:cs typeface="Calibri"/>
              </a:rPr>
              <a:t> </a:t>
            </a:r>
            <a:r>
              <a:rPr sz="1800" dirty="0">
                <a:latin typeface="Calibri"/>
                <a:cs typeface="Calibri"/>
              </a:rPr>
              <a:t>a</a:t>
            </a:r>
            <a:r>
              <a:rPr sz="1800" spc="135" dirty="0">
                <a:latin typeface="Calibri"/>
                <a:cs typeface="Calibri"/>
              </a:rPr>
              <a:t> </a:t>
            </a:r>
            <a:r>
              <a:rPr sz="1800" dirty="0">
                <a:latin typeface="Calibri"/>
                <a:cs typeface="Calibri"/>
              </a:rPr>
              <a:t>challenge</a:t>
            </a:r>
            <a:r>
              <a:rPr sz="1800" spc="125" dirty="0">
                <a:latin typeface="Calibri"/>
                <a:cs typeface="Calibri"/>
              </a:rPr>
              <a:t> </a:t>
            </a:r>
            <a:r>
              <a:rPr sz="1800" dirty="0">
                <a:latin typeface="Calibri"/>
                <a:cs typeface="Calibri"/>
              </a:rPr>
              <a:t>due</a:t>
            </a:r>
            <a:r>
              <a:rPr sz="1800" spc="125" dirty="0">
                <a:latin typeface="Calibri"/>
                <a:cs typeface="Calibri"/>
              </a:rPr>
              <a:t> </a:t>
            </a:r>
            <a:r>
              <a:rPr sz="1800" dirty="0">
                <a:latin typeface="Calibri"/>
                <a:cs typeface="Calibri"/>
              </a:rPr>
              <a:t>to</a:t>
            </a:r>
            <a:r>
              <a:rPr sz="1800" spc="140" dirty="0">
                <a:latin typeface="Calibri"/>
                <a:cs typeface="Calibri"/>
              </a:rPr>
              <a:t> </a:t>
            </a:r>
            <a:r>
              <a:rPr sz="1800" dirty="0">
                <a:latin typeface="Calibri"/>
                <a:cs typeface="Calibri"/>
              </a:rPr>
              <a:t>limited</a:t>
            </a:r>
            <a:r>
              <a:rPr sz="1800" spc="125" dirty="0">
                <a:latin typeface="Calibri"/>
                <a:cs typeface="Calibri"/>
              </a:rPr>
              <a:t> </a:t>
            </a:r>
            <a:r>
              <a:rPr sz="1800" dirty="0">
                <a:latin typeface="Calibri"/>
                <a:cs typeface="Calibri"/>
              </a:rPr>
              <a:t>data</a:t>
            </a:r>
            <a:r>
              <a:rPr sz="1800" spc="135" dirty="0">
                <a:latin typeface="Calibri"/>
                <a:cs typeface="Calibri"/>
              </a:rPr>
              <a:t> </a:t>
            </a:r>
            <a:r>
              <a:rPr sz="1800" dirty="0">
                <a:latin typeface="Calibri"/>
                <a:cs typeface="Calibri"/>
              </a:rPr>
              <a:t>availability</a:t>
            </a:r>
            <a:r>
              <a:rPr sz="1800" spc="130" dirty="0">
                <a:latin typeface="Calibri"/>
                <a:cs typeface="Calibri"/>
              </a:rPr>
              <a:t> </a:t>
            </a:r>
            <a:r>
              <a:rPr sz="1800" dirty="0">
                <a:latin typeface="Calibri"/>
                <a:cs typeface="Calibri"/>
              </a:rPr>
              <a:t>and</a:t>
            </a:r>
            <a:r>
              <a:rPr sz="1800" spc="125" dirty="0">
                <a:latin typeface="Calibri"/>
                <a:cs typeface="Calibri"/>
              </a:rPr>
              <a:t> </a:t>
            </a:r>
            <a:r>
              <a:rPr sz="1800" dirty="0">
                <a:latin typeface="Calibri"/>
                <a:cs typeface="Calibri"/>
              </a:rPr>
              <a:t>overlapping</a:t>
            </a:r>
            <a:r>
              <a:rPr sz="1800" spc="125" dirty="0">
                <a:latin typeface="Calibri"/>
                <a:cs typeface="Calibri"/>
              </a:rPr>
              <a:t> </a:t>
            </a:r>
            <a:r>
              <a:rPr sz="1800" spc="-10" dirty="0">
                <a:latin typeface="Calibri"/>
                <a:cs typeface="Calibri"/>
              </a:rPr>
              <a:t>imaging </a:t>
            </a:r>
            <a:r>
              <a:rPr sz="1800" dirty="0">
                <a:latin typeface="Calibri"/>
                <a:cs typeface="Calibri"/>
              </a:rPr>
              <a:t>features.</a:t>
            </a:r>
            <a:r>
              <a:rPr sz="1800" spc="175" dirty="0">
                <a:latin typeface="Calibri"/>
                <a:cs typeface="Calibri"/>
              </a:rPr>
              <a:t> </a:t>
            </a:r>
            <a:r>
              <a:rPr sz="1800" dirty="0">
                <a:latin typeface="Calibri"/>
                <a:cs typeface="Calibri"/>
              </a:rPr>
              <a:t>To</a:t>
            </a:r>
            <a:r>
              <a:rPr sz="1800" spc="155" dirty="0">
                <a:latin typeface="Calibri"/>
                <a:cs typeface="Calibri"/>
              </a:rPr>
              <a:t> </a:t>
            </a:r>
            <a:r>
              <a:rPr sz="1800" dirty="0">
                <a:latin typeface="Calibri"/>
                <a:cs typeface="Calibri"/>
              </a:rPr>
              <a:t>address</a:t>
            </a:r>
            <a:r>
              <a:rPr sz="1800" spc="170" dirty="0">
                <a:latin typeface="Calibri"/>
                <a:cs typeface="Calibri"/>
              </a:rPr>
              <a:t> </a:t>
            </a:r>
            <a:r>
              <a:rPr sz="1800" dirty="0">
                <a:latin typeface="Calibri"/>
                <a:cs typeface="Calibri"/>
              </a:rPr>
              <a:t>this</a:t>
            </a:r>
            <a:r>
              <a:rPr sz="1800" spc="145" dirty="0">
                <a:latin typeface="Calibri"/>
                <a:cs typeface="Calibri"/>
              </a:rPr>
              <a:t> </a:t>
            </a:r>
            <a:r>
              <a:rPr sz="1800" dirty="0">
                <a:latin typeface="Calibri"/>
                <a:cs typeface="Calibri"/>
              </a:rPr>
              <a:t>issue,</a:t>
            </a:r>
            <a:r>
              <a:rPr sz="1800" spc="155" dirty="0">
                <a:latin typeface="Calibri"/>
                <a:cs typeface="Calibri"/>
              </a:rPr>
              <a:t> </a:t>
            </a:r>
            <a:r>
              <a:rPr sz="1800" dirty="0">
                <a:latin typeface="Calibri"/>
                <a:cs typeface="Calibri"/>
              </a:rPr>
              <a:t>the</a:t>
            </a:r>
            <a:r>
              <a:rPr sz="1800" spc="170" dirty="0">
                <a:latin typeface="Calibri"/>
                <a:cs typeface="Calibri"/>
              </a:rPr>
              <a:t> </a:t>
            </a:r>
            <a:r>
              <a:rPr sz="1800" dirty="0">
                <a:latin typeface="Calibri"/>
                <a:cs typeface="Calibri"/>
              </a:rPr>
              <a:t>project</a:t>
            </a:r>
            <a:r>
              <a:rPr sz="1800" spc="150" dirty="0">
                <a:latin typeface="Calibri"/>
                <a:cs typeface="Calibri"/>
              </a:rPr>
              <a:t> </a:t>
            </a:r>
            <a:r>
              <a:rPr sz="1800" dirty="0">
                <a:latin typeface="Calibri"/>
                <a:cs typeface="Calibri"/>
              </a:rPr>
              <a:t>titled</a:t>
            </a:r>
            <a:r>
              <a:rPr sz="1800" spc="145" dirty="0">
                <a:latin typeface="Calibri"/>
                <a:cs typeface="Calibri"/>
              </a:rPr>
              <a:t> </a:t>
            </a:r>
            <a:r>
              <a:rPr sz="1800" dirty="0">
                <a:latin typeface="Calibri"/>
                <a:cs typeface="Calibri"/>
              </a:rPr>
              <a:t>RareNet</a:t>
            </a:r>
            <a:r>
              <a:rPr sz="1800" spc="170" dirty="0">
                <a:latin typeface="Calibri"/>
                <a:cs typeface="Calibri"/>
              </a:rPr>
              <a:t> </a:t>
            </a:r>
            <a:r>
              <a:rPr sz="1800" dirty="0">
                <a:latin typeface="Calibri"/>
                <a:cs typeface="Calibri"/>
              </a:rPr>
              <a:t>proposes</a:t>
            </a:r>
            <a:r>
              <a:rPr sz="1800" spc="140" dirty="0">
                <a:latin typeface="Calibri"/>
                <a:cs typeface="Calibri"/>
              </a:rPr>
              <a:t> </a:t>
            </a:r>
            <a:r>
              <a:rPr sz="1800" dirty="0">
                <a:latin typeface="Calibri"/>
                <a:cs typeface="Calibri"/>
              </a:rPr>
              <a:t>a</a:t>
            </a:r>
            <a:r>
              <a:rPr sz="1800" spc="155" dirty="0">
                <a:latin typeface="Calibri"/>
                <a:cs typeface="Calibri"/>
              </a:rPr>
              <a:t> </a:t>
            </a:r>
            <a:r>
              <a:rPr sz="1800" dirty="0">
                <a:latin typeface="Calibri"/>
                <a:cs typeface="Calibri"/>
              </a:rPr>
              <a:t>custom</a:t>
            </a:r>
            <a:r>
              <a:rPr sz="1800" spc="150" dirty="0">
                <a:latin typeface="Calibri"/>
                <a:cs typeface="Calibri"/>
              </a:rPr>
              <a:t> </a:t>
            </a:r>
            <a:r>
              <a:rPr sz="1800" dirty="0">
                <a:latin typeface="Calibri"/>
                <a:cs typeface="Calibri"/>
              </a:rPr>
              <a:t>deep</a:t>
            </a:r>
            <a:r>
              <a:rPr sz="1800" spc="165" dirty="0">
                <a:latin typeface="Calibri"/>
                <a:cs typeface="Calibri"/>
              </a:rPr>
              <a:t> </a:t>
            </a:r>
            <a:r>
              <a:rPr sz="1800" dirty="0">
                <a:latin typeface="Calibri"/>
                <a:cs typeface="Calibri"/>
              </a:rPr>
              <a:t>learning</a:t>
            </a:r>
            <a:r>
              <a:rPr sz="1800" spc="165" dirty="0">
                <a:latin typeface="Calibri"/>
                <a:cs typeface="Calibri"/>
              </a:rPr>
              <a:t> </a:t>
            </a:r>
            <a:r>
              <a:rPr sz="1800" dirty="0">
                <a:latin typeface="Calibri"/>
                <a:cs typeface="Calibri"/>
              </a:rPr>
              <a:t>model</a:t>
            </a:r>
            <a:r>
              <a:rPr sz="1800" spc="145" dirty="0">
                <a:latin typeface="Calibri"/>
                <a:cs typeface="Calibri"/>
              </a:rPr>
              <a:t> </a:t>
            </a:r>
            <a:r>
              <a:rPr sz="1800" dirty="0">
                <a:latin typeface="Calibri"/>
                <a:cs typeface="Calibri"/>
              </a:rPr>
              <a:t>designed</a:t>
            </a:r>
            <a:r>
              <a:rPr sz="1800" spc="145" dirty="0">
                <a:latin typeface="Calibri"/>
                <a:cs typeface="Calibri"/>
              </a:rPr>
              <a:t> </a:t>
            </a:r>
            <a:r>
              <a:rPr sz="1800" spc="-25" dirty="0">
                <a:latin typeface="Calibri"/>
                <a:cs typeface="Calibri"/>
              </a:rPr>
              <a:t>to </a:t>
            </a:r>
            <a:r>
              <a:rPr sz="1800" dirty="0">
                <a:latin typeface="Calibri"/>
                <a:cs typeface="Calibri"/>
              </a:rPr>
              <a:t>classify</a:t>
            </a:r>
            <a:r>
              <a:rPr sz="1800" spc="-30" dirty="0">
                <a:latin typeface="Calibri"/>
                <a:cs typeface="Calibri"/>
              </a:rPr>
              <a:t> </a:t>
            </a:r>
            <a:r>
              <a:rPr sz="1800" dirty="0">
                <a:latin typeface="Calibri"/>
                <a:cs typeface="Calibri"/>
              </a:rPr>
              <a:t>brain</a:t>
            </a:r>
            <a:r>
              <a:rPr sz="1800" spc="-40" dirty="0">
                <a:latin typeface="Calibri"/>
                <a:cs typeface="Calibri"/>
              </a:rPr>
              <a:t> </a:t>
            </a:r>
            <a:r>
              <a:rPr sz="1800" dirty="0">
                <a:latin typeface="Calibri"/>
                <a:cs typeface="Calibri"/>
              </a:rPr>
              <a:t>MRI</a:t>
            </a:r>
            <a:r>
              <a:rPr sz="1800" spc="-20" dirty="0">
                <a:latin typeface="Calibri"/>
                <a:cs typeface="Calibri"/>
              </a:rPr>
              <a:t> </a:t>
            </a:r>
            <a:r>
              <a:rPr sz="1800" dirty="0">
                <a:latin typeface="Calibri"/>
                <a:cs typeface="Calibri"/>
              </a:rPr>
              <a:t>scans</a:t>
            </a:r>
            <a:r>
              <a:rPr sz="1800" spc="-30" dirty="0">
                <a:latin typeface="Calibri"/>
                <a:cs typeface="Calibri"/>
              </a:rPr>
              <a:t> </a:t>
            </a:r>
            <a:r>
              <a:rPr sz="1800" dirty="0">
                <a:latin typeface="Calibri"/>
                <a:cs typeface="Calibri"/>
              </a:rPr>
              <a:t>into</a:t>
            </a:r>
            <a:r>
              <a:rPr sz="1800" spc="-20" dirty="0">
                <a:latin typeface="Calibri"/>
                <a:cs typeface="Calibri"/>
              </a:rPr>
              <a:t> </a:t>
            </a:r>
            <a:r>
              <a:rPr sz="1800" dirty="0">
                <a:latin typeface="Calibri"/>
                <a:cs typeface="Calibri"/>
              </a:rPr>
              <a:t>four</a:t>
            </a:r>
            <a:r>
              <a:rPr sz="1800" spc="-30" dirty="0">
                <a:latin typeface="Calibri"/>
                <a:cs typeface="Calibri"/>
              </a:rPr>
              <a:t> </a:t>
            </a:r>
            <a:r>
              <a:rPr sz="1800" spc="-10" dirty="0">
                <a:latin typeface="Calibri"/>
                <a:cs typeface="Calibri"/>
              </a:rPr>
              <a:t>categories:</a:t>
            </a:r>
            <a:r>
              <a:rPr sz="1800" spc="-30" dirty="0">
                <a:latin typeface="Calibri"/>
                <a:cs typeface="Calibri"/>
              </a:rPr>
              <a:t> </a:t>
            </a:r>
            <a:r>
              <a:rPr sz="1800" dirty="0">
                <a:latin typeface="Calibri"/>
                <a:cs typeface="Calibri"/>
              </a:rPr>
              <a:t>glioma,</a:t>
            </a:r>
            <a:r>
              <a:rPr sz="1800" spc="-20" dirty="0">
                <a:latin typeface="Calibri"/>
                <a:cs typeface="Calibri"/>
              </a:rPr>
              <a:t> </a:t>
            </a:r>
            <a:r>
              <a:rPr sz="1800" spc="-10" dirty="0">
                <a:latin typeface="Calibri"/>
                <a:cs typeface="Calibri"/>
              </a:rPr>
              <a:t>meningioma,</a:t>
            </a:r>
            <a:r>
              <a:rPr sz="1800" spc="-25" dirty="0">
                <a:latin typeface="Calibri"/>
                <a:cs typeface="Calibri"/>
              </a:rPr>
              <a:t> </a:t>
            </a:r>
            <a:r>
              <a:rPr sz="1800" dirty="0">
                <a:latin typeface="Calibri"/>
                <a:cs typeface="Calibri"/>
              </a:rPr>
              <a:t>pituitary</a:t>
            </a:r>
            <a:r>
              <a:rPr sz="1800" spc="-30" dirty="0">
                <a:latin typeface="Calibri"/>
                <a:cs typeface="Calibri"/>
              </a:rPr>
              <a:t> </a:t>
            </a:r>
            <a:r>
              <a:rPr sz="1800" dirty="0">
                <a:latin typeface="Calibri"/>
                <a:cs typeface="Calibri"/>
              </a:rPr>
              <a:t>tumor,</a:t>
            </a:r>
            <a:r>
              <a:rPr sz="1800" spc="-25"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no</a:t>
            </a:r>
            <a:r>
              <a:rPr sz="1800" spc="-20" dirty="0">
                <a:latin typeface="Calibri"/>
                <a:cs typeface="Calibri"/>
              </a:rPr>
              <a:t> </a:t>
            </a:r>
            <a:r>
              <a:rPr sz="1800" spc="-10" dirty="0">
                <a:latin typeface="Calibri"/>
                <a:cs typeface="Calibri"/>
              </a:rPr>
              <a:t>tumor.</a:t>
            </a:r>
            <a:endParaRPr sz="1800" dirty="0">
              <a:latin typeface="Calibri"/>
              <a:cs typeface="Calibri"/>
            </a:endParaRPr>
          </a:p>
          <a:p>
            <a:pPr marL="12700" marR="5080" algn="just">
              <a:lnSpc>
                <a:spcPct val="168400"/>
              </a:lnSpc>
              <a:spcBef>
                <a:spcPts val="10"/>
              </a:spcBef>
            </a:pPr>
            <a:r>
              <a:rPr sz="1800" dirty="0">
                <a:latin typeface="Calibri"/>
                <a:cs typeface="Calibri"/>
              </a:rPr>
              <a:t>The</a:t>
            </a:r>
            <a:r>
              <a:rPr sz="1800" spc="360" dirty="0">
                <a:latin typeface="Calibri"/>
                <a:cs typeface="Calibri"/>
              </a:rPr>
              <a:t> </a:t>
            </a:r>
            <a:r>
              <a:rPr sz="1800" dirty="0">
                <a:latin typeface="Calibri"/>
                <a:cs typeface="Calibri"/>
              </a:rPr>
              <a:t>system</a:t>
            </a:r>
            <a:r>
              <a:rPr sz="1800" spc="375" dirty="0">
                <a:latin typeface="Calibri"/>
                <a:cs typeface="Calibri"/>
              </a:rPr>
              <a:t> </a:t>
            </a:r>
            <a:r>
              <a:rPr sz="1800" dirty="0">
                <a:latin typeface="Calibri"/>
                <a:cs typeface="Calibri"/>
              </a:rPr>
              <a:t>will</a:t>
            </a:r>
            <a:r>
              <a:rPr sz="1800" spc="390" dirty="0">
                <a:latin typeface="Calibri"/>
                <a:cs typeface="Calibri"/>
              </a:rPr>
              <a:t> </a:t>
            </a:r>
            <a:r>
              <a:rPr sz="1800" dirty="0">
                <a:latin typeface="Calibri"/>
                <a:cs typeface="Calibri"/>
              </a:rPr>
              <a:t>be</a:t>
            </a:r>
            <a:r>
              <a:rPr sz="1800" spc="365" dirty="0">
                <a:latin typeface="Calibri"/>
                <a:cs typeface="Calibri"/>
              </a:rPr>
              <a:t> </a:t>
            </a:r>
            <a:r>
              <a:rPr sz="1800" dirty="0">
                <a:latin typeface="Calibri"/>
                <a:cs typeface="Calibri"/>
              </a:rPr>
              <a:t>trained</a:t>
            </a:r>
            <a:r>
              <a:rPr sz="1800" spc="360" dirty="0">
                <a:latin typeface="Calibri"/>
                <a:cs typeface="Calibri"/>
              </a:rPr>
              <a:t> </a:t>
            </a:r>
            <a:r>
              <a:rPr sz="1800" dirty="0">
                <a:latin typeface="Calibri"/>
                <a:cs typeface="Calibri"/>
              </a:rPr>
              <a:t>using</a:t>
            </a:r>
            <a:r>
              <a:rPr sz="1800" spc="365" dirty="0">
                <a:latin typeface="Calibri"/>
                <a:cs typeface="Calibri"/>
              </a:rPr>
              <a:t> </a:t>
            </a:r>
            <a:r>
              <a:rPr sz="1800" spc="-10" dirty="0">
                <a:latin typeface="Calibri"/>
                <a:cs typeface="Calibri"/>
              </a:rPr>
              <a:t>open-</a:t>
            </a:r>
            <a:r>
              <a:rPr sz="1800" dirty="0">
                <a:latin typeface="Calibri"/>
                <a:cs typeface="Calibri"/>
              </a:rPr>
              <a:t>source</a:t>
            </a:r>
            <a:r>
              <a:rPr sz="1800" spc="390" dirty="0">
                <a:latin typeface="Calibri"/>
                <a:cs typeface="Calibri"/>
              </a:rPr>
              <a:t> </a:t>
            </a:r>
            <a:r>
              <a:rPr sz="1800" dirty="0">
                <a:latin typeface="Calibri"/>
                <a:cs typeface="Calibri"/>
              </a:rPr>
              <a:t>datasets</a:t>
            </a:r>
            <a:r>
              <a:rPr sz="1800" spc="365" dirty="0">
                <a:latin typeface="Calibri"/>
                <a:cs typeface="Calibri"/>
              </a:rPr>
              <a:t> </a:t>
            </a:r>
            <a:r>
              <a:rPr sz="1800" dirty="0">
                <a:latin typeface="Calibri"/>
                <a:cs typeface="Calibri"/>
              </a:rPr>
              <a:t>and</a:t>
            </a:r>
            <a:r>
              <a:rPr sz="1800" spc="360" dirty="0">
                <a:latin typeface="Calibri"/>
                <a:cs typeface="Calibri"/>
              </a:rPr>
              <a:t> </a:t>
            </a:r>
            <a:r>
              <a:rPr sz="1800" dirty="0">
                <a:latin typeface="Calibri"/>
                <a:cs typeface="Calibri"/>
              </a:rPr>
              <a:t>standard</a:t>
            </a:r>
            <a:r>
              <a:rPr sz="1800" spc="385" dirty="0">
                <a:latin typeface="Calibri"/>
                <a:cs typeface="Calibri"/>
              </a:rPr>
              <a:t> </a:t>
            </a:r>
            <a:r>
              <a:rPr sz="1800" dirty="0">
                <a:latin typeface="Calibri"/>
                <a:cs typeface="Calibri"/>
              </a:rPr>
              <a:t>preprocessing</a:t>
            </a:r>
            <a:r>
              <a:rPr sz="1800" spc="360" dirty="0">
                <a:latin typeface="Calibri"/>
                <a:cs typeface="Calibri"/>
              </a:rPr>
              <a:t> </a:t>
            </a:r>
            <a:r>
              <a:rPr sz="1800" dirty="0">
                <a:latin typeface="Calibri"/>
                <a:cs typeface="Calibri"/>
              </a:rPr>
              <a:t>techniques</a:t>
            </a:r>
            <a:r>
              <a:rPr sz="1800" spc="365" dirty="0">
                <a:latin typeface="Calibri"/>
                <a:cs typeface="Calibri"/>
              </a:rPr>
              <a:t> </a:t>
            </a:r>
            <a:r>
              <a:rPr sz="1800" dirty="0">
                <a:latin typeface="Calibri"/>
                <a:cs typeface="Calibri"/>
              </a:rPr>
              <a:t>like</a:t>
            </a:r>
            <a:r>
              <a:rPr sz="1800" spc="380" dirty="0">
                <a:latin typeface="Calibri"/>
                <a:cs typeface="Calibri"/>
              </a:rPr>
              <a:t> </a:t>
            </a:r>
            <a:r>
              <a:rPr sz="1800" spc="-10" dirty="0">
                <a:latin typeface="Calibri"/>
                <a:cs typeface="Calibri"/>
              </a:rPr>
              <a:t>resizing, </a:t>
            </a:r>
            <a:r>
              <a:rPr sz="1800" dirty="0">
                <a:latin typeface="Calibri"/>
                <a:cs typeface="Calibri"/>
              </a:rPr>
              <a:t>normalization,</a:t>
            </a:r>
            <a:r>
              <a:rPr sz="1800" spc="-20" dirty="0">
                <a:latin typeface="Calibri"/>
                <a:cs typeface="Calibri"/>
              </a:rPr>
              <a:t> </a:t>
            </a:r>
            <a:r>
              <a:rPr sz="1800" dirty="0">
                <a:latin typeface="Calibri"/>
                <a:cs typeface="Calibri"/>
              </a:rPr>
              <a:t>and</a:t>
            </a:r>
            <a:r>
              <a:rPr sz="1800" spc="-35" dirty="0">
                <a:latin typeface="Calibri"/>
                <a:cs typeface="Calibri"/>
              </a:rPr>
              <a:t> </a:t>
            </a:r>
            <a:r>
              <a:rPr sz="1800" dirty="0">
                <a:latin typeface="Calibri"/>
                <a:cs typeface="Calibri"/>
              </a:rPr>
              <a:t>augmentation.</a:t>
            </a:r>
            <a:r>
              <a:rPr sz="1800" spc="-20" dirty="0">
                <a:latin typeface="Calibri"/>
                <a:cs typeface="Calibri"/>
              </a:rPr>
              <a:t> </a:t>
            </a:r>
            <a:r>
              <a:rPr sz="1800" dirty="0">
                <a:latin typeface="Calibri"/>
                <a:cs typeface="Calibri"/>
              </a:rPr>
              <a:t>The</a:t>
            </a:r>
            <a:r>
              <a:rPr sz="1800" spc="-30" dirty="0">
                <a:latin typeface="Calibri"/>
                <a:cs typeface="Calibri"/>
              </a:rPr>
              <a:t> </a:t>
            </a:r>
            <a:r>
              <a:rPr sz="1800" spc="-10" dirty="0">
                <a:latin typeface="Calibri"/>
                <a:cs typeface="Calibri"/>
              </a:rPr>
              <a:t>performance</a:t>
            </a:r>
            <a:r>
              <a:rPr sz="1800" spc="-25"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RareNet</a:t>
            </a:r>
            <a:r>
              <a:rPr sz="1800" spc="-25" dirty="0">
                <a:latin typeface="Calibri"/>
                <a:cs typeface="Calibri"/>
              </a:rPr>
              <a:t> </a:t>
            </a:r>
            <a:r>
              <a:rPr sz="1800" dirty="0">
                <a:latin typeface="Calibri"/>
                <a:cs typeface="Calibri"/>
              </a:rPr>
              <a:t>will</a:t>
            </a:r>
            <a:r>
              <a:rPr sz="1800" spc="-30" dirty="0">
                <a:latin typeface="Calibri"/>
                <a:cs typeface="Calibri"/>
              </a:rPr>
              <a:t> </a:t>
            </a:r>
            <a:r>
              <a:rPr sz="1800" dirty="0">
                <a:latin typeface="Calibri"/>
                <a:cs typeface="Calibri"/>
              </a:rPr>
              <a:t>be</a:t>
            </a:r>
            <a:r>
              <a:rPr sz="1800" spc="-25" dirty="0">
                <a:latin typeface="Calibri"/>
                <a:cs typeface="Calibri"/>
              </a:rPr>
              <a:t> </a:t>
            </a:r>
            <a:r>
              <a:rPr sz="1800" dirty="0">
                <a:latin typeface="Calibri"/>
                <a:cs typeface="Calibri"/>
              </a:rPr>
              <a:t>compared</a:t>
            </a:r>
            <a:r>
              <a:rPr sz="1800" spc="-35" dirty="0">
                <a:latin typeface="Calibri"/>
                <a:cs typeface="Calibri"/>
              </a:rPr>
              <a:t> </a:t>
            </a:r>
            <a:r>
              <a:rPr sz="1800" dirty="0">
                <a:latin typeface="Calibri"/>
                <a:cs typeface="Calibri"/>
              </a:rPr>
              <a:t>with</a:t>
            </a:r>
            <a:r>
              <a:rPr sz="1800" spc="-30" dirty="0">
                <a:latin typeface="Calibri"/>
                <a:cs typeface="Calibri"/>
              </a:rPr>
              <a:t> </a:t>
            </a:r>
            <a:r>
              <a:rPr sz="1800" spc="-10" dirty="0">
                <a:latin typeface="Calibri"/>
                <a:cs typeface="Calibri"/>
              </a:rPr>
              <a:t>well-</a:t>
            </a:r>
            <a:r>
              <a:rPr sz="1800" dirty="0">
                <a:latin typeface="Calibri"/>
                <a:cs typeface="Calibri"/>
              </a:rPr>
              <a:t>known</a:t>
            </a:r>
            <a:r>
              <a:rPr sz="1800" spc="-30" dirty="0">
                <a:latin typeface="Calibri"/>
                <a:cs typeface="Calibri"/>
              </a:rPr>
              <a:t> </a:t>
            </a:r>
            <a:r>
              <a:rPr sz="1800" dirty="0">
                <a:latin typeface="Calibri"/>
                <a:cs typeface="Calibri"/>
              </a:rPr>
              <a:t>models</a:t>
            </a:r>
            <a:r>
              <a:rPr sz="1800" spc="-30" dirty="0">
                <a:latin typeface="Calibri"/>
                <a:cs typeface="Calibri"/>
              </a:rPr>
              <a:t> </a:t>
            </a:r>
            <a:r>
              <a:rPr sz="1800" dirty="0">
                <a:latin typeface="Calibri"/>
                <a:cs typeface="Calibri"/>
              </a:rPr>
              <a:t>such</a:t>
            </a:r>
            <a:r>
              <a:rPr sz="1800" spc="-30" dirty="0">
                <a:latin typeface="Calibri"/>
                <a:cs typeface="Calibri"/>
              </a:rPr>
              <a:t> </a:t>
            </a:r>
            <a:r>
              <a:rPr sz="1800" spc="-25" dirty="0">
                <a:latin typeface="Calibri"/>
                <a:cs typeface="Calibri"/>
              </a:rPr>
              <a:t>as </a:t>
            </a:r>
            <a:r>
              <a:rPr sz="1800" dirty="0">
                <a:latin typeface="Calibri"/>
                <a:cs typeface="Calibri"/>
              </a:rPr>
              <a:t>VGG16</a:t>
            </a:r>
            <a:r>
              <a:rPr sz="1800" spc="-55"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ResNet50</a:t>
            </a:r>
            <a:r>
              <a:rPr sz="1800" spc="-50" dirty="0">
                <a:latin typeface="Calibri"/>
                <a:cs typeface="Calibri"/>
              </a:rPr>
              <a:t> </a:t>
            </a:r>
            <a:r>
              <a:rPr sz="1800" dirty="0">
                <a:latin typeface="Calibri"/>
                <a:cs typeface="Calibri"/>
              </a:rPr>
              <a:t>using</a:t>
            </a:r>
            <a:r>
              <a:rPr sz="1800" spc="-60" dirty="0">
                <a:latin typeface="Calibri"/>
                <a:cs typeface="Calibri"/>
              </a:rPr>
              <a:t> </a:t>
            </a:r>
            <a:r>
              <a:rPr sz="1800" dirty="0">
                <a:latin typeface="Calibri"/>
                <a:cs typeface="Calibri"/>
              </a:rPr>
              <a:t>evaluation</a:t>
            </a:r>
            <a:r>
              <a:rPr sz="1800" spc="-60" dirty="0">
                <a:latin typeface="Calibri"/>
                <a:cs typeface="Calibri"/>
              </a:rPr>
              <a:t> </a:t>
            </a:r>
            <a:r>
              <a:rPr sz="1800" dirty="0">
                <a:latin typeface="Calibri"/>
                <a:cs typeface="Calibri"/>
              </a:rPr>
              <a:t>metrics</a:t>
            </a:r>
            <a:r>
              <a:rPr sz="1800" spc="-60" dirty="0">
                <a:latin typeface="Calibri"/>
                <a:cs typeface="Calibri"/>
              </a:rPr>
              <a:t> </a:t>
            </a:r>
            <a:r>
              <a:rPr sz="1800" dirty="0">
                <a:latin typeface="Calibri"/>
                <a:cs typeface="Calibri"/>
              </a:rPr>
              <a:t>including</a:t>
            </a:r>
            <a:r>
              <a:rPr sz="1800" spc="-60" dirty="0">
                <a:latin typeface="Calibri"/>
                <a:cs typeface="Calibri"/>
              </a:rPr>
              <a:t> </a:t>
            </a:r>
            <a:r>
              <a:rPr sz="1800" dirty="0">
                <a:latin typeface="Calibri"/>
                <a:cs typeface="Calibri"/>
              </a:rPr>
              <a:t>accuracy,</a:t>
            </a:r>
            <a:r>
              <a:rPr sz="1800" spc="-45" dirty="0">
                <a:latin typeface="Calibri"/>
                <a:cs typeface="Calibri"/>
              </a:rPr>
              <a:t> </a:t>
            </a:r>
            <a:r>
              <a:rPr sz="1800" dirty="0">
                <a:latin typeface="Calibri"/>
                <a:cs typeface="Calibri"/>
              </a:rPr>
              <a:t>precision,</a:t>
            </a:r>
            <a:r>
              <a:rPr sz="1800" spc="-50" dirty="0">
                <a:latin typeface="Calibri"/>
                <a:cs typeface="Calibri"/>
              </a:rPr>
              <a:t> </a:t>
            </a:r>
            <a:r>
              <a:rPr sz="1800" dirty="0">
                <a:latin typeface="Calibri"/>
                <a:cs typeface="Calibri"/>
              </a:rPr>
              <a:t>recall,</a:t>
            </a:r>
            <a:r>
              <a:rPr sz="1800" spc="-50" dirty="0">
                <a:latin typeface="Calibri"/>
                <a:cs typeface="Calibri"/>
              </a:rPr>
              <a:t> </a:t>
            </a:r>
            <a:r>
              <a:rPr sz="1800" dirty="0">
                <a:latin typeface="Calibri"/>
                <a:cs typeface="Calibri"/>
              </a:rPr>
              <a:t>and</a:t>
            </a:r>
            <a:r>
              <a:rPr sz="1800" spc="-60" dirty="0">
                <a:latin typeface="Calibri"/>
                <a:cs typeface="Calibri"/>
              </a:rPr>
              <a:t> </a:t>
            </a:r>
            <a:r>
              <a:rPr sz="1800" dirty="0">
                <a:latin typeface="Calibri"/>
                <a:cs typeface="Calibri"/>
              </a:rPr>
              <a:t>F1-</a:t>
            </a:r>
            <a:r>
              <a:rPr sz="1800" spc="-10" dirty="0">
                <a:latin typeface="Calibri"/>
                <a:cs typeface="Calibri"/>
              </a:rPr>
              <a:t>score.</a:t>
            </a:r>
            <a:endParaRPr lang="en-US" sz="1800" spc="-10" dirty="0">
              <a:latin typeface="Calibri"/>
              <a:cs typeface="Calibri"/>
            </a:endParaRPr>
          </a:p>
          <a:p>
            <a:pPr marL="12700" marR="5080" algn="just">
              <a:lnSpc>
                <a:spcPct val="168400"/>
              </a:lnSpc>
              <a:spcBef>
                <a:spcPts val="10"/>
              </a:spcBef>
            </a:pPr>
            <a:endParaRPr lang="en-IN" spc="-10" dirty="0">
              <a:latin typeface="Calibri"/>
              <a:cs typeface="Calibri"/>
            </a:endParaRPr>
          </a:p>
          <a:p>
            <a:pPr marL="12700" marR="5080" algn="just">
              <a:lnSpc>
                <a:spcPct val="168400"/>
              </a:lnSpc>
              <a:spcBef>
                <a:spcPts val="10"/>
              </a:spcBef>
            </a:pPr>
            <a:endParaRPr lang="en-IN" sz="1800" spc="-1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4666" y="1389933"/>
            <a:ext cx="8237855" cy="689291"/>
          </a:xfrm>
          <a:prstGeom prst="rect">
            <a:avLst/>
          </a:prstGeom>
        </p:spPr>
        <p:txBody>
          <a:bodyPr vert="horz" wrap="square" lIns="0" tIns="12065" rIns="0" bIns="0" rtlCol="0">
            <a:spAutoFit/>
          </a:bodyPr>
          <a:lstStyle/>
          <a:p>
            <a:pPr marL="12700">
              <a:lnSpc>
                <a:spcPct val="100000"/>
              </a:lnSpc>
              <a:spcBef>
                <a:spcPts val="95"/>
              </a:spcBef>
              <a:tabLst>
                <a:tab pos="8097520" algn="l"/>
              </a:tabLst>
            </a:pPr>
            <a:r>
              <a:rPr spc="-20" dirty="0"/>
              <a:t>Literature</a:t>
            </a:r>
            <a:r>
              <a:rPr spc="-140" dirty="0"/>
              <a:t> </a:t>
            </a:r>
            <a:r>
              <a:rPr lang="en-IN" spc="-10" dirty="0"/>
              <a:t>Review</a:t>
            </a:r>
            <a:endParaRPr spc="-50" dirty="0"/>
          </a:p>
        </p:txBody>
      </p:sp>
      <p:graphicFrame>
        <p:nvGraphicFramePr>
          <p:cNvPr id="3" name="object 3"/>
          <p:cNvGraphicFramePr>
            <a:graphicFrameLocks noGrp="1"/>
          </p:cNvGraphicFramePr>
          <p:nvPr>
            <p:extLst>
              <p:ext uri="{D42A27DB-BD31-4B8C-83A1-F6EECF244321}">
                <p14:modId xmlns:p14="http://schemas.microsoft.com/office/powerpoint/2010/main" val="2818491685"/>
              </p:ext>
            </p:extLst>
          </p:nvPr>
        </p:nvGraphicFramePr>
        <p:xfrm>
          <a:off x="926896" y="2626714"/>
          <a:ext cx="10649583" cy="3188335"/>
        </p:xfrm>
        <a:graphic>
          <a:graphicData uri="http://schemas.openxmlformats.org/drawingml/2006/table">
            <a:tbl>
              <a:tblPr firstRow="1" bandRow="1">
                <a:tableStyleId>{2D5ABB26-0587-4C30-8999-92F81FD0307C}</a:tableStyleId>
              </a:tblPr>
              <a:tblGrid>
                <a:gridCol w="452755">
                  <a:extLst>
                    <a:ext uri="{9D8B030D-6E8A-4147-A177-3AD203B41FA5}">
                      <a16:colId xmlns:a16="http://schemas.microsoft.com/office/drawing/2014/main" val="20000"/>
                    </a:ext>
                  </a:extLst>
                </a:gridCol>
                <a:gridCol w="2251710">
                  <a:extLst>
                    <a:ext uri="{9D8B030D-6E8A-4147-A177-3AD203B41FA5}">
                      <a16:colId xmlns:a16="http://schemas.microsoft.com/office/drawing/2014/main" val="20001"/>
                    </a:ext>
                  </a:extLst>
                </a:gridCol>
                <a:gridCol w="671194">
                  <a:extLst>
                    <a:ext uri="{9D8B030D-6E8A-4147-A177-3AD203B41FA5}">
                      <a16:colId xmlns:a16="http://schemas.microsoft.com/office/drawing/2014/main" val="20002"/>
                    </a:ext>
                  </a:extLst>
                </a:gridCol>
                <a:gridCol w="2079625">
                  <a:extLst>
                    <a:ext uri="{9D8B030D-6E8A-4147-A177-3AD203B41FA5}">
                      <a16:colId xmlns:a16="http://schemas.microsoft.com/office/drawing/2014/main" val="20003"/>
                    </a:ext>
                  </a:extLst>
                </a:gridCol>
                <a:gridCol w="2725244">
                  <a:extLst>
                    <a:ext uri="{9D8B030D-6E8A-4147-A177-3AD203B41FA5}">
                      <a16:colId xmlns:a16="http://schemas.microsoft.com/office/drawing/2014/main" val="20004"/>
                    </a:ext>
                  </a:extLst>
                </a:gridCol>
                <a:gridCol w="2469055">
                  <a:extLst>
                    <a:ext uri="{9D8B030D-6E8A-4147-A177-3AD203B41FA5}">
                      <a16:colId xmlns:a16="http://schemas.microsoft.com/office/drawing/2014/main" val="20005"/>
                    </a:ext>
                  </a:extLst>
                </a:gridCol>
              </a:tblGrid>
              <a:tr h="633730">
                <a:tc>
                  <a:txBody>
                    <a:bodyPr/>
                    <a:lstStyle/>
                    <a:p>
                      <a:pPr marL="91440">
                        <a:lnSpc>
                          <a:spcPct val="100000"/>
                        </a:lnSpc>
                        <a:spcBef>
                          <a:spcPts val="240"/>
                        </a:spcBef>
                      </a:pPr>
                      <a:r>
                        <a:rPr sz="1800" b="1" spc="-25" dirty="0">
                          <a:solidFill>
                            <a:schemeClr val="tx1"/>
                          </a:solidFill>
                        </a:rPr>
                        <a:t>Sr.</a:t>
                      </a:r>
                      <a:endParaRPr sz="1800" dirty="0">
                        <a:solidFill>
                          <a:schemeClr val="tx1"/>
                        </a:solidFill>
                      </a:endParaRPr>
                    </a:p>
                    <a:p>
                      <a:pPr marL="91440">
                        <a:lnSpc>
                          <a:spcPct val="100000"/>
                        </a:lnSpc>
                        <a:spcBef>
                          <a:spcPts val="25"/>
                        </a:spcBef>
                      </a:pPr>
                      <a:r>
                        <a:rPr sz="1800" b="1" spc="-25" dirty="0">
                          <a:solidFill>
                            <a:schemeClr val="tx1"/>
                          </a:solidFill>
                        </a:rPr>
                        <a:t>No.</a:t>
                      </a:r>
                      <a:endParaRPr sz="1800" dirty="0">
                        <a:solidFill>
                          <a:schemeClr val="tx1"/>
                        </a:solidFill>
                        <a:latin typeface="Calibri"/>
                        <a:cs typeface="Calibri"/>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8425">
                        <a:lnSpc>
                          <a:spcPct val="100000"/>
                        </a:lnSpc>
                        <a:spcBef>
                          <a:spcPts val="190"/>
                        </a:spcBef>
                      </a:pPr>
                      <a:r>
                        <a:rPr sz="1800" b="1" spc="-10" dirty="0">
                          <a:solidFill>
                            <a:schemeClr val="tx1"/>
                          </a:solidFill>
                        </a:rPr>
                        <a:t>Title</a:t>
                      </a:r>
                      <a:endParaRPr sz="1800" dirty="0">
                        <a:solidFill>
                          <a:schemeClr val="tx1"/>
                        </a:solidFill>
                        <a:latin typeface="Calibri"/>
                        <a:cs typeface="Calibr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7155">
                        <a:lnSpc>
                          <a:spcPct val="100000"/>
                        </a:lnSpc>
                        <a:spcBef>
                          <a:spcPts val="190"/>
                        </a:spcBef>
                      </a:pPr>
                      <a:r>
                        <a:rPr sz="1800" b="1" spc="-20" dirty="0">
                          <a:solidFill>
                            <a:schemeClr val="tx1"/>
                          </a:solidFill>
                        </a:rPr>
                        <a:t>Year</a:t>
                      </a:r>
                      <a:endParaRPr sz="1800" dirty="0">
                        <a:solidFill>
                          <a:schemeClr val="tx1"/>
                        </a:solidFill>
                        <a:latin typeface="Calibri"/>
                        <a:cs typeface="Calibr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7155">
                        <a:lnSpc>
                          <a:spcPct val="100000"/>
                        </a:lnSpc>
                        <a:spcBef>
                          <a:spcPts val="190"/>
                        </a:spcBef>
                      </a:pPr>
                      <a:r>
                        <a:rPr sz="1800" b="1" spc="-10" dirty="0">
                          <a:solidFill>
                            <a:schemeClr val="tx1"/>
                          </a:solidFill>
                        </a:rPr>
                        <a:t>Author</a:t>
                      </a:r>
                      <a:endParaRPr sz="1800" dirty="0">
                        <a:solidFill>
                          <a:schemeClr val="tx1"/>
                        </a:solidFill>
                        <a:latin typeface="Calibri"/>
                        <a:cs typeface="Calibr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7790">
                        <a:lnSpc>
                          <a:spcPct val="100000"/>
                        </a:lnSpc>
                        <a:spcBef>
                          <a:spcPts val="190"/>
                        </a:spcBef>
                      </a:pPr>
                      <a:r>
                        <a:rPr sz="1800" b="1" spc="-10" dirty="0">
                          <a:solidFill>
                            <a:schemeClr val="tx1"/>
                          </a:solidFill>
                        </a:rPr>
                        <a:t>Remark</a:t>
                      </a:r>
                      <a:endParaRPr sz="1800" dirty="0">
                        <a:solidFill>
                          <a:schemeClr val="tx1"/>
                        </a:solidFill>
                        <a:latin typeface="Calibri"/>
                        <a:cs typeface="Calibr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0330">
                        <a:lnSpc>
                          <a:spcPct val="100000"/>
                        </a:lnSpc>
                        <a:spcBef>
                          <a:spcPts val="190"/>
                        </a:spcBef>
                      </a:pPr>
                      <a:r>
                        <a:rPr sz="1800" b="1" dirty="0">
                          <a:solidFill>
                            <a:schemeClr val="tx1"/>
                          </a:solidFill>
                        </a:rPr>
                        <a:t>Gap</a:t>
                      </a:r>
                      <a:r>
                        <a:rPr sz="1800" b="1" spc="-5" dirty="0">
                          <a:solidFill>
                            <a:schemeClr val="tx1"/>
                          </a:solidFill>
                        </a:rPr>
                        <a:t> </a:t>
                      </a:r>
                      <a:r>
                        <a:rPr sz="1800" b="1" spc="-10" dirty="0">
                          <a:solidFill>
                            <a:schemeClr val="tx1"/>
                          </a:solidFill>
                        </a:rPr>
                        <a:t>Analysis</a:t>
                      </a:r>
                      <a:endParaRPr sz="1800" dirty="0">
                        <a:solidFill>
                          <a:schemeClr val="tx1"/>
                        </a:solidFill>
                        <a:latin typeface="Calibri"/>
                        <a:cs typeface="Calibr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41120">
                <a:tc>
                  <a:txBody>
                    <a:bodyPr/>
                    <a:lstStyle/>
                    <a:p>
                      <a:pPr marL="91440">
                        <a:lnSpc>
                          <a:spcPct val="100000"/>
                        </a:lnSpc>
                        <a:spcBef>
                          <a:spcPts val="240"/>
                        </a:spcBef>
                      </a:pPr>
                      <a:r>
                        <a:rPr sz="1800" spc="-50" dirty="0"/>
                        <a:t>1</a:t>
                      </a:r>
                      <a:endParaRPr sz="1800">
                        <a:latin typeface="Calibri"/>
                        <a:cs typeface="Calibri"/>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 marR="105410">
                        <a:lnSpc>
                          <a:spcPct val="96200"/>
                        </a:lnSpc>
                        <a:spcBef>
                          <a:spcPts val="55"/>
                        </a:spcBef>
                      </a:pPr>
                      <a:r>
                        <a:rPr sz="1800" dirty="0"/>
                        <a:t>Brain</a:t>
                      </a:r>
                      <a:r>
                        <a:rPr sz="1800" spc="-30" dirty="0"/>
                        <a:t> </a:t>
                      </a:r>
                      <a:r>
                        <a:rPr sz="1800" dirty="0"/>
                        <a:t>Tumor</a:t>
                      </a:r>
                      <a:r>
                        <a:rPr sz="1800" spc="-40" dirty="0"/>
                        <a:t> </a:t>
                      </a:r>
                      <a:r>
                        <a:rPr sz="1800" spc="-10" dirty="0"/>
                        <a:t>Detection </a:t>
                      </a:r>
                      <a:r>
                        <a:rPr sz="1800" dirty="0"/>
                        <a:t>using</a:t>
                      </a:r>
                      <a:r>
                        <a:rPr sz="1800" spc="-30" dirty="0"/>
                        <a:t> </a:t>
                      </a:r>
                      <a:r>
                        <a:rPr sz="1800" dirty="0"/>
                        <a:t>Deep</a:t>
                      </a:r>
                      <a:r>
                        <a:rPr sz="1800" spc="-10" dirty="0"/>
                        <a:t> Neural Networks</a:t>
                      </a:r>
                      <a:endParaRPr sz="1800" dirty="0">
                        <a:latin typeface="Times New Roman"/>
                        <a:cs typeface="Times New Roma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2135"/>
                        </a:lnSpc>
                      </a:pPr>
                      <a:r>
                        <a:rPr sz="1800" spc="-20" dirty="0"/>
                        <a:t>2021</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marR="302895">
                        <a:lnSpc>
                          <a:spcPct val="95900"/>
                        </a:lnSpc>
                        <a:spcBef>
                          <a:spcPts val="65"/>
                        </a:spcBef>
                      </a:pPr>
                      <a:r>
                        <a:rPr sz="1800" dirty="0"/>
                        <a:t>Yakub</a:t>
                      </a:r>
                      <a:r>
                        <a:rPr sz="1800" spc="-35" dirty="0"/>
                        <a:t> </a:t>
                      </a:r>
                      <a:r>
                        <a:rPr sz="1800" spc="-10" dirty="0"/>
                        <a:t>Bhanothu, Anandhanarayanan </a:t>
                      </a:r>
                      <a:r>
                        <a:rPr sz="1800" dirty="0"/>
                        <a:t>Kamalakannan</a:t>
                      </a:r>
                      <a:r>
                        <a:rPr sz="1800" spc="-85" dirty="0"/>
                        <a:t> </a:t>
                      </a:r>
                      <a:r>
                        <a:rPr sz="1800" spc="-60" dirty="0"/>
                        <a:t>&amp; </a:t>
                      </a:r>
                      <a:r>
                        <a:rPr sz="1800" spc="-10" dirty="0"/>
                        <a:t>Govindaraj Rajamanickam</a:t>
                      </a:r>
                      <a:endParaRPr sz="1800" dirty="0">
                        <a:latin typeface="Times New Roman"/>
                        <a:cs typeface="Times New Roman"/>
                      </a:endParaRPr>
                    </a:p>
                  </a:txBody>
                  <a:tcPr marL="0" marR="0" marT="825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marR="208279">
                        <a:lnSpc>
                          <a:spcPct val="96000"/>
                        </a:lnSpc>
                        <a:spcBef>
                          <a:spcPts val="60"/>
                        </a:spcBef>
                      </a:pPr>
                      <a:r>
                        <a:rPr sz="1800" dirty="0"/>
                        <a:t>Proposes</a:t>
                      </a:r>
                      <a:r>
                        <a:rPr sz="1800" spc="-20" dirty="0"/>
                        <a:t> </a:t>
                      </a:r>
                      <a:r>
                        <a:rPr sz="1800" dirty="0"/>
                        <a:t>a</a:t>
                      </a:r>
                      <a:r>
                        <a:rPr sz="1800" spc="-25" dirty="0"/>
                        <a:t> </a:t>
                      </a:r>
                      <a:r>
                        <a:rPr sz="1800" dirty="0"/>
                        <a:t>CNN</a:t>
                      </a:r>
                      <a:r>
                        <a:rPr sz="1800" spc="-20" dirty="0"/>
                        <a:t> </a:t>
                      </a:r>
                      <a:r>
                        <a:rPr sz="1800" dirty="0"/>
                        <a:t>model</a:t>
                      </a:r>
                      <a:r>
                        <a:rPr sz="1800" spc="-15" dirty="0"/>
                        <a:t> </a:t>
                      </a:r>
                      <a:r>
                        <a:rPr sz="1800" spc="-25" dirty="0"/>
                        <a:t>for </a:t>
                      </a:r>
                      <a:r>
                        <a:rPr sz="1800" dirty="0"/>
                        <a:t>MRI</a:t>
                      </a:r>
                      <a:r>
                        <a:rPr sz="1800" spc="-10" dirty="0"/>
                        <a:t> </a:t>
                      </a:r>
                      <a:r>
                        <a:rPr sz="1800" dirty="0"/>
                        <a:t>tumor</a:t>
                      </a:r>
                      <a:r>
                        <a:rPr sz="1800" spc="-5" dirty="0"/>
                        <a:t> </a:t>
                      </a:r>
                      <a:r>
                        <a:rPr sz="1800" spc="-10" dirty="0"/>
                        <a:t>classification </a:t>
                      </a:r>
                      <a:r>
                        <a:rPr sz="1800" dirty="0"/>
                        <a:t>achieving</a:t>
                      </a:r>
                      <a:r>
                        <a:rPr sz="1800" spc="-40" dirty="0"/>
                        <a:t> </a:t>
                      </a:r>
                      <a:r>
                        <a:rPr sz="1800" dirty="0"/>
                        <a:t>high</a:t>
                      </a:r>
                      <a:r>
                        <a:rPr sz="1800" spc="-20" dirty="0"/>
                        <a:t> </a:t>
                      </a:r>
                      <a:r>
                        <a:rPr sz="1800" spc="-10" dirty="0"/>
                        <a:t>accuracy </a:t>
                      </a:r>
                      <a:r>
                        <a:rPr sz="1800" dirty="0"/>
                        <a:t>using</a:t>
                      </a:r>
                      <a:r>
                        <a:rPr sz="1800" spc="-15" dirty="0"/>
                        <a:t> </a:t>
                      </a:r>
                      <a:r>
                        <a:rPr sz="1800" dirty="0"/>
                        <a:t>data</a:t>
                      </a:r>
                      <a:r>
                        <a:rPr sz="1800" spc="-5" dirty="0"/>
                        <a:t> </a:t>
                      </a:r>
                      <a:r>
                        <a:rPr sz="1800" spc="-10" dirty="0"/>
                        <a:t>augmentation.</a:t>
                      </a:r>
                      <a:endParaRPr sz="1800" dirty="0">
                        <a:latin typeface="Times New Roman"/>
                        <a:cs typeface="Times New Roman"/>
                      </a:endParaRPr>
                    </a:p>
                  </a:txBody>
                  <a:tcPr marL="0" marR="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marR="139065">
                        <a:lnSpc>
                          <a:spcPct val="96000"/>
                        </a:lnSpc>
                        <a:spcBef>
                          <a:spcPts val="60"/>
                        </a:spcBef>
                      </a:pPr>
                      <a:r>
                        <a:rPr sz="1800" dirty="0"/>
                        <a:t>Uses</a:t>
                      </a:r>
                      <a:r>
                        <a:rPr sz="1800" spc="-10" dirty="0"/>
                        <a:t> </a:t>
                      </a:r>
                      <a:r>
                        <a:rPr sz="1800" dirty="0"/>
                        <a:t>only</a:t>
                      </a:r>
                      <a:r>
                        <a:rPr sz="1800" spc="-35" dirty="0"/>
                        <a:t> </a:t>
                      </a:r>
                      <a:r>
                        <a:rPr sz="1800" dirty="0"/>
                        <a:t>one</a:t>
                      </a:r>
                      <a:r>
                        <a:rPr sz="1800" spc="-15" dirty="0"/>
                        <a:t> </a:t>
                      </a:r>
                      <a:r>
                        <a:rPr sz="1800" dirty="0"/>
                        <a:t>model,</a:t>
                      </a:r>
                      <a:r>
                        <a:rPr sz="1800" spc="5" dirty="0"/>
                        <a:t> </a:t>
                      </a:r>
                      <a:r>
                        <a:rPr sz="1800" spc="-25" dirty="0"/>
                        <a:t>no </a:t>
                      </a:r>
                      <a:r>
                        <a:rPr sz="1800" dirty="0"/>
                        <a:t>comparison</a:t>
                      </a:r>
                      <a:r>
                        <a:rPr sz="1800" spc="-35" dirty="0"/>
                        <a:t> </a:t>
                      </a:r>
                      <a:r>
                        <a:rPr sz="1800" spc="-10" dirty="0"/>
                        <a:t>between </a:t>
                      </a:r>
                      <a:r>
                        <a:rPr sz="1800" dirty="0"/>
                        <a:t>architectures</a:t>
                      </a:r>
                      <a:r>
                        <a:rPr sz="1800" spc="-50" dirty="0"/>
                        <a:t> </a:t>
                      </a:r>
                      <a:r>
                        <a:rPr sz="1800" dirty="0"/>
                        <a:t>like</a:t>
                      </a:r>
                      <a:r>
                        <a:rPr sz="1800" spc="-50" dirty="0"/>
                        <a:t> </a:t>
                      </a:r>
                      <a:r>
                        <a:rPr sz="1800" spc="-10" dirty="0"/>
                        <a:t>VGG16 </a:t>
                      </a:r>
                      <a:r>
                        <a:rPr sz="1800" dirty="0"/>
                        <a:t>&amp;</a:t>
                      </a:r>
                      <a:r>
                        <a:rPr sz="1800" spc="-10" dirty="0"/>
                        <a:t> ResNet50.</a:t>
                      </a:r>
                      <a:endParaRPr sz="1800" dirty="0">
                        <a:latin typeface="Times New Roman"/>
                        <a:cs typeface="Times New Roman"/>
                      </a:endParaRPr>
                    </a:p>
                  </a:txBody>
                  <a:tcPr marL="0" marR="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213485">
                <a:tc>
                  <a:txBody>
                    <a:bodyPr/>
                    <a:lstStyle/>
                    <a:p>
                      <a:pPr marL="91440">
                        <a:lnSpc>
                          <a:spcPct val="100000"/>
                        </a:lnSpc>
                        <a:spcBef>
                          <a:spcPts val="240"/>
                        </a:spcBef>
                      </a:pPr>
                      <a:r>
                        <a:rPr sz="1800" spc="-50" dirty="0"/>
                        <a:t>2</a:t>
                      </a:r>
                      <a:endParaRPr sz="1800">
                        <a:latin typeface="Calibri"/>
                        <a:cs typeface="Calibri"/>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
                        <a:lnSpc>
                          <a:spcPts val="1995"/>
                        </a:lnSpc>
                      </a:pPr>
                      <a:r>
                        <a:rPr sz="1800" dirty="0"/>
                        <a:t>Comparative</a:t>
                      </a:r>
                      <a:r>
                        <a:rPr sz="1800" spc="-60" dirty="0"/>
                        <a:t> </a:t>
                      </a:r>
                      <a:r>
                        <a:rPr sz="1800" spc="-10" dirty="0"/>
                        <a:t>Analysis</a:t>
                      </a:r>
                      <a:endParaRPr sz="1800"/>
                    </a:p>
                    <a:p>
                      <a:pPr marL="6985" marR="446405">
                        <a:lnSpc>
                          <a:spcPct val="95600"/>
                        </a:lnSpc>
                        <a:spcBef>
                          <a:spcPts val="45"/>
                        </a:spcBef>
                      </a:pPr>
                      <a:r>
                        <a:rPr sz="1800" dirty="0"/>
                        <a:t>of</a:t>
                      </a:r>
                      <a:r>
                        <a:rPr sz="1800" spc="-25" dirty="0"/>
                        <a:t> </a:t>
                      </a:r>
                      <a:r>
                        <a:rPr sz="1800" dirty="0"/>
                        <a:t>VGG16</a:t>
                      </a:r>
                      <a:r>
                        <a:rPr sz="1800" spc="5" dirty="0"/>
                        <a:t> </a:t>
                      </a:r>
                      <a:r>
                        <a:rPr sz="1800" spc="-25" dirty="0"/>
                        <a:t>and </a:t>
                      </a:r>
                      <a:r>
                        <a:rPr sz="1800" dirty="0"/>
                        <a:t>ResNet50</a:t>
                      </a:r>
                      <a:r>
                        <a:rPr sz="1800" spc="-40" dirty="0"/>
                        <a:t> </a:t>
                      </a:r>
                      <a:r>
                        <a:rPr sz="1800" dirty="0"/>
                        <a:t>for</a:t>
                      </a:r>
                      <a:r>
                        <a:rPr sz="1800" spc="-30" dirty="0"/>
                        <a:t> </a:t>
                      </a:r>
                      <a:r>
                        <a:rPr sz="1800" spc="-10" dirty="0"/>
                        <a:t>Brain </a:t>
                      </a:r>
                      <a:r>
                        <a:rPr sz="1800" dirty="0"/>
                        <a:t>MRI</a:t>
                      </a:r>
                      <a:r>
                        <a:rPr sz="1800" spc="5" dirty="0"/>
                        <a:t> </a:t>
                      </a:r>
                      <a:r>
                        <a:rPr sz="1800" spc="-10" dirty="0"/>
                        <a:t>Classification</a:t>
                      </a:r>
                      <a:endParaRPr sz="180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2039"/>
                        </a:lnSpc>
                      </a:pPr>
                      <a:r>
                        <a:rPr sz="1800" spc="-20" dirty="0"/>
                        <a:t>2022</a:t>
                      </a:r>
                      <a:endParaRPr sz="180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95"/>
                        </a:lnSpc>
                      </a:pPr>
                      <a:r>
                        <a:rPr sz="1800" dirty="0"/>
                        <a:t>Md</a:t>
                      </a:r>
                      <a:r>
                        <a:rPr sz="1800" spc="-25" dirty="0"/>
                        <a:t> </a:t>
                      </a:r>
                      <a:r>
                        <a:rPr sz="1800" dirty="0"/>
                        <a:t>Ishtyaq</a:t>
                      </a:r>
                      <a:r>
                        <a:rPr sz="1800" spc="-25" dirty="0"/>
                        <a:t> </a:t>
                      </a:r>
                      <a:r>
                        <a:rPr sz="1800" spc="-10" dirty="0"/>
                        <a:t>Mahmud,</a:t>
                      </a:r>
                      <a:endParaRPr sz="1800"/>
                    </a:p>
                    <a:p>
                      <a:pPr marL="5715" marR="184150">
                        <a:lnSpc>
                          <a:spcPts val="2060"/>
                        </a:lnSpc>
                        <a:spcBef>
                          <a:spcPts val="105"/>
                        </a:spcBef>
                      </a:pPr>
                      <a:r>
                        <a:rPr sz="1800" dirty="0"/>
                        <a:t>Muntasir</a:t>
                      </a:r>
                      <a:r>
                        <a:rPr sz="1800" spc="-35" dirty="0"/>
                        <a:t> </a:t>
                      </a:r>
                      <a:r>
                        <a:rPr sz="1800" dirty="0"/>
                        <a:t>Mamun</a:t>
                      </a:r>
                      <a:r>
                        <a:rPr sz="1800" spc="-30" dirty="0"/>
                        <a:t> </a:t>
                      </a:r>
                      <a:r>
                        <a:rPr sz="1800" spc="-50" dirty="0"/>
                        <a:t>&amp; </a:t>
                      </a:r>
                      <a:r>
                        <a:rPr sz="1800" dirty="0"/>
                        <a:t>Ahmed</a:t>
                      </a:r>
                      <a:r>
                        <a:rPr sz="1800" spc="-40" dirty="0"/>
                        <a:t> </a:t>
                      </a:r>
                      <a:r>
                        <a:rPr sz="1800" spc="-10" dirty="0"/>
                        <a:t>Abdelgawad</a:t>
                      </a:r>
                      <a:endParaRPr sz="180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95"/>
                        </a:lnSpc>
                      </a:pPr>
                      <a:r>
                        <a:rPr sz="1800" dirty="0"/>
                        <a:t>Benchmarks</a:t>
                      </a:r>
                      <a:r>
                        <a:rPr sz="1800" spc="-50" dirty="0"/>
                        <a:t> </a:t>
                      </a:r>
                      <a:r>
                        <a:rPr sz="1800" dirty="0"/>
                        <a:t>VGG16</a:t>
                      </a:r>
                      <a:r>
                        <a:rPr sz="1800" spc="-35" dirty="0"/>
                        <a:t> </a:t>
                      </a:r>
                      <a:r>
                        <a:rPr sz="1800" spc="-25" dirty="0"/>
                        <a:t>and</a:t>
                      </a:r>
                      <a:endParaRPr sz="1800" dirty="0"/>
                    </a:p>
                    <a:p>
                      <a:pPr marL="5715" marR="70485">
                        <a:lnSpc>
                          <a:spcPct val="95600"/>
                        </a:lnSpc>
                        <a:spcBef>
                          <a:spcPts val="45"/>
                        </a:spcBef>
                      </a:pPr>
                      <a:r>
                        <a:rPr sz="1800" dirty="0"/>
                        <a:t>ResNet50</a:t>
                      </a:r>
                      <a:r>
                        <a:rPr sz="1800" spc="-10" dirty="0"/>
                        <a:t> </a:t>
                      </a:r>
                      <a:r>
                        <a:rPr sz="1800" dirty="0"/>
                        <a:t>on</a:t>
                      </a:r>
                      <a:r>
                        <a:rPr sz="1800" spc="-10" dirty="0"/>
                        <a:t> </a:t>
                      </a:r>
                      <a:r>
                        <a:rPr sz="1800" dirty="0"/>
                        <a:t>MRI</a:t>
                      </a:r>
                      <a:r>
                        <a:rPr sz="1800" spc="-40" dirty="0"/>
                        <a:t> </a:t>
                      </a:r>
                      <a:r>
                        <a:rPr sz="1800" spc="-10" dirty="0"/>
                        <a:t>datasets, </a:t>
                      </a:r>
                      <a:r>
                        <a:rPr sz="1800" dirty="0"/>
                        <a:t>showing</a:t>
                      </a:r>
                      <a:r>
                        <a:rPr sz="1800" spc="-40" dirty="0"/>
                        <a:t> </a:t>
                      </a:r>
                      <a:r>
                        <a:rPr sz="1800" dirty="0"/>
                        <a:t>ResNet50</a:t>
                      </a:r>
                      <a:r>
                        <a:rPr sz="1800" spc="-15" dirty="0"/>
                        <a:t> </a:t>
                      </a:r>
                      <a:r>
                        <a:rPr sz="1800" spc="-10" dirty="0"/>
                        <a:t>performs better.</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marR="128270">
                        <a:lnSpc>
                          <a:spcPts val="2070"/>
                        </a:lnSpc>
                        <a:spcBef>
                          <a:spcPts val="25"/>
                        </a:spcBef>
                      </a:pPr>
                      <a:r>
                        <a:rPr sz="1800" dirty="0"/>
                        <a:t>Does</a:t>
                      </a:r>
                      <a:r>
                        <a:rPr sz="1800" spc="-15" dirty="0"/>
                        <a:t> </a:t>
                      </a:r>
                      <a:r>
                        <a:rPr sz="1800" dirty="0"/>
                        <a:t>not</a:t>
                      </a:r>
                      <a:r>
                        <a:rPr sz="1800" spc="-35" dirty="0"/>
                        <a:t> </a:t>
                      </a:r>
                      <a:r>
                        <a:rPr sz="1800" dirty="0"/>
                        <a:t>propose</a:t>
                      </a:r>
                      <a:r>
                        <a:rPr sz="1800" spc="-25" dirty="0"/>
                        <a:t> </a:t>
                      </a:r>
                      <a:r>
                        <a:rPr sz="1800" dirty="0"/>
                        <a:t>a</a:t>
                      </a:r>
                      <a:r>
                        <a:rPr sz="1800" spc="-15" dirty="0"/>
                        <a:t> </a:t>
                      </a:r>
                      <a:r>
                        <a:rPr sz="1800" spc="-25" dirty="0"/>
                        <a:t>new </a:t>
                      </a:r>
                      <a:r>
                        <a:rPr sz="1800" dirty="0"/>
                        <a:t>model</a:t>
                      </a:r>
                      <a:r>
                        <a:rPr sz="1800" spc="-30" dirty="0"/>
                        <a:t> </a:t>
                      </a:r>
                      <a:r>
                        <a:rPr sz="1800" dirty="0"/>
                        <a:t>to</a:t>
                      </a:r>
                      <a:r>
                        <a:rPr sz="1800" spc="-15" dirty="0"/>
                        <a:t> </a:t>
                      </a:r>
                      <a:r>
                        <a:rPr sz="1800" dirty="0"/>
                        <a:t>outperform</a:t>
                      </a:r>
                      <a:r>
                        <a:rPr sz="1800" spc="-60" dirty="0"/>
                        <a:t> </a:t>
                      </a:r>
                      <a:r>
                        <a:rPr sz="1800" spc="-20" dirty="0"/>
                        <a:t>both</a:t>
                      </a:r>
                      <a:endParaRPr sz="1800" dirty="0"/>
                    </a:p>
                    <a:p>
                      <a:pPr marL="5715">
                        <a:lnSpc>
                          <a:spcPts val="2100"/>
                        </a:lnSpc>
                      </a:pPr>
                      <a:r>
                        <a:rPr sz="1800" dirty="0"/>
                        <a:t>—</a:t>
                      </a:r>
                      <a:r>
                        <a:rPr sz="1800" spc="45" dirty="0"/>
                        <a:t> </a:t>
                      </a:r>
                      <a:r>
                        <a:rPr sz="1800" dirty="0"/>
                        <a:t>stops at</a:t>
                      </a:r>
                      <a:r>
                        <a:rPr sz="1800" spc="-20" dirty="0"/>
                        <a:t> </a:t>
                      </a:r>
                      <a:r>
                        <a:rPr sz="1800" spc="-10" dirty="0"/>
                        <a:t>comparison.</a:t>
                      </a:r>
                      <a:endParaRPr sz="1800" dirty="0">
                        <a:latin typeface="Times New Roman"/>
                        <a:cs typeface="Times New Roman"/>
                      </a:endParaRPr>
                    </a:p>
                  </a:txBody>
                  <a:tcPr marL="0" marR="0" marT="31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860C5F9A-EBDA-10C1-BF2F-5211F9152A51}"/>
              </a:ext>
            </a:extLst>
          </p:cNvPr>
          <p:cNvSpPr txBox="1"/>
          <p:nvPr/>
        </p:nvSpPr>
        <p:spPr>
          <a:xfrm>
            <a:off x="838200" y="5815049"/>
            <a:ext cx="6094378" cy="502317"/>
          </a:xfrm>
          <a:prstGeom prst="rect">
            <a:avLst/>
          </a:prstGeom>
          <a:noFill/>
        </p:spPr>
        <p:txBody>
          <a:bodyPr wrap="square">
            <a:spAutoFit/>
          </a:bodyPr>
          <a:lstStyle/>
          <a:p>
            <a:pPr marL="12700" marR="5080" algn="just">
              <a:lnSpc>
                <a:spcPct val="168400"/>
              </a:lnSpc>
              <a:spcBef>
                <a:spcPts val="10"/>
              </a:spcBef>
            </a:pPr>
            <a:r>
              <a:rPr lang="en-IN" sz="1800" spc="-10" dirty="0" err="1">
                <a:latin typeface="Calibri"/>
                <a:cs typeface="Calibri"/>
              </a:rPr>
              <a:t>i</a:t>
            </a:r>
            <a:endParaRPr lang="en-IN" sz="1800" spc="-1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565413090"/>
              </p:ext>
            </p:extLst>
          </p:nvPr>
        </p:nvGraphicFramePr>
        <p:xfrm>
          <a:off x="899464" y="1591056"/>
          <a:ext cx="10646408" cy="1737360"/>
        </p:xfrm>
        <a:graphic>
          <a:graphicData uri="http://schemas.openxmlformats.org/drawingml/2006/table">
            <a:tbl>
              <a:tblPr firstRow="1" bandRow="1">
                <a:tableStyleId>{2D5ABB26-0587-4C30-8999-92F81FD0307C}</a:tableStyleId>
              </a:tblPr>
              <a:tblGrid>
                <a:gridCol w="452755">
                  <a:extLst>
                    <a:ext uri="{9D8B030D-6E8A-4147-A177-3AD203B41FA5}">
                      <a16:colId xmlns:a16="http://schemas.microsoft.com/office/drawing/2014/main" val="20000"/>
                    </a:ext>
                  </a:extLst>
                </a:gridCol>
                <a:gridCol w="2251710">
                  <a:extLst>
                    <a:ext uri="{9D8B030D-6E8A-4147-A177-3AD203B41FA5}">
                      <a16:colId xmlns:a16="http://schemas.microsoft.com/office/drawing/2014/main" val="20001"/>
                    </a:ext>
                  </a:extLst>
                </a:gridCol>
                <a:gridCol w="671194">
                  <a:extLst>
                    <a:ext uri="{9D8B030D-6E8A-4147-A177-3AD203B41FA5}">
                      <a16:colId xmlns:a16="http://schemas.microsoft.com/office/drawing/2014/main" val="20002"/>
                    </a:ext>
                  </a:extLst>
                </a:gridCol>
                <a:gridCol w="2079625">
                  <a:extLst>
                    <a:ext uri="{9D8B030D-6E8A-4147-A177-3AD203B41FA5}">
                      <a16:colId xmlns:a16="http://schemas.microsoft.com/office/drawing/2014/main" val="20003"/>
                    </a:ext>
                  </a:extLst>
                </a:gridCol>
                <a:gridCol w="2696210">
                  <a:extLst>
                    <a:ext uri="{9D8B030D-6E8A-4147-A177-3AD203B41FA5}">
                      <a16:colId xmlns:a16="http://schemas.microsoft.com/office/drawing/2014/main" val="20004"/>
                    </a:ext>
                  </a:extLst>
                </a:gridCol>
                <a:gridCol w="2494914">
                  <a:extLst>
                    <a:ext uri="{9D8B030D-6E8A-4147-A177-3AD203B41FA5}">
                      <a16:colId xmlns:a16="http://schemas.microsoft.com/office/drawing/2014/main" val="20005"/>
                    </a:ext>
                  </a:extLst>
                </a:gridCol>
              </a:tblGrid>
              <a:tr h="1737360">
                <a:tc>
                  <a:txBody>
                    <a:bodyPr/>
                    <a:lstStyle/>
                    <a:p>
                      <a:pPr>
                        <a:lnSpc>
                          <a:spcPct val="100000"/>
                        </a:lnSpc>
                      </a:pPr>
                      <a:endParaRPr sz="1800" dirty="0"/>
                    </a:p>
                    <a:p>
                      <a:pPr>
                        <a:lnSpc>
                          <a:spcPct val="100000"/>
                        </a:lnSpc>
                        <a:spcBef>
                          <a:spcPts val="1000"/>
                        </a:spcBef>
                      </a:pPr>
                      <a:endParaRPr sz="1800" dirty="0"/>
                    </a:p>
                    <a:p>
                      <a:pPr marL="91440">
                        <a:lnSpc>
                          <a:spcPct val="100000"/>
                        </a:lnSpc>
                      </a:pPr>
                      <a:r>
                        <a:rPr sz="1800" spc="-50" dirty="0"/>
                        <a:t>3</a:t>
                      </a:r>
                      <a:endParaRPr sz="1800" dirty="0">
                        <a:latin typeface="Calibri"/>
                        <a:cs typeface="Calibri"/>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
                        <a:lnSpc>
                          <a:spcPts val="1945"/>
                        </a:lnSpc>
                      </a:pPr>
                      <a:r>
                        <a:rPr sz="1800" dirty="0"/>
                        <a:t>Custom</a:t>
                      </a:r>
                      <a:r>
                        <a:rPr sz="1800" spc="-20" dirty="0"/>
                        <a:t> </a:t>
                      </a:r>
                      <a:r>
                        <a:rPr sz="1800" spc="-25" dirty="0"/>
                        <a:t>CNN</a:t>
                      </a:r>
                      <a:endParaRPr sz="1800" dirty="0"/>
                    </a:p>
                    <a:p>
                      <a:pPr marL="6985" marR="105410">
                        <a:lnSpc>
                          <a:spcPts val="2060"/>
                        </a:lnSpc>
                        <a:spcBef>
                          <a:spcPts val="105"/>
                        </a:spcBef>
                      </a:pPr>
                      <a:r>
                        <a:rPr sz="1800" dirty="0"/>
                        <a:t>Architecture</a:t>
                      </a:r>
                      <a:r>
                        <a:rPr sz="1800" spc="-65" dirty="0"/>
                        <a:t> </a:t>
                      </a:r>
                      <a:r>
                        <a:rPr sz="1800" dirty="0"/>
                        <a:t>for</a:t>
                      </a:r>
                      <a:r>
                        <a:rPr sz="1800" spc="-55" dirty="0"/>
                        <a:t> </a:t>
                      </a:r>
                      <a:r>
                        <a:rPr sz="1800" spc="-20" dirty="0"/>
                        <a:t>Rare </a:t>
                      </a:r>
                      <a:r>
                        <a:rPr sz="1800" dirty="0"/>
                        <a:t>Brain</a:t>
                      </a:r>
                      <a:r>
                        <a:rPr sz="1800" spc="-30" dirty="0"/>
                        <a:t> </a:t>
                      </a:r>
                      <a:r>
                        <a:rPr sz="1800" dirty="0"/>
                        <a:t>Tumor</a:t>
                      </a:r>
                      <a:r>
                        <a:rPr sz="1800" spc="-40" dirty="0"/>
                        <a:t> </a:t>
                      </a:r>
                      <a:r>
                        <a:rPr sz="1800" spc="-10" dirty="0"/>
                        <a:t>Detection</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95"/>
                        </a:lnSpc>
                      </a:pPr>
                      <a:r>
                        <a:rPr sz="1800" spc="-20" dirty="0"/>
                        <a:t>2020</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45"/>
                        </a:lnSpc>
                      </a:pPr>
                      <a:r>
                        <a:rPr sz="1800" dirty="0"/>
                        <a:t>N.</a:t>
                      </a:r>
                      <a:r>
                        <a:rPr sz="1800" spc="5" dirty="0"/>
                        <a:t> </a:t>
                      </a:r>
                      <a:r>
                        <a:rPr sz="1800" dirty="0"/>
                        <a:t>Jeenath</a:t>
                      </a:r>
                      <a:r>
                        <a:rPr sz="1800" spc="-20" dirty="0"/>
                        <a:t> </a:t>
                      </a:r>
                      <a:r>
                        <a:rPr sz="1800" spc="-10" dirty="0"/>
                        <a:t>Shafana</a:t>
                      </a:r>
                      <a:endParaRPr sz="1800" dirty="0"/>
                    </a:p>
                    <a:p>
                      <a:pPr marL="5715">
                        <a:lnSpc>
                          <a:spcPts val="2065"/>
                        </a:lnSpc>
                      </a:pPr>
                      <a:r>
                        <a:rPr sz="1800" dirty="0"/>
                        <a:t>O.</a:t>
                      </a:r>
                      <a:r>
                        <a:rPr sz="1800" spc="480" dirty="0"/>
                        <a:t> </a:t>
                      </a:r>
                      <a:r>
                        <a:rPr sz="1800" spc="-50" dirty="0"/>
                        <a:t>&amp;</a:t>
                      </a:r>
                      <a:endParaRPr sz="1800" dirty="0"/>
                    </a:p>
                    <a:p>
                      <a:pPr marL="5715">
                        <a:lnSpc>
                          <a:spcPts val="2110"/>
                        </a:lnSpc>
                      </a:pPr>
                      <a:r>
                        <a:rPr sz="1800" dirty="0"/>
                        <a:t>P.</a:t>
                      </a:r>
                      <a:r>
                        <a:rPr sz="1800" spc="480" dirty="0"/>
                        <a:t> </a:t>
                      </a:r>
                      <a:r>
                        <a:rPr sz="1800" dirty="0"/>
                        <a:t>A. Senthil</a:t>
                      </a:r>
                      <a:r>
                        <a:rPr sz="1800" spc="-20" dirty="0"/>
                        <a:t> </a:t>
                      </a:r>
                      <a:r>
                        <a:rPr sz="1800" spc="-10" dirty="0"/>
                        <a:t>Selvi</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45"/>
                        </a:lnSpc>
                      </a:pPr>
                      <a:r>
                        <a:rPr sz="1800" dirty="0"/>
                        <a:t>Designs</a:t>
                      </a:r>
                      <a:r>
                        <a:rPr sz="1800" spc="-25" dirty="0"/>
                        <a:t> </a:t>
                      </a:r>
                      <a:r>
                        <a:rPr sz="1800" dirty="0"/>
                        <a:t>a</a:t>
                      </a:r>
                      <a:r>
                        <a:rPr sz="1800" spc="-30" dirty="0"/>
                        <a:t> </a:t>
                      </a:r>
                      <a:r>
                        <a:rPr sz="1800" dirty="0"/>
                        <a:t>lightweight</a:t>
                      </a:r>
                      <a:r>
                        <a:rPr sz="1800" spc="-20" dirty="0"/>
                        <a:t> </a:t>
                      </a:r>
                      <a:r>
                        <a:rPr sz="1800" spc="-25" dirty="0"/>
                        <a:t>CNN</a:t>
                      </a:r>
                      <a:endParaRPr sz="1800" dirty="0"/>
                    </a:p>
                    <a:p>
                      <a:pPr marL="5715" marR="273050">
                        <a:lnSpc>
                          <a:spcPct val="96200"/>
                        </a:lnSpc>
                        <a:spcBef>
                          <a:spcPts val="35"/>
                        </a:spcBef>
                      </a:pPr>
                      <a:r>
                        <a:rPr sz="1800" dirty="0"/>
                        <a:t>tailored</a:t>
                      </a:r>
                      <a:r>
                        <a:rPr sz="1800" spc="-35" dirty="0"/>
                        <a:t> </a:t>
                      </a:r>
                      <a:r>
                        <a:rPr sz="1800" dirty="0"/>
                        <a:t>for</a:t>
                      </a:r>
                      <a:r>
                        <a:rPr sz="1800" spc="-40" dirty="0"/>
                        <a:t> </a:t>
                      </a:r>
                      <a:r>
                        <a:rPr sz="1800" dirty="0"/>
                        <a:t>small</a:t>
                      </a:r>
                      <a:r>
                        <a:rPr sz="1800" spc="-40" dirty="0"/>
                        <a:t> </a:t>
                      </a:r>
                      <a:r>
                        <a:rPr sz="1800" spc="-10" dirty="0"/>
                        <a:t>datasets, </a:t>
                      </a:r>
                      <a:r>
                        <a:rPr sz="1800" dirty="0"/>
                        <a:t>achieving</a:t>
                      </a:r>
                      <a:r>
                        <a:rPr sz="1800" spc="-40" dirty="0"/>
                        <a:t> </a:t>
                      </a:r>
                      <a:r>
                        <a:rPr sz="1800" dirty="0"/>
                        <a:t>high</a:t>
                      </a:r>
                      <a:r>
                        <a:rPr sz="1800" spc="-20" dirty="0"/>
                        <a:t> </a:t>
                      </a:r>
                      <a:r>
                        <a:rPr sz="1800" spc="-10" dirty="0"/>
                        <a:t>accuracy </a:t>
                      </a:r>
                      <a:r>
                        <a:rPr sz="1800" dirty="0"/>
                        <a:t>without</a:t>
                      </a:r>
                      <a:r>
                        <a:rPr sz="1800" spc="-10" dirty="0"/>
                        <a:t> overfitting.</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gn="just">
                        <a:lnSpc>
                          <a:spcPts val="1945"/>
                        </a:lnSpc>
                      </a:pPr>
                      <a:r>
                        <a:rPr sz="1800" dirty="0"/>
                        <a:t>No</a:t>
                      </a:r>
                      <a:r>
                        <a:rPr sz="1800" spc="-50" dirty="0"/>
                        <a:t> </a:t>
                      </a:r>
                      <a:r>
                        <a:rPr sz="1800" dirty="0"/>
                        <a:t>benchmark</a:t>
                      </a:r>
                      <a:r>
                        <a:rPr sz="1800" spc="-60" dirty="0"/>
                        <a:t> </a:t>
                      </a:r>
                      <a:r>
                        <a:rPr sz="1800" spc="-10" dirty="0"/>
                        <a:t>comparison</a:t>
                      </a:r>
                      <a:endParaRPr sz="1800" dirty="0"/>
                    </a:p>
                    <a:p>
                      <a:pPr marL="5715" marR="441325" algn="just">
                        <a:lnSpc>
                          <a:spcPct val="96200"/>
                        </a:lnSpc>
                        <a:spcBef>
                          <a:spcPts val="35"/>
                        </a:spcBef>
                      </a:pPr>
                      <a:r>
                        <a:rPr sz="1800" dirty="0"/>
                        <a:t>with</a:t>
                      </a:r>
                      <a:r>
                        <a:rPr sz="1800" spc="-10" dirty="0"/>
                        <a:t> </a:t>
                      </a:r>
                      <a:r>
                        <a:rPr sz="1800" dirty="0"/>
                        <a:t>both</a:t>
                      </a:r>
                      <a:r>
                        <a:rPr sz="1800" spc="-25" dirty="0"/>
                        <a:t> </a:t>
                      </a:r>
                      <a:r>
                        <a:rPr sz="1800" dirty="0"/>
                        <a:t>VGG16</a:t>
                      </a:r>
                      <a:r>
                        <a:rPr sz="1800" spc="-5" dirty="0"/>
                        <a:t> </a:t>
                      </a:r>
                      <a:r>
                        <a:rPr sz="1800" spc="-25" dirty="0"/>
                        <a:t>and </a:t>
                      </a:r>
                      <a:r>
                        <a:rPr sz="1800" dirty="0"/>
                        <a:t>ResNet50</a:t>
                      </a:r>
                      <a:r>
                        <a:rPr sz="1800" spc="-10" dirty="0"/>
                        <a:t> </a:t>
                      </a:r>
                      <a:r>
                        <a:rPr sz="1800" dirty="0"/>
                        <a:t>in</a:t>
                      </a:r>
                      <a:r>
                        <a:rPr sz="1800" spc="-20" dirty="0"/>
                        <a:t> </a:t>
                      </a:r>
                      <a:r>
                        <a:rPr sz="1800" dirty="0"/>
                        <a:t>the</a:t>
                      </a:r>
                      <a:r>
                        <a:rPr sz="1800" spc="-20" dirty="0"/>
                        <a:t> same </a:t>
                      </a:r>
                      <a:r>
                        <a:rPr sz="1800" spc="-10" dirty="0"/>
                        <a:t>study.</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 name="object 3"/>
          <p:cNvGraphicFramePr>
            <a:graphicFrameLocks noGrp="1"/>
          </p:cNvGraphicFramePr>
          <p:nvPr>
            <p:extLst>
              <p:ext uri="{D42A27DB-BD31-4B8C-83A1-F6EECF244321}">
                <p14:modId xmlns:p14="http://schemas.microsoft.com/office/powerpoint/2010/main" val="2083029202"/>
              </p:ext>
            </p:extLst>
          </p:nvPr>
        </p:nvGraphicFramePr>
        <p:xfrm>
          <a:off x="899463" y="3328416"/>
          <a:ext cx="10646409" cy="1591056"/>
        </p:xfrm>
        <a:graphic>
          <a:graphicData uri="http://schemas.openxmlformats.org/drawingml/2006/table">
            <a:tbl>
              <a:tblPr firstRow="1" bandRow="1">
                <a:tableStyleId>{2D5ABB26-0587-4C30-8999-92F81FD0307C}</a:tableStyleId>
              </a:tblPr>
              <a:tblGrid>
                <a:gridCol w="453849">
                  <a:extLst>
                    <a:ext uri="{9D8B030D-6E8A-4147-A177-3AD203B41FA5}">
                      <a16:colId xmlns:a16="http://schemas.microsoft.com/office/drawing/2014/main" val="20000"/>
                    </a:ext>
                  </a:extLst>
                </a:gridCol>
                <a:gridCol w="2256436">
                  <a:extLst>
                    <a:ext uri="{9D8B030D-6E8A-4147-A177-3AD203B41FA5}">
                      <a16:colId xmlns:a16="http://schemas.microsoft.com/office/drawing/2014/main" val="20001"/>
                    </a:ext>
                  </a:extLst>
                </a:gridCol>
                <a:gridCol w="672639">
                  <a:extLst>
                    <a:ext uri="{9D8B030D-6E8A-4147-A177-3AD203B41FA5}">
                      <a16:colId xmlns:a16="http://schemas.microsoft.com/office/drawing/2014/main" val="20002"/>
                    </a:ext>
                  </a:extLst>
                </a:gridCol>
                <a:gridCol w="2031918">
                  <a:extLst>
                    <a:ext uri="{9D8B030D-6E8A-4147-A177-3AD203B41FA5}">
                      <a16:colId xmlns:a16="http://schemas.microsoft.com/office/drawing/2014/main" val="20003"/>
                    </a:ext>
                  </a:extLst>
                </a:gridCol>
                <a:gridCol w="2765647">
                  <a:extLst>
                    <a:ext uri="{9D8B030D-6E8A-4147-A177-3AD203B41FA5}">
                      <a16:colId xmlns:a16="http://schemas.microsoft.com/office/drawing/2014/main" val="20004"/>
                    </a:ext>
                  </a:extLst>
                </a:gridCol>
                <a:gridCol w="2465920">
                  <a:extLst>
                    <a:ext uri="{9D8B030D-6E8A-4147-A177-3AD203B41FA5}">
                      <a16:colId xmlns:a16="http://schemas.microsoft.com/office/drawing/2014/main" val="20005"/>
                    </a:ext>
                  </a:extLst>
                </a:gridCol>
              </a:tblGrid>
              <a:tr h="1591056">
                <a:tc>
                  <a:txBody>
                    <a:bodyPr/>
                    <a:lstStyle/>
                    <a:p>
                      <a:pPr marL="90805">
                        <a:lnSpc>
                          <a:spcPct val="100000"/>
                        </a:lnSpc>
                        <a:spcBef>
                          <a:spcPts val="190"/>
                        </a:spcBef>
                      </a:pPr>
                      <a:r>
                        <a:rPr sz="1800" spc="-50" dirty="0"/>
                        <a:t>4</a:t>
                      </a:r>
                      <a:endParaRPr sz="1800" dirty="0">
                        <a:latin typeface="Calibri"/>
                        <a:cs typeface="Calibr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40">
                        <a:lnSpc>
                          <a:spcPts val="1945"/>
                        </a:lnSpc>
                      </a:pPr>
                      <a:r>
                        <a:rPr sz="1800" dirty="0"/>
                        <a:t>An</a:t>
                      </a:r>
                      <a:r>
                        <a:rPr sz="1800" spc="-15" dirty="0"/>
                        <a:t> </a:t>
                      </a:r>
                      <a:r>
                        <a:rPr sz="1800" dirty="0"/>
                        <a:t>Analysis</a:t>
                      </a:r>
                      <a:r>
                        <a:rPr sz="1800" spc="-40" dirty="0"/>
                        <a:t> </a:t>
                      </a:r>
                      <a:r>
                        <a:rPr sz="1800" dirty="0"/>
                        <a:t>of</a:t>
                      </a:r>
                      <a:r>
                        <a:rPr sz="1800" spc="-60" dirty="0"/>
                        <a:t> </a:t>
                      </a:r>
                      <a:r>
                        <a:rPr sz="1800" spc="-10" dirty="0"/>
                        <a:t>Image</a:t>
                      </a:r>
                      <a:endParaRPr sz="1800" dirty="0"/>
                    </a:p>
                    <a:p>
                      <a:pPr marL="2540" marR="43180">
                        <a:lnSpc>
                          <a:spcPct val="95600"/>
                        </a:lnSpc>
                        <a:spcBef>
                          <a:spcPts val="45"/>
                        </a:spcBef>
                      </a:pPr>
                      <a:r>
                        <a:rPr sz="1800" dirty="0"/>
                        <a:t>Segmentation</a:t>
                      </a:r>
                      <a:r>
                        <a:rPr sz="1800" spc="-60" dirty="0"/>
                        <a:t> </a:t>
                      </a:r>
                      <a:r>
                        <a:rPr sz="1800" spc="-10" dirty="0"/>
                        <a:t>Methods </a:t>
                      </a:r>
                      <a:r>
                        <a:rPr sz="1800" dirty="0"/>
                        <a:t>for</a:t>
                      </a:r>
                      <a:r>
                        <a:rPr sz="1800" spc="-30" dirty="0"/>
                        <a:t> </a:t>
                      </a:r>
                      <a:r>
                        <a:rPr sz="1800" dirty="0"/>
                        <a:t>Brain</a:t>
                      </a:r>
                      <a:r>
                        <a:rPr sz="1800" spc="-15" dirty="0"/>
                        <a:t> </a:t>
                      </a:r>
                      <a:r>
                        <a:rPr sz="1800" spc="-10" dirty="0"/>
                        <a:t>Tumour Detection</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89"/>
                        </a:lnSpc>
                      </a:pPr>
                      <a:r>
                        <a:rPr sz="1800" spc="-20" dirty="0"/>
                        <a:t>2020</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15">
                        <a:lnSpc>
                          <a:spcPts val="1945"/>
                        </a:lnSpc>
                      </a:pPr>
                      <a:r>
                        <a:rPr sz="1800" dirty="0"/>
                        <a:t>Anurag</a:t>
                      </a:r>
                      <a:r>
                        <a:rPr sz="1800" spc="-50" dirty="0"/>
                        <a:t> </a:t>
                      </a:r>
                      <a:r>
                        <a:rPr sz="1800" spc="-10" dirty="0"/>
                        <a:t>Goswami</a:t>
                      </a:r>
                      <a:endParaRPr sz="1800" dirty="0"/>
                    </a:p>
                    <a:p>
                      <a:pPr marL="63500">
                        <a:lnSpc>
                          <a:spcPts val="2110"/>
                        </a:lnSpc>
                      </a:pPr>
                      <a:r>
                        <a:rPr sz="1800" dirty="0"/>
                        <a:t>&amp;</a:t>
                      </a:r>
                      <a:r>
                        <a:rPr sz="1800" spc="-15" dirty="0"/>
                        <a:t> </a:t>
                      </a:r>
                      <a:r>
                        <a:rPr sz="1800" dirty="0"/>
                        <a:t>Manish</a:t>
                      </a:r>
                      <a:r>
                        <a:rPr sz="1800" spc="10" dirty="0"/>
                        <a:t> </a:t>
                      </a:r>
                      <a:r>
                        <a:rPr sz="1800" spc="-10" dirty="0"/>
                        <a:t>Dixit</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40">
                        <a:lnSpc>
                          <a:spcPts val="1945"/>
                        </a:lnSpc>
                      </a:pPr>
                      <a:r>
                        <a:rPr sz="1800" dirty="0"/>
                        <a:t>Reviews</a:t>
                      </a:r>
                      <a:r>
                        <a:rPr sz="1800" spc="-45" dirty="0"/>
                        <a:t> </a:t>
                      </a:r>
                      <a:r>
                        <a:rPr sz="1800" dirty="0"/>
                        <a:t>MRI</a:t>
                      </a:r>
                      <a:r>
                        <a:rPr sz="1800" spc="-40" dirty="0"/>
                        <a:t> </a:t>
                      </a:r>
                      <a:r>
                        <a:rPr sz="1800" spc="-10" dirty="0"/>
                        <a:t>segmentation</a:t>
                      </a:r>
                      <a:endParaRPr sz="1800" dirty="0"/>
                    </a:p>
                    <a:p>
                      <a:pPr marL="2540" marR="318135">
                        <a:lnSpc>
                          <a:spcPct val="95600"/>
                        </a:lnSpc>
                        <a:spcBef>
                          <a:spcPts val="45"/>
                        </a:spcBef>
                      </a:pPr>
                      <a:r>
                        <a:rPr sz="1800" dirty="0"/>
                        <a:t>methods</a:t>
                      </a:r>
                      <a:r>
                        <a:rPr sz="1800" spc="-25" dirty="0"/>
                        <a:t> </a:t>
                      </a:r>
                      <a:r>
                        <a:rPr sz="1800" dirty="0"/>
                        <a:t>to</a:t>
                      </a:r>
                      <a:r>
                        <a:rPr sz="1800" spc="-10" dirty="0"/>
                        <a:t> </a:t>
                      </a:r>
                      <a:r>
                        <a:rPr sz="1800" dirty="0"/>
                        <a:t>improve</a:t>
                      </a:r>
                      <a:r>
                        <a:rPr sz="1800" spc="-30" dirty="0"/>
                        <a:t> </a:t>
                      </a:r>
                      <a:r>
                        <a:rPr sz="1800" spc="-20" dirty="0"/>
                        <a:t>tumor </a:t>
                      </a:r>
                      <a:r>
                        <a:rPr sz="1800" dirty="0"/>
                        <a:t>region</a:t>
                      </a:r>
                      <a:r>
                        <a:rPr sz="1800" spc="-35" dirty="0"/>
                        <a:t> </a:t>
                      </a:r>
                      <a:r>
                        <a:rPr sz="1800" dirty="0"/>
                        <a:t>detection</a:t>
                      </a:r>
                      <a:r>
                        <a:rPr sz="1800" spc="-50" dirty="0"/>
                        <a:t> </a:t>
                      </a:r>
                      <a:r>
                        <a:rPr sz="1800" spc="-10" dirty="0"/>
                        <a:t>before classification.</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40">
                        <a:lnSpc>
                          <a:spcPts val="1945"/>
                        </a:lnSpc>
                      </a:pPr>
                      <a:r>
                        <a:rPr sz="1800" dirty="0"/>
                        <a:t>.Focuses</a:t>
                      </a:r>
                      <a:r>
                        <a:rPr sz="1800" spc="-25" dirty="0"/>
                        <a:t> on</a:t>
                      </a:r>
                      <a:endParaRPr sz="1800" dirty="0"/>
                    </a:p>
                    <a:p>
                      <a:pPr marL="2540">
                        <a:lnSpc>
                          <a:spcPct val="96000"/>
                        </a:lnSpc>
                        <a:spcBef>
                          <a:spcPts val="10"/>
                        </a:spcBef>
                      </a:pPr>
                      <a:r>
                        <a:rPr sz="1800" dirty="0"/>
                        <a:t>preprocessing,</a:t>
                      </a:r>
                      <a:r>
                        <a:rPr sz="1800" spc="-75" dirty="0"/>
                        <a:t> </a:t>
                      </a:r>
                      <a:r>
                        <a:rPr sz="1800" spc="-25" dirty="0"/>
                        <a:t>not </a:t>
                      </a:r>
                      <a:r>
                        <a:rPr sz="1800" dirty="0"/>
                        <a:t>architecture</a:t>
                      </a:r>
                      <a:r>
                        <a:rPr sz="1800" spc="-60" dirty="0"/>
                        <a:t> </a:t>
                      </a:r>
                      <a:r>
                        <a:rPr sz="1800" dirty="0"/>
                        <a:t>comparison</a:t>
                      </a:r>
                      <a:r>
                        <a:rPr sz="1800" spc="-45" dirty="0"/>
                        <a:t> </a:t>
                      </a:r>
                      <a:r>
                        <a:rPr sz="1800" spc="-25" dirty="0"/>
                        <a:t>or </a:t>
                      </a:r>
                      <a:r>
                        <a:rPr sz="1800" dirty="0"/>
                        <a:t>custom</a:t>
                      </a:r>
                      <a:r>
                        <a:rPr sz="1800" spc="-10" dirty="0"/>
                        <a:t> model development.</a:t>
                      </a:r>
                      <a:endParaRPr sz="18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DEB809-D00B-E348-EB11-6D4D99079C07}"/>
              </a:ext>
            </a:extLst>
          </p:cNvPr>
          <p:cNvSpPr txBox="1"/>
          <p:nvPr/>
        </p:nvSpPr>
        <p:spPr>
          <a:xfrm>
            <a:off x="450342" y="1120676"/>
            <a:ext cx="11290554" cy="1477328"/>
          </a:xfrm>
          <a:prstGeom prst="rect">
            <a:avLst/>
          </a:prstGeom>
          <a:noFill/>
        </p:spPr>
        <p:txBody>
          <a:bodyPr wrap="square">
            <a:spAutoFit/>
          </a:bodyPr>
          <a:lstStyle/>
          <a:p>
            <a:r>
              <a:rPr lang="en-US" dirty="0"/>
              <a:t>Rare brain tumors often go undetected due to limited diagnostic data and lack of expert access, especially in rural areas. Manual MRI interpretation is time-consuming and prone to error. This project proposes an AI-based system using a custom deep learning model to classify brain MRI images into two categories—Tumor and Non-Tumor—and compares its performance with standard models like VGG16 and ResNet50 to evaluate improvements in accuracy and reliability.</a:t>
            </a:r>
            <a:endParaRPr lang="en-IN" dirty="0"/>
          </a:p>
        </p:txBody>
      </p:sp>
      <p:sp>
        <p:nvSpPr>
          <p:cNvPr id="4" name="object 2">
            <a:extLst>
              <a:ext uri="{FF2B5EF4-FFF2-40B4-BE49-F238E27FC236}">
                <a16:creationId xmlns:a16="http://schemas.microsoft.com/office/drawing/2014/main" id="{C8324E70-948C-2852-E6E1-023E98B5DD86}"/>
              </a:ext>
            </a:extLst>
          </p:cNvPr>
          <p:cNvSpPr txBox="1">
            <a:spLocks/>
          </p:cNvSpPr>
          <p:nvPr/>
        </p:nvSpPr>
        <p:spPr>
          <a:xfrm>
            <a:off x="450342" y="431385"/>
            <a:ext cx="8237855" cy="689291"/>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tabLst>
                <a:tab pos="8097520" algn="l"/>
              </a:tabLst>
            </a:pPr>
            <a:r>
              <a:rPr lang="en-IN" spc="-20" dirty="0"/>
              <a:t>Problem Statement</a:t>
            </a:r>
            <a:endParaRPr lang="en-IN" spc="-50" dirty="0"/>
          </a:p>
        </p:txBody>
      </p:sp>
    </p:spTree>
    <p:extLst>
      <p:ext uri="{BB962C8B-B14F-4D97-AF65-F5344CB8AC3E}">
        <p14:creationId xmlns:p14="http://schemas.microsoft.com/office/powerpoint/2010/main" val="425008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949" rIns="0" bIns="0" rtlCol="0">
            <a:spAutoFit/>
          </a:bodyPr>
          <a:lstStyle/>
          <a:p>
            <a:pPr marL="238125">
              <a:lnSpc>
                <a:spcPct val="100000"/>
              </a:lnSpc>
              <a:spcBef>
                <a:spcPts val="95"/>
              </a:spcBef>
            </a:pPr>
            <a:r>
              <a:rPr spc="-10" dirty="0"/>
              <a:t>MOTIVATION</a:t>
            </a:r>
          </a:p>
        </p:txBody>
      </p:sp>
      <p:sp>
        <p:nvSpPr>
          <p:cNvPr id="3" name="object 3"/>
          <p:cNvSpPr txBox="1"/>
          <p:nvPr/>
        </p:nvSpPr>
        <p:spPr>
          <a:xfrm>
            <a:off x="688644" y="1670684"/>
            <a:ext cx="10630535" cy="2751394"/>
          </a:xfrm>
          <a:prstGeom prst="rect">
            <a:avLst/>
          </a:prstGeom>
        </p:spPr>
        <p:txBody>
          <a:bodyPr vert="horz" wrap="square" lIns="0" tIns="12700" rIns="0" bIns="0" rtlCol="0">
            <a:spAutoFit/>
          </a:bodyPr>
          <a:lstStyle/>
          <a:p>
            <a:pPr marL="355600" indent="-342900" algn="just">
              <a:lnSpc>
                <a:spcPct val="100000"/>
              </a:lnSpc>
              <a:spcBef>
                <a:spcPts val="100"/>
              </a:spcBef>
              <a:buFont typeface="+mj-lt"/>
              <a:buAutoNum type="arabicPeriod"/>
            </a:pPr>
            <a:r>
              <a:rPr sz="1800" dirty="0">
                <a:latin typeface="Calibri"/>
                <a:cs typeface="Calibri"/>
              </a:rPr>
              <a:t>Brain</a:t>
            </a:r>
            <a:r>
              <a:rPr sz="1800" spc="145" dirty="0">
                <a:latin typeface="Calibri"/>
                <a:cs typeface="Calibri"/>
              </a:rPr>
              <a:t> </a:t>
            </a:r>
            <a:r>
              <a:rPr sz="1800" dirty="0">
                <a:latin typeface="Calibri"/>
                <a:cs typeface="Calibri"/>
              </a:rPr>
              <a:t>tumor</a:t>
            </a:r>
            <a:r>
              <a:rPr sz="1800" spc="155" dirty="0">
                <a:latin typeface="Calibri"/>
                <a:cs typeface="Calibri"/>
              </a:rPr>
              <a:t> </a:t>
            </a:r>
            <a:r>
              <a:rPr sz="1800" dirty="0">
                <a:latin typeface="Calibri"/>
                <a:cs typeface="Calibri"/>
              </a:rPr>
              <a:t>detection</a:t>
            </a:r>
            <a:r>
              <a:rPr sz="1800" spc="175" dirty="0">
                <a:latin typeface="Calibri"/>
                <a:cs typeface="Calibri"/>
              </a:rPr>
              <a:t> </a:t>
            </a:r>
            <a:r>
              <a:rPr sz="1800" dirty="0">
                <a:latin typeface="Calibri"/>
                <a:cs typeface="Calibri"/>
              </a:rPr>
              <a:t>is</a:t>
            </a:r>
            <a:r>
              <a:rPr sz="1800" spc="150" dirty="0">
                <a:latin typeface="Calibri"/>
                <a:cs typeface="Calibri"/>
              </a:rPr>
              <a:t> </a:t>
            </a:r>
            <a:r>
              <a:rPr sz="1800" dirty="0">
                <a:latin typeface="Calibri"/>
                <a:cs typeface="Calibri"/>
              </a:rPr>
              <a:t>a</a:t>
            </a:r>
            <a:r>
              <a:rPr sz="1800" spc="160" dirty="0">
                <a:latin typeface="Calibri"/>
                <a:cs typeface="Calibri"/>
              </a:rPr>
              <a:t> </a:t>
            </a:r>
            <a:r>
              <a:rPr sz="1800" dirty="0">
                <a:latin typeface="Calibri"/>
                <a:cs typeface="Calibri"/>
              </a:rPr>
              <a:t>critical</a:t>
            </a:r>
            <a:r>
              <a:rPr sz="1800" spc="155" dirty="0">
                <a:latin typeface="Calibri"/>
                <a:cs typeface="Calibri"/>
              </a:rPr>
              <a:t> </a:t>
            </a:r>
            <a:r>
              <a:rPr sz="1800" dirty="0">
                <a:latin typeface="Calibri"/>
                <a:cs typeface="Calibri"/>
              </a:rPr>
              <a:t>and</a:t>
            </a:r>
            <a:r>
              <a:rPr sz="1800" spc="150" dirty="0">
                <a:latin typeface="Calibri"/>
                <a:cs typeface="Calibri"/>
              </a:rPr>
              <a:t> </a:t>
            </a:r>
            <a:r>
              <a:rPr sz="1800" dirty="0">
                <a:latin typeface="Calibri"/>
                <a:cs typeface="Calibri"/>
              </a:rPr>
              <a:t>time-sensitive</a:t>
            </a:r>
            <a:r>
              <a:rPr sz="1800" spc="155" dirty="0">
                <a:latin typeface="Calibri"/>
                <a:cs typeface="Calibri"/>
              </a:rPr>
              <a:t> </a:t>
            </a:r>
            <a:r>
              <a:rPr sz="1800" dirty="0">
                <a:latin typeface="Calibri"/>
                <a:cs typeface="Calibri"/>
              </a:rPr>
              <a:t>task</a:t>
            </a:r>
            <a:r>
              <a:rPr sz="1800" spc="155" dirty="0">
                <a:latin typeface="Calibri"/>
                <a:cs typeface="Calibri"/>
              </a:rPr>
              <a:t> </a:t>
            </a:r>
            <a:r>
              <a:rPr sz="1800" dirty="0">
                <a:latin typeface="Calibri"/>
                <a:cs typeface="Calibri"/>
              </a:rPr>
              <a:t>in</a:t>
            </a:r>
            <a:r>
              <a:rPr sz="1800" spc="150" dirty="0">
                <a:latin typeface="Calibri"/>
                <a:cs typeface="Calibri"/>
              </a:rPr>
              <a:t> </a:t>
            </a:r>
            <a:r>
              <a:rPr sz="1800" dirty="0">
                <a:latin typeface="Calibri"/>
                <a:cs typeface="Calibri"/>
              </a:rPr>
              <a:t>medical</a:t>
            </a:r>
            <a:r>
              <a:rPr sz="1800" spc="155" dirty="0">
                <a:latin typeface="Calibri"/>
                <a:cs typeface="Calibri"/>
              </a:rPr>
              <a:t> </a:t>
            </a:r>
            <a:r>
              <a:rPr sz="1800" dirty="0">
                <a:latin typeface="Calibri"/>
                <a:cs typeface="Calibri"/>
              </a:rPr>
              <a:t>diagnosis.</a:t>
            </a:r>
            <a:r>
              <a:rPr sz="1800" spc="185" dirty="0">
                <a:latin typeface="Calibri"/>
                <a:cs typeface="Calibri"/>
              </a:rPr>
              <a:t> </a:t>
            </a:r>
            <a:r>
              <a:rPr sz="1800" dirty="0">
                <a:latin typeface="Calibri"/>
                <a:cs typeface="Calibri"/>
              </a:rPr>
              <a:t>While</a:t>
            </a:r>
            <a:r>
              <a:rPr sz="1800" spc="175" dirty="0">
                <a:latin typeface="Calibri"/>
                <a:cs typeface="Calibri"/>
              </a:rPr>
              <a:t> </a:t>
            </a:r>
            <a:r>
              <a:rPr sz="1800" dirty="0">
                <a:latin typeface="Calibri"/>
                <a:cs typeface="Calibri"/>
              </a:rPr>
              <a:t>deep</a:t>
            </a:r>
            <a:r>
              <a:rPr sz="1800" spc="170" dirty="0">
                <a:latin typeface="Calibri"/>
                <a:cs typeface="Calibri"/>
              </a:rPr>
              <a:t> </a:t>
            </a:r>
            <a:r>
              <a:rPr sz="1800" dirty="0">
                <a:latin typeface="Calibri"/>
                <a:cs typeface="Calibri"/>
              </a:rPr>
              <a:t>learning</a:t>
            </a:r>
            <a:r>
              <a:rPr sz="1800" spc="175" dirty="0">
                <a:latin typeface="Calibri"/>
                <a:cs typeface="Calibri"/>
              </a:rPr>
              <a:t> </a:t>
            </a:r>
            <a:r>
              <a:rPr sz="1800" dirty="0">
                <a:latin typeface="Calibri"/>
                <a:cs typeface="Calibri"/>
              </a:rPr>
              <a:t>has</a:t>
            </a:r>
            <a:r>
              <a:rPr sz="1800" spc="180" dirty="0">
                <a:latin typeface="Calibri"/>
                <a:cs typeface="Calibri"/>
              </a:rPr>
              <a:t> </a:t>
            </a:r>
            <a:r>
              <a:rPr sz="1800" spc="-10" dirty="0">
                <a:latin typeface="Calibri"/>
                <a:cs typeface="Calibri"/>
              </a:rPr>
              <a:t>shown</a:t>
            </a:r>
            <a:r>
              <a:rPr lang="en-US" spc="-10" dirty="0">
                <a:latin typeface="Calibri"/>
                <a:cs typeface="Calibri"/>
              </a:rPr>
              <a:t> </a:t>
            </a:r>
            <a:r>
              <a:rPr sz="1800" dirty="0">
                <a:latin typeface="Calibri"/>
                <a:cs typeface="Calibri"/>
              </a:rPr>
              <a:t>great</a:t>
            </a:r>
            <a:r>
              <a:rPr sz="1800" spc="30" dirty="0">
                <a:latin typeface="Calibri"/>
                <a:cs typeface="Calibri"/>
              </a:rPr>
              <a:t> </a:t>
            </a:r>
            <a:r>
              <a:rPr sz="1800" dirty="0">
                <a:latin typeface="Calibri"/>
                <a:cs typeface="Calibri"/>
              </a:rPr>
              <a:t>success</a:t>
            </a:r>
            <a:r>
              <a:rPr sz="1800" spc="50" dirty="0">
                <a:latin typeface="Calibri"/>
                <a:cs typeface="Calibri"/>
              </a:rPr>
              <a:t> </a:t>
            </a:r>
            <a:r>
              <a:rPr sz="1800" dirty="0">
                <a:latin typeface="Calibri"/>
                <a:cs typeface="Calibri"/>
              </a:rPr>
              <a:t>in</a:t>
            </a:r>
            <a:r>
              <a:rPr sz="1800" spc="25" dirty="0">
                <a:latin typeface="Calibri"/>
                <a:cs typeface="Calibri"/>
              </a:rPr>
              <a:t> </a:t>
            </a:r>
            <a:r>
              <a:rPr sz="1800" dirty="0">
                <a:latin typeface="Calibri"/>
                <a:cs typeface="Calibri"/>
              </a:rPr>
              <a:t>medical</a:t>
            </a:r>
            <a:r>
              <a:rPr sz="1800" spc="30" dirty="0">
                <a:latin typeface="Calibri"/>
                <a:cs typeface="Calibri"/>
              </a:rPr>
              <a:t> </a:t>
            </a:r>
            <a:r>
              <a:rPr sz="1800" dirty="0">
                <a:latin typeface="Calibri"/>
                <a:cs typeface="Calibri"/>
              </a:rPr>
              <a:t>imaging,</a:t>
            </a:r>
            <a:r>
              <a:rPr sz="1800" spc="65" dirty="0">
                <a:latin typeface="Calibri"/>
                <a:cs typeface="Calibri"/>
              </a:rPr>
              <a:t> </a:t>
            </a:r>
            <a:r>
              <a:rPr sz="1800" dirty="0">
                <a:latin typeface="Calibri"/>
                <a:cs typeface="Calibri"/>
              </a:rPr>
              <a:t>most</a:t>
            </a:r>
            <a:r>
              <a:rPr sz="1800" spc="30" dirty="0">
                <a:latin typeface="Calibri"/>
                <a:cs typeface="Calibri"/>
              </a:rPr>
              <a:t> </a:t>
            </a:r>
            <a:r>
              <a:rPr sz="1800" dirty="0">
                <a:latin typeface="Calibri"/>
                <a:cs typeface="Calibri"/>
              </a:rPr>
              <a:t>existing</a:t>
            </a:r>
            <a:r>
              <a:rPr sz="1800" spc="30" dirty="0">
                <a:latin typeface="Calibri"/>
                <a:cs typeface="Calibri"/>
              </a:rPr>
              <a:t> </a:t>
            </a:r>
            <a:r>
              <a:rPr sz="1800" dirty="0">
                <a:latin typeface="Calibri"/>
                <a:cs typeface="Calibri"/>
              </a:rPr>
              <a:t>models</a:t>
            </a:r>
            <a:r>
              <a:rPr sz="1800" spc="25" dirty="0">
                <a:latin typeface="Calibri"/>
                <a:cs typeface="Calibri"/>
              </a:rPr>
              <a:t> </a:t>
            </a:r>
            <a:r>
              <a:rPr sz="1800" dirty="0">
                <a:latin typeface="Calibri"/>
                <a:cs typeface="Calibri"/>
              </a:rPr>
              <a:t>perform</a:t>
            </a:r>
            <a:r>
              <a:rPr sz="1800" spc="30" dirty="0">
                <a:latin typeface="Calibri"/>
                <a:cs typeface="Calibri"/>
              </a:rPr>
              <a:t> </a:t>
            </a:r>
            <a:r>
              <a:rPr sz="1800" dirty="0">
                <a:latin typeface="Calibri"/>
                <a:cs typeface="Calibri"/>
              </a:rPr>
              <a:t>well</a:t>
            </a:r>
            <a:r>
              <a:rPr sz="1800" spc="30" dirty="0">
                <a:latin typeface="Calibri"/>
                <a:cs typeface="Calibri"/>
              </a:rPr>
              <a:t> </a:t>
            </a:r>
            <a:r>
              <a:rPr sz="1800" dirty="0">
                <a:latin typeface="Calibri"/>
                <a:cs typeface="Calibri"/>
              </a:rPr>
              <a:t>only</a:t>
            </a:r>
            <a:r>
              <a:rPr sz="1800" spc="35" dirty="0">
                <a:latin typeface="Calibri"/>
                <a:cs typeface="Calibri"/>
              </a:rPr>
              <a:t> </a:t>
            </a:r>
            <a:r>
              <a:rPr sz="1800" dirty="0">
                <a:latin typeface="Calibri"/>
                <a:cs typeface="Calibri"/>
              </a:rPr>
              <a:t>on</a:t>
            </a:r>
            <a:r>
              <a:rPr sz="1800" spc="45" dirty="0">
                <a:latin typeface="Calibri"/>
                <a:cs typeface="Calibri"/>
              </a:rPr>
              <a:t> </a:t>
            </a:r>
            <a:r>
              <a:rPr sz="1800" dirty="0">
                <a:latin typeface="Calibri"/>
                <a:cs typeface="Calibri"/>
              </a:rPr>
              <a:t>common</a:t>
            </a:r>
            <a:r>
              <a:rPr sz="1800" spc="25" dirty="0">
                <a:latin typeface="Calibri"/>
                <a:cs typeface="Calibri"/>
              </a:rPr>
              <a:t> </a:t>
            </a:r>
            <a:r>
              <a:rPr sz="1800" dirty="0">
                <a:latin typeface="Calibri"/>
                <a:cs typeface="Calibri"/>
              </a:rPr>
              <a:t>cases</a:t>
            </a:r>
            <a:r>
              <a:rPr sz="1800" spc="25" dirty="0">
                <a:latin typeface="Calibri"/>
                <a:cs typeface="Calibri"/>
              </a:rPr>
              <a:t> </a:t>
            </a:r>
            <a:r>
              <a:rPr sz="1800" dirty="0">
                <a:latin typeface="Calibri"/>
                <a:cs typeface="Calibri"/>
              </a:rPr>
              <a:t>with</a:t>
            </a:r>
            <a:r>
              <a:rPr sz="1800" spc="20" dirty="0">
                <a:latin typeface="Calibri"/>
                <a:cs typeface="Calibri"/>
              </a:rPr>
              <a:t> </a:t>
            </a:r>
            <a:r>
              <a:rPr sz="1800" dirty="0">
                <a:latin typeface="Calibri"/>
                <a:cs typeface="Calibri"/>
              </a:rPr>
              <a:t>abundant</a:t>
            </a:r>
            <a:r>
              <a:rPr sz="1800" spc="55" dirty="0">
                <a:latin typeface="Calibri"/>
                <a:cs typeface="Calibri"/>
              </a:rPr>
              <a:t> </a:t>
            </a:r>
            <a:r>
              <a:rPr sz="1800" spc="-10" dirty="0">
                <a:latin typeface="Calibri"/>
                <a:cs typeface="Calibri"/>
              </a:rPr>
              <a:t>data.</a:t>
            </a:r>
            <a:endParaRPr lang="en-US" sz="1800" spc="-10" dirty="0">
              <a:latin typeface="Calibri"/>
              <a:cs typeface="Calibri"/>
            </a:endParaRPr>
          </a:p>
          <a:p>
            <a:pPr marL="355600" indent="-342900" algn="just">
              <a:lnSpc>
                <a:spcPct val="100000"/>
              </a:lnSpc>
              <a:spcBef>
                <a:spcPts val="100"/>
              </a:spcBef>
              <a:buFont typeface="+mj-lt"/>
              <a:buAutoNum type="arabicPeriod"/>
            </a:pPr>
            <a:r>
              <a:rPr sz="1800" spc="-10" dirty="0">
                <a:latin typeface="Calibri"/>
                <a:cs typeface="Calibri"/>
              </a:rPr>
              <a:t> </a:t>
            </a:r>
            <a:r>
              <a:rPr sz="1800" dirty="0">
                <a:latin typeface="Calibri"/>
                <a:cs typeface="Calibri"/>
              </a:rPr>
              <a:t>Rare</a:t>
            </a:r>
            <a:r>
              <a:rPr sz="1800" spc="245" dirty="0">
                <a:latin typeface="Calibri"/>
                <a:cs typeface="Calibri"/>
              </a:rPr>
              <a:t> </a:t>
            </a:r>
            <a:r>
              <a:rPr sz="1800" dirty="0">
                <a:latin typeface="Calibri"/>
                <a:cs typeface="Calibri"/>
              </a:rPr>
              <a:t>brain</a:t>
            </a:r>
            <a:r>
              <a:rPr sz="1800" spc="245" dirty="0">
                <a:latin typeface="Calibri"/>
                <a:cs typeface="Calibri"/>
              </a:rPr>
              <a:t> </a:t>
            </a:r>
            <a:r>
              <a:rPr sz="1800" dirty="0">
                <a:latin typeface="Calibri"/>
                <a:cs typeface="Calibri"/>
              </a:rPr>
              <a:t>tumors</a:t>
            </a:r>
            <a:r>
              <a:rPr sz="1800" spc="240" dirty="0">
                <a:latin typeface="Calibri"/>
                <a:cs typeface="Calibri"/>
              </a:rPr>
              <a:t> </a:t>
            </a:r>
            <a:r>
              <a:rPr sz="1800" dirty="0">
                <a:latin typeface="Calibri"/>
                <a:cs typeface="Calibri"/>
              </a:rPr>
              <a:t>often</a:t>
            </a:r>
            <a:r>
              <a:rPr sz="1800" spc="250" dirty="0">
                <a:latin typeface="Calibri"/>
                <a:cs typeface="Calibri"/>
              </a:rPr>
              <a:t> </a:t>
            </a:r>
            <a:r>
              <a:rPr sz="1800" dirty="0">
                <a:latin typeface="Calibri"/>
                <a:cs typeface="Calibri"/>
              </a:rPr>
              <a:t>go</a:t>
            </a:r>
            <a:r>
              <a:rPr sz="1800" spc="260" dirty="0">
                <a:latin typeface="Calibri"/>
                <a:cs typeface="Calibri"/>
              </a:rPr>
              <a:t> </a:t>
            </a:r>
            <a:r>
              <a:rPr sz="1800" dirty="0">
                <a:latin typeface="Calibri"/>
                <a:cs typeface="Calibri"/>
              </a:rPr>
              <a:t>undetected</a:t>
            </a:r>
            <a:r>
              <a:rPr sz="1800" spc="245" dirty="0">
                <a:latin typeface="Calibri"/>
                <a:cs typeface="Calibri"/>
              </a:rPr>
              <a:t> </a:t>
            </a:r>
            <a:r>
              <a:rPr sz="1800" dirty="0">
                <a:latin typeface="Calibri"/>
                <a:cs typeface="Calibri"/>
              </a:rPr>
              <a:t>or</a:t>
            </a:r>
            <a:r>
              <a:rPr sz="1800" spc="250" dirty="0">
                <a:latin typeface="Calibri"/>
                <a:cs typeface="Calibri"/>
              </a:rPr>
              <a:t> </a:t>
            </a:r>
            <a:r>
              <a:rPr sz="1800" dirty="0">
                <a:latin typeface="Calibri"/>
                <a:cs typeface="Calibri"/>
              </a:rPr>
              <a:t>misclassified</a:t>
            </a:r>
            <a:r>
              <a:rPr sz="1800" spc="250" dirty="0">
                <a:latin typeface="Calibri"/>
                <a:cs typeface="Calibri"/>
              </a:rPr>
              <a:t> </a:t>
            </a:r>
            <a:r>
              <a:rPr sz="1800" dirty="0">
                <a:latin typeface="Calibri"/>
                <a:cs typeface="Calibri"/>
              </a:rPr>
              <a:t>due</a:t>
            </a:r>
            <a:r>
              <a:rPr sz="1800" spc="245" dirty="0">
                <a:latin typeface="Calibri"/>
                <a:cs typeface="Calibri"/>
              </a:rPr>
              <a:t> </a:t>
            </a:r>
            <a:r>
              <a:rPr sz="1800" dirty="0">
                <a:latin typeface="Calibri"/>
                <a:cs typeface="Calibri"/>
              </a:rPr>
              <a:t>to</a:t>
            </a:r>
            <a:r>
              <a:rPr sz="1800" spc="285" dirty="0">
                <a:latin typeface="Calibri"/>
                <a:cs typeface="Calibri"/>
              </a:rPr>
              <a:t> </a:t>
            </a:r>
            <a:r>
              <a:rPr sz="1800" dirty="0">
                <a:latin typeface="Calibri"/>
                <a:cs typeface="Calibri"/>
              </a:rPr>
              <a:t>limited</a:t>
            </a:r>
            <a:r>
              <a:rPr sz="1800" spc="265" dirty="0">
                <a:latin typeface="Calibri"/>
                <a:cs typeface="Calibri"/>
              </a:rPr>
              <a:t> </a:t>
            </a:r>
            <a:r>
              <a:rPr sz="1800" dirty="0">
                <a:latin typeface="Calibri"/>
                <a:cs typeface="Calibri"/>
              </a:rPr>
              <a:t>datasets</a:t>
            </a:r>
            <a:r>
              <a:rPr sz="1800" spc="240" dirty="0">
                <a:latin typeface="Calibri"/>
                <a:cs typeface="Calibri"/>
              </a:rPr>
              <a:t> </a:t>
            </a:r>
            <a:r>
              <a:rPr sz="1800" dirty="0">
                <a:latin typeface="Calibri"/>
                <a:cs typeface="Calibri"/>
              </a:rPr>
              <a:t>and</a:t>
            </a:r>
            <a:r>
              <a:rPr sz="1800" spc="250" dirty="0">
                <a:latin typeface="Calibri"/>
                <a:cs typeface="Calibri"/>
              </a:rPr>
              <a:t> </a:t>
            </a:r>
            <a:r>
              <a:rPr sz="1800" dirty="0">
                <a:latin typeface="Calibri"/>
                <a:cs typeface="Calibri"/>
              </a:rPr>
              <a:t>subtle</a:t>
            </a:r>
            <a:r>
              <a:rPr sz="1800" spc="270" dirty="0">
                <a:latin typeface="Calibri"/>
                <a:cs typeface="Calibri"/>
              </a:rPr>
              <a:t> </a:t>
            </a:r>
            <a:r>
              <a:rPr sz="1800" dirty="0">
                <a:latin typeface="Calibri"/>
                <a:cs typeface="Calibri"/>
              </a:rPr>
              <a:t>visual</a:t>
            </a:r>
            <a:r>
              <a:rPr sz="1800" spc="250" dirty="0">
                <a:latin typeface="Calibri"/>
                <a:cs typeface="Calibri"/>
              </a:rPr>
              <a:t> </a:t>
            </a:r>
            <a:r>
              <a:rPr sz="1800" spc="-10" dirty="0">
                <a:latin typeface="Calibri"/>
                <a:cs typeface="Calibri"/>
              </a:rPr>
              <a:t>differences, </a:t>
            </a:r>
            <a:r>
              <a:rPr sz="1800" dirty="0">
                <a:latin typeface="Calibri"/>
                <a:cs typeface="Calibri"/>
              </a:rPr>
              <a:t>posing</a:t>
            </a:r>
            <a:r>
              <a:rPr sz="1800" spc="-40" dirty="0">
                <a:latin typeface="Calibri"/>
                <a:cs typeface="Calibri"/>
              </a:rPr>
              <a:t> </a:t>
            </a:r>
            <a:r>
              <a:rPr sz="1800" dirty="0">
                <a:latin typeface="Calibri"/>
                <a:cs typeface="Calibri"/>
              </a:rPr>
              <a:t>serious</a:t>
            </a:r>
            <a:r>
              <a:rPr sz="1800" spc="-35" dirty="0">
                <a:latin typeface="Calibri"/>
                <a:cs typeface="Calibri"/>
              </a:rPr>
              <a:t> </a:t>
            </a:r>
            <a:r>
              <a:rPr sz="1800" dirty="0">
                <a:latin typeface="Calibri"/>
                <a:cs typeface="Calibri"/>
              </a:rPr>
              <a:t>risks</a:t>
            </a:r>
            <a:r>
              <a:rPr sz="1800" spc="-20" dirty="0">
                <a:latin typeface="Calibri"/>
                <a:cs typeface="Calibri"/>
              </a:rPr>
              <a:t> </a:t>
            </a:r>
            <a:r>
              <a:rPr sz="1800" dirty="0">
                <a:latin typeface="Calibri"/>
                <a:cs typeface="Calibri"/>
              </a:rPr>
              <a:t>to</a:t>
            </a:r>
            <a:r>
              <a:rPr sz="1800" spc="-20" dirty="0">
                <a:latin typeface="Calibri"/>
                <a:cs typeface="Calibri"/>
              </a:rPr>
              <a:t> </a:t>
            </a:r>
            <a:r>
              <a:rPr sz="1800" spc="-10" dirty="0">
                <a:latin typeface="Calibri"/>
                <a:cs typeface="Calibri"/>
              </a:rPr>
              <a:t>patients.</a:t>
            </a:r>
            <a:endParaRPr sz="1800" dirty="0">
              <a:latin typeface="Calibri"/>
              <a:cs typeface="Calibri"/>
            </a:endParaRPr>
          </a:p>
          <a:p>
            <a:pPr marL="355600" marR="8255" indent="-342900" algn="just">
              <a:lnSpc>
                <a:spcPct val="167800"/>
              </a:lnSpc>
              <a:spcBef>
                <a:spcPts val="5"/>
              </a:spcBef>
              <a:buFont typeface="+mj-lt"/>
              <a:buAutoNum type="arabicPeriod"/>
            </a:pPr>
            <a:r>
              <a:rPr sz="1800" dirty="0">
                <a:latin typeface="Calibri"/>
                <a:cs typeface="Calibri"/>
              </a:rPr>
              <a:t>This</a:t>
            </a:r>
            <a:r>
              <a:rPr sz="1800" spc="20" dirty="0">
                <a:latin typeface="Calibri"/>
                <a:cs typeface="Calibri"/>
              </a:rPr>
              <a:t> </a:t>
            </a:r>
            <a:r>
              <a:rPr sz="1800" dirty="0">
                <a:latin typeface="Calibri"/>
                <a:cs typeface="Calibri"/>
              </a:rPr>
              <a:t>motivates</a:t>
            </a:r>
            <a:r>
              <a:rPr sz="1800" spc="2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development</a:t>
            </a:r>
            <a:r>
              <a:rPr sz="1800" spc="5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a</a:t>
            </a:r>
            <a:r>
              <a:rPr sz="1800" spc="35" dirty="0">
                <a:latin typeface="Calibri"/>
                <a:cs typeface="Calibri"/>
              </a:rPr>
              <a:t> </a:t>
            </a:r>
            <a:r>
              <a:rPr sz="1800" dirty="0">
                <a:latin typeface="Calibri"/>
                <a:cs typeface="Calibri"/>
              </a:rPr>
              <a:t>specialized</a:t>
            </a:r>
            <a:r>
              <a:rPr sz="1800" spc="40" dirty="0">
                <a:latin typeface="Calibri"/>
                <a:cs typeface="Calibri"/>
              </a:rPr>
              <a:t> </a:t>
            </a:r>
            <a:r>
              <a:rPr sz="1800" dirty="0">
                <a:latin typeface="Calibri"/>
                <a:cs typeface="Calibri"/>
              </a:rPr>
              <a:t>system</a:t>
            </a:r>
            <a:r>
              <a:rPr sz="1800" spc="35" dirty="0">
                <a:latin typeface="Calibri"/>
                <a:cs typeface="Calibri"/>
              </a:rPr>
              <a:t> </a:t>
            </a:r>
            <a:r>
              <a:rPr sz="1800" dirty="0">
                <a:latin typeface="Calibri"/>
                <a:cs typeface="Calibri"/>
              </a:rPr>
              <a:t>that</a:t>
            </a:r>
            <a:r>
              <a:rPr sz="1800" spc="50" dirty="0">
                <a:latin typeface="Calibri"/>
                <a:cs typeface="Calibri"/>
              </a:rPr>
              <a:t> </a:t>
            </a:r>
            <a:r>
              <a:rPr sz="1800" dirty="0">
                <a:latin typeface="Calibri"/>
                <a:cs typeface="Calibri"/>
              </a:rPr>
              <a:t>can</a:t>
            </a:r>
            <a:r>
              <a:rPr sz="1800" spc="45" dirty="0">
                <a:latin typeface="Calibri"/>
                <a:cs typeface="Calibri"/>
              </a:rPr>
              <a:t> </a:t>
            </a:r>
            <a:r>
              <a:rPr sz="1800" dirty="0">
                <a:latin typeface="Calibri"/>
                <a:cs typeface="Calibri"/>
              </a:rPr>
              <a:t>accurately</a:t>
            </a:r>
            <a:r>
              <a:rPr sz="1800" spc="35" dirty="0">
                <a:latin typeface="Calibri"/>
                <a:cs typeface="Calibri"/>
              </a:rPr>
              <a:t> </a:t>
            </a:r>
            <a:r>
              <a:rPr sz="1800" dirty="0">
                <a:latin typeface="Calibri"/>
                <a:cs typeface="Calibri"/>
              </a:rPr>
              <a:t>detect</a:t>
            </a:r>
            <a:r>
              <a:rPr sz="1800" spc="30" dirty="0">
                <a:latin typeface="Calibri"/>
                <a:cs typeface="Calibri"/>
              </a:rPr>
              <a:t> </a:t>
            </a:r>
            <a:r>
              <a:rPr sz="1800" dirty="0">
                <a:latin typeface="Calibri"/>
                <a:cs typeface="Calibri"/>
              </a:rPr>
              <a:t>and</a:t>
            </a:r>
            <a:r>
              <a:rPr sz="1800" spc="20" dirty="0">
                <a:latin typeface="Calibri"/>
                <a:cs typeface="Calibri"/>
              </a:rPr>
              <a:t> </a:t>
            </a:r>
            <a:r>
              <a:rPr sz="1800" dirty="0">
                <a:latin typeface="Calibri"/>
                <a:cs typeface="Calibri"/>
              </a:rPr>
              <a:t>classify</a:t>
            </a:r>
            <a:r>
              <a:rPr sz="1800" spc="55" dirty="0">
                <a:latin typeface="Calibri"/>
                <a:cs typeface="Calibri"/>
              </a:rPr>
              <a:t> </a:t>
            </a:r>
            <a:r>
              <a:rPr sz="1800" dirty="0">
                <a:latin typeface="Calibri"/>
                <a:cs typeface="Calibri"/>
              </a:rPr>
              <a:t>rare</a:t>
            </a:r>
            <a:r>
              <a:rPr sz="1800" spc="25" dirty="0">
                <a:latin typeface="Calibri"/>
                <a:cs typeface="Calibri"/>
              </a:rPr>
              <a:t> </a:t>
            </a:r>
            <a:r>
              <a:rPr sz="1800" dirty="0">
                <a:latin typeface="Calibri"/>
                <a:cs typeface="Calibri"/>
              </a:rPr>
              <a:t>brain</a:t>
            </a:r>
            <a:r>
              <a:rPr sz="1800" spc="25" dirty="0">
                <a:latin typeface="Calibri"/>
                <a:cs typeface="Calibri"/>
              </a:rPr>
              <a:t> </a:t>
            </a:r>
            <a:r>
              <a:rPr sz="1800" spc="-10" dirty="0">
                <a:latin typeface="Calibri"/>
                <a:cs typeface="Calibri"/>
              </a:rPr>
              <a:t>tumors </a:t>
            </a:r>
            <a:r>
              <a:rPr sz="1800" dirty="0">
                <a:latin typeface="Calibri"/>
                <a:cs typeface="Calibri"/>
              </a:rPr>
              <a:t>using</a:t>
            </a:r>
            <a:r>
              <a:rPr sz="1800" spc="45" dirty="0">
                <a:latin typeface="Calibri"/>
                <a:cs typeface="Calibri"/>
              </a:rPr>
              <a:t> </a:t>
            </a:r>
            <a:r>
              <a:rPr sz="1800" dirty="0">
                <a:latin typeface="Calibri"/>
                <a:cs typeface="Calibri"/>
              </a:rPr>
              <a:t>MRI</a:t>
            </a:r>
            <a:r>
              <a:rPr sz="1800" spc="55" dirty="0">
                <a:latin typeface="Calibri"/>
                <a:cs typeface="Calibri"/>
              </a:rPr>
              <a:t> </a:t>
            </a:r>
            <a:r>
              <a:rPr sz="1800" dirty="0">
                <a:latin typeface="Calibri"/>
                <a:cs typeface="Calibri"/>
              </a:rPr>
              <a:t>scans.</a:t>
            </a:r>
            <a:r>
              <a:rPr sz="1800" spc="60" dirty="0">
                <a:latin typeface="Calibri"/>
                <a:cs typeface="Calibri"/>
              </a:rPr>
              <a:t> </a:t>
            </a:r>
            <a:r>
              <a:rPr sz="1800" dirty="0">
                <a:latin typeface="Calibri"/>
                <a:cs typeface="Calibri"/>
              </a:rPr>
              <a:t>By</a:t>
            </a:r>
            <a:r>
              <a:rPr sz="1800" spc="60" dirty="0">
                <a:latin typeface="Calibri"/>
                <a:cs typeface="Calibri"/>
              </a:rPr>
              <a:t> </a:t>
            </a:r>
            <a:r>
              <a:rPr sz="1800" dirty="0">
                <a:latin typeface="Calibri"/>
                <a:cs typeface="Calibri"/>
              </a:rPr>
              <a:t>improving</a:t>
            </a:r>
            <a:r>
              <a:rPr sz="1800" spc="45" dirty="0">
                <a:latin typeface="Calibri"/>
                <a:cs typeface="Calibri"/>
              </a:rPr>
              <a:t> </a:t>
            </a:r>
            <a:r>
              <a:rPr sz="1800" dirty="0">
                <a:latin typeface="Calibri"/>
                <a:cs typeface="Calibri"/>
              </a:rPr>
              <a:t>early</a:t>
            </a:r>
            <a:r>
              <a:rPr sz="1800" spc="5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reliable</a:t>
            </a:r>
            <a:r>
              <a:rPr sz="1800" spc="70" dirty="0">
                <a:latin typeface="Calibri"/>
                <a:cs typeface="Calibri"/>
              </a:rPr>
              <a:t> </a:t>
            </a:r>
            <a:r>
              <a:rPr sz="1800" dirty="0">
                <a:latin typeface="Calibri"/>
                <a:cs typeface="Calibri"/>
              </a:rPr>
              <a:t>diagnosis,</a:t>
            </a:r>
            <a:r>
              <a:rPr sz="1800" spc="55" dirty="0">
                <a:latin typeface="Calibri"/>
                <a:cs typeface="Calibri"/>
              </a:rPr>
              <a:t> </a:t>
            </a:r>
            <a:r>
              <a:rPr sz="1800" dirty="0">
                <a:latin typeface="Calibri"/>
                <a:cs typeface="Calibri"/>
              </a:rPr>
              <a:t>this</a:t>
            </a:r>
            <a:r>
              <a:rPr sz="1800" spc="50" dirty="0">
                <a:latin typeface="Calibri"/>
                <a:cs typeface="Calibri"/>
              </a:rPr>
              <a:t> </a:t>
            </a:r>
            <a:r>
              <a:rPr sz="1800" dirty="0">
                <a:latin typeface="Calibri"/>
                <a:cs typeface="Calibri"/>
              </a:rPr>
              <a:t>project</a:t>
            </a:r>
            <a:r>
              <a:rPr sz="1800" spc="50" dirty="0">
                <a:latin typeface="Calibri"/>
                <a:cs typeface="Calibri"/>
              </a:rPr>
              <a:t> </a:t>
            </a:r>
            <a:r>
              <a:rPr sz="1800" dirty="0">
                <a:latin typeface="Calibri"/>
                <a:cs typeface="Calibri"/>
              </a:rPr>
              <a:t>aims</a:t>
            </a:r>
            <a:r>
              <a:rPr sz="1800" spc="45" dirty="0">
                <a:latin typeface="Calibri"/>
                <a:cs typeface="Calibri"/>
              </a:rPr>
              <a:t> </a:t>
            </a:r>
            <a:r>
              <a:rPr sz="1800" dirty="0">
                <a:latin typeface="Calibri"/>
                <a:cs typeface="Calibri"/>
              </a:rPr>
              <a:t>to</a:t>
            </a:r>
            <a:r>
              <a:rPr sz="1800" spc="60" dirty="0">
                <a:latin typeface="Calibri"/>
                <a:cs typeface="Calibri"/>
              </a:rPr>
              <a:t> </a:t>
            </a:r>
            <a:r>
              <a:rPr sz="1800" dirty="0">
                <a:latin typeface="Calibri"/>
                <a:cs typeface="Calibri"/>
              </a:rPr>
              <a:t>support</a:t>
            </a:r>
            <a:r>
              <a:rPr sz="1800" spc="45" dirty="0">
                <a:latin typeface="Calibri"/>
                <a:cs typeface="Calibri"/>
              </a:rPr>
              <a:t> </a:t>
            </a:r>
            <a:r>
              <a:rPr sz="1800" dirty="0">
                <a:latin typeface="Calibri"/>
                <a:cs typeface="Calibri"/>
              </a:rPr>
              <a:t>radiologists</a:t>
            </a:r>
            <a:r>
              <a:rPr sz="1800" spc="45" dirty="0">
                <a:latin typeface="Calibri"/>
                <a:cs typeface="Calibri"/>
              </a:rPr>
              <a:t> </a:t>
            </a:r>
            <a:r>
              <a:rPr sz="1800" dirty="0">
                <a:latin typeface="Calibri"/>
                <a:cs typeface="Calibri"/>
              </a:rPr>
              <a:t>and</a:t>
            </a:r>
            <a:r>
              <a:rPr sz="1800" spc="45" dirty="0">
                <a:latin typeface="Calibri"/>
                <a:cs typeface="Calibri"/>
              </a:rPr>
              <a:t> </a:t>
            </a:r>
            <a:r>
              <a:rPr sz="1800" spc="-10" dirty="0">
                <a:latin typeface="Calibri"/>
                <a:cs typeface="Calibri"/>
              </a:rPr>
              <a:t>enhance</a:t>
            </a:r>
            <a:r>
              <a:rPr lang="en-US" spc="-10" dirty="0">
                <a:latin typeface="Calibri"/>
                <a:cs typeface="Calibri"/>
              </a:rPr>
              <a:t> </a:t>
            </a:r>
            <a:r>
              <a:rPr sz="1800" dirty="0">
                <a:latin typeface="Calibri"/>
                <a:cs typeface="Calibri"/>
              </a:rPr>
              <a:t>clinical</a:t>
            </a:r>
            <a:r>
              <a:rPr sz="1800" spc="-45" dirty="0">
                <a:latin typeface="Calibri"/>
                <a:cs typeface="Calibri"/>
              </a:rPr>
              <a:t> </a:t>
            </a:r>
            <a:r>
              <a:rPr sz="1800" dirty="0">
                <a:latin typeface="Calibri"/>
                <a:cs typeface="Calibri"/>
              </a:rPr>
              <a:t>outcomes,</a:t>
            </a:r>
            <a:r>
              <a:rPr sz="1800" spc="-45" dirty="0">
                <a:latin typeface="Calibri"/>
                <a:cs typeface="Calibri"/>
              </a:rPr>
              <a:t> </a:t>
            </a:r>
            <a:r>
              <a:rPr sz="1800" dirty="0">
                <a:latin typeface="Calibri"/>
                <a:cs typeface="Calibri"/>
              </a:rPr>
              <a:t>especially</a:t>
            </a:r>
            <a:r>
              <a:rPr sz="1800" spc="-40" dirty="0">
                <a:latin typeface="Calibri"/>
                <a:cs typeface="Calibri"/>
              </a:rPr>
              <a:t> </a:t>
            </a:r>
            <a:r>
              <a:rPr sz="1800" dirty="0">
                <a:latin typeface="Calibri"/>
                <a:cs typeface="Calibri"/>
              </a:rPr>
              <a:t>for</a:t>
            </a:r>
            <a:r>
              <a:rPr sz="1800" spc="-45" dirty="0">
                <a:latin typeface="Calibri"/>
                <a:cs typeface="Calibri"/>
              </a:rPr>
              <a:t> </a:t>
            </a:r>
            <a:r>
              <a:rPr sz="1800" spc="-10" dirty="0">
                <a:latin typeface="Calibri"/>
                <a:cs typeface="Calibri"/>
              </a:rPr>
              <a:t>underrepresented</a:t>
            </a:r>
            <a:r>
              <a:rPr sz="1800" spc="-50"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challenging</a:t>
            </a:r>
            <a:r>
              <a:rPr sz="1800" spc="-35" dirty="0">
                <a:latin typeface="Calibri"/>
                <a:cs typeface="Calibri"/>
              </a:rPr>
              <a:t> </a:t>
            </a:r>
            <a:r>
              <a:rPr sz="1800" dirty="0">
                <a:latin typeface="Calibri"/>
                <a:cs typeface="Calibri"/>
              </a:rPr>
              <a:t>tumor</a:t>
            </a:r>
            <a:r>
              <a:rPr sz="1800" spc="-40" dirty="0">
                <a:latin typeface="Calibri"/>
                <a:cs typeface="Calibri"/>
              </a:rPr>
              <a:t> </a:t>
            </a:r>
            <a:r>
              <a:rPr sz="1800" spc="-10" dirty="0">
                <a:latin typeface="Calibri"/>
                <a:cs typeface="Calibri"/>
              </a:rPr>
              <a:t>types.</a:t>
            </a:r>
            <a:endParaRPr sz="18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3"/>
          <p:cNvSpPr txBox="1">
            <a:spLocks noGrp="1"/>
          </p:cNvSpPr>
          <p:nvPr>
            <p:ph type="title"/>
          </p:nvPr>
        </p:nvSpPr>
        <p:spPr>
          <a:xfrm>
            <a:off x="4916" y="-449866"/>
            <a:ext cx="7256145" cy="899732"/>
          </a:xfrm>
          <a:prstGeom prst="rect">
            <a:avLst/>
          </a:prstGeom>
          <a:noFill/>
          <a:ln>
            <a:noFill/>
          </a:ln>
        </p:spPr>
        <p:txBody>
          <a:bodyPr spcFirstLastPara="1" wrap="square" lIns="0" tIns="464300" rIns="0" bIns="0" anchor="t" anchorCtr="0">
            <a:spAutoFit/>
          </a:bodyPr>
          <a:lstStyle/>
          <a:p>
            <a:pPr marL="78740" lvl="0" indent="0" algn="l" rtl="0">
              <a:lnSpc>
                <a:spcPct val="100000"/>
              </a:lnSpc>
              <a:spcBef>
                <a:spcPts val="0"/>
              </a:spcBef>
              <a:spcAft>
                <a:spcPts val="0"/>
              </a:spcAft>
              <a:buNone/>
            </a:pPr>
            <a:r>
              <a:rPr lang="en-US" sz="2800"/>
              <a:t>Gap Analysis</a:t>
            </a:r>
          </a:p>
        </p:txBody>
      </p:sp>
      <p:graphicFrame>
        <p:nvGraphicFramePr>
          <p:cNvPr id="273" name="Google Shape;273;p13"/>
          <p:cNvGraphicFramePr/>
          <p:nvPr>
            <p:extLst>
              <p:ext uri="{D42A27DB-BD31-4B8C-83A1-F6EECF244321}">
                <p14:modId xmlns:p14="http://schemas.microsoft.com/office/powerpoint/2010/main" val="2336121536"/>
              </p:ext>
            </p:extLst>
          </p:nvPr>
        </p:nvGraphicFramePr>
        <p:xfrm>
          <a:off x="-4916" y="449866"/>
          <a:ext cx="12192000" cy="6439839"/>
        </p:xfrm>
        <a:graphic>
          <a:graphicData uri="http://schemas.openxmlformats.org/drawingml/2006/table">
            <a:tbl>
              <a:tblPr firstRow="1" bandRow="1">
                <a:noFill/>
              </a:tblPr>
              <a:tblGrid>
                <a:gridCol w="2153756">
                  <a:extLst>
                    <a:ext uri="{9D8B030D-6E8A-4147-A177-3AD203B41FA5}">
                      <a16:colId xmlns:a16="http://schemas.microsoft.com/office/drawing/2014/main" val="20000"/>
                    </a:ext>
                  </a:extLst>
                </a:gridCol>
                <a:gridCol w="3456432">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gridCol w="3536860">
                  <a:extLst>
                    <a:ext uri="{9D8B030D-6E8A-4147-A177-3AD203B41FA5}">
                      <a16:colId xmlns:a16="http://schemas.microsoft.com/office/drawing/2014/main" val="20003"/>
                    </a:ext>
                  </a:extLst>
                </a:gridCol>
              </a:tblGrid>
              <a:tr h="623017">
                <a:tc>
                  <a:txBody>
                    <a:bodyPr/>
                    <a:lstStyle/>
                    <a:p>
                      <a:pPr marL="0" marR="0" lvl="0" indent="0" algn="l" rtl="0">
                        <a:spcBef>
                          <a:spcPts val="0"/>
                        </a:spcBef>
                        <a:spcAft>
                          <a:spcPts val="0"/>
                        </a:spcAft>
                        <a:buSzPts val="1800"/>
                        <a:buFont typeface="Calibri" panose="020F0502020204030204"/>
                        <a:buNone/>
                      </a:pPr>
                      <a:r>
                        <a:rPr lang="en-US" sz="1800" b="1" u="none" strike="noStrike" cap="none" dirty="0"/>
                        <a:t>Area</a:t>
                      </a:r>
                      <a:endParaRPr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sz="1800" b="1" u="none" strike="noStrike" cap="none" dirty="0"/>
                        <a:t>Current Situation</a:t>
                      </a:r>
                      <a:endParaRPr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sz="1800" b="1" u="none" strike="noStrike" cap="none" dirty="0"/>
                        <a:t>Gap / Limitation</a:t>
                      </a:r>
                      <a:endParaRPr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sz="1800" b="1" u="none" strike="noStrike" cap="none"/>
                        <a:t>Proposed Solution (Your Project)</a:t>
                      </a:r>
                      <a:endParaRPr sz="1800" u="none" strike="noStrike" cap="none"/>
                    </a:p>
                  </a:txBody>
                  <a:tcPr marL="91450" marR="91450" marT="45725" marB="45725" anchor="ctr"/>
                </a:tc>
                <a:extLst>
                  <a:ext uri="{0D108BD9-81ED-4DB2-BD59-A6C34878D82A}">
                    <a16:rowId xmlns:a16="http://schemas.microsoft.com/office/drawing/2014/main" val="10000"/>
                  </a:ext>
                </a:extLst>
              </a:tr>
              <a:tr h="1157023">
                <a:tc>
                  <a:txBody>
                    <a:bodyPr/>
                    <a:lstStyle/>
                    <a:p>
                      <a:pPr marL="0" marR="0" lvl="0" indent="0" algn="l" rtl="0">
                        <a:spcBef>
                          <a:spcPts val="0"/>
                        </a:spcBef>
                        <a:spcAft>
                          <a:spcPts val="0"/>
                        </a:spcAft>
                        <a:buSzPts val="1800"/>
                        <a:buFont typeface="Calibri" panose="020F0502020204030204"/>
                        <a:buNone/>
                      </a:pPr>
                      <a:r>
                        <a:rPr lang="en-US" sz="1800" b="1" u="none" strike="noStrike" cap="none" dirty="0"/>
                        <a:t>Algorithms</a:t>
                      </a:r>
                      <a:endParaRPr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Existing CNN models like VGG16 and ResNet50 perform well on common datasets.</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Limited generalization for rare disease data due to small and imbalanced datasets.</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Develop a </a:t>
                      </a:r>
                      <a:r>
                        <a:rPr lang="en-US" b="1" dirty="0"/>
                        <a:t> </a:t>
                      </a:r>
                      <a:r>
                        <a:rPr lang="en-US" b="0" dirty="0"/>
                        <a:t>model for</a:t>
                      </a:r>
                      <a:r>
                        <a:rPr lang="en-US" b="1" dirty="0"/>
                        <a:t> </a:t>
                      </a:r>
                      <a:r>
                        <a:rPr lang="en-US" dirty="0"/>
                        <a:t>optimized for small, imbalanced rare disease datasets.</a:t>
                      </a:r>
                      <a:endParaRPr lang="en-US" sz="1800" u="none" strike="noStrike" cap="none" dirty="0"/>
                    </a:p>
                  </a:txBody>
                  <a:tcPr marL="91450" marR="91450" marT="45725" marB="45725" anchor="ctr"/>
                </a:tc>
                <a:extLst>
                  <a:ext uri="{0D108BD9-81ED-4DB2-BD59-A6C34878D82A}">
                    <a16:rowId xmlns:a16="http://schemas.microsoft.com/office/drawing/2014/main" val="10001"/>
                  </a:ext>
                </a:extLst>
              </a:tr>
              <a:tr h="1157023">
                <a:tc>
                  <a:txBody>
                    <a:bodyPr/>
                    <a:lstStyle/>
                    <a:p>
                      <a:pPr marL="0" marR="0" lvl="0" indent="0" algn="l" rtl="0">
                        <a:spcBef>
                          <a:spcPts val="0"/>
                        </a:spcBef>
                        <a:spcAft>
                          <a:spcPts val="0"/>
                        </a:spcAft>
                        <a:buSzPts val="1800"/>
                        <a:buFont typeface="Calibri" panose="020F0502020204030204"/>
                        <a:buNone/>
                      </a:pPr>
                      <a:r>
                        <a:rPr lang="en-US" sz="1800" b="1" u="none" strike="noStrike" cap="none"/>
                        <a:t>Dataset Availability</a:t>
                      </a:r>
                      <a:endParaRPr sz="1800" u="none" strike="noStrike" cap="none"/>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Public datasets for rare diseases are limited and scattered.</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Lack of sufficient labeled images reduces model accuracy.</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b="0" dirty="0"/>
                        <a:t>Use public medical image datasets and apply data augmentation to increase dataset size and diversity.</a:t>
                      </a:r>
                      <a:endParaRPr lang="en-US" sz="1800" b="0" u="none" strike="noStrike" cap="none" dirty="0"/>
                    </a:p>
                  </a:txBody>
                  <a:tcPr marL="91450" marR="91450" marT="45725" marB="45725" anchor="ctr"/>
                </a:tc>
                <a:extLst>
                  <a:ext uri="{0D108BD9-81ED-4DB2-BD59-A6C34878D82A}">
                    <a16:rowId xmlns:a16="http://schemas.microsoft.com/office/drawing/2014/main" val="10002"/>
                  </a:ext>
                </a:extLst>
              </a:tr>
              <a:tr h="1157023">
                <a:tc>
                  <a:txBody>
                    <a:bodyPr/>
                    <a:lstStyle/>
                    <a:p>
                      <a:pPr marL="0" marR="0" lvl="0" indent="0" algn="l" rtl="0">
                        <a:spcBef>
                          <a:spcPts val="0"/>
                        </a:spcBef>
                        <a:spcAft>
                          <a:spcPts val="0"/>
                        </a:spcAft>
                        <a:buSzPts val="1800"/>
                        <a:buFont typeface="Calibri" panose="020F0502020204030204"/>
                        <a:buNone/>
                      </a:pPr>
                      <a:r>
                        <a:rPr lang="en-US" sz="1800" b="1" u="none" strike="noStrike" cap="none"/>
                        <a:t>Performance Benchmarks</a:t>
                      </a:r>
                      <a:endParaRPr sz="1800" u="none" strike="noStrike" cap="none"/>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Models are often compared only on accuracy.</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Ignores deeper performance metrics like F1-score or recall, which are crucial for medical use.</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b="0" dirty="0"/>
                        <a:t>Evaluate models using Accuracy, Precision, Recall, F1-score, and Confusion Matrix for better comparison.</a:t>
                      </a:r>
                      <a:endParaRPr lang="en-US" sz="1800" b="0" u="none" strike="noStrike" cap="none" dirty="0"/>
                    </a:p>
                  </a:txBody>
                  <a:tcPr marL="91450" marR="91450" marT="45725" marB="45725" anchor="ctr"/>
                </a:tc>
                <a:extLst>
                  <a:ext uri="{0D108BD9-81ED-4DB2-BD59-A6C34878D82A}">
                    <a16:rowId xmlns:a16="http://schemas.microsoft.com/office/drawing/2014/main" val="10003"/>
                  </a:ext>
                </a:extLst>
              </a:tr>
              <a:tr h="1157023">
                <a:tc>
                  <a:txBody>
                    <a:bodyPr/>
                    <a:lstStyle/>
                    <a:p>
                      <a:pPr marL="0" marR="0" lvl="0" indent="0" algn="l" rtl="0">
                        <a:spcBef>
                          <a:spcPts val="0"/>
                        </a:spcBef>
                        <a:spcAft>
                          <a:spcPts val="0"/>
                        </a:spcAft>
                        <a:buSzPts val="1800"/>
                        <a:buFont typeface="Calibri" panose="020F0502020204030204"/>
                        <a:buNone/>
                      </a:pPr>
                      <a:r>
                        <a:rPr lang="en-US" sz="1800" b="1" u="none" strike="noStrike" cap="none"/>
                        <a:t>Workflow Integration</a:t>
                      </a:r>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Many studies focus only on model training without visualization or comparison</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Hard to justify why one model outperforms another.</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b="0" dirty="0"/>
                        <a:t>Integrate comparative visualization using graphs and performance tables for better interpretability.</a:t>
                      </a:r>
                      <a:endParaRPr lang="en-US" sz="1800" b="0" u="none" strike="noStrike" cap="none" dirty="0"/>
                    </a:p>
                  </a:txBody>
                  <a:tcPr marL="91450" marR="91450" marT="45725" marB="45725" anchor="ctr"/>
                </a:tc>
                <a:extLst>
                  <a:ext uri="{0D108BD9-81ED-4DB2-BD59-A6C34878D82A}">
                    <a16:rowId xmlns:a16="http://schemas.microsoft.com/office/drawing/2014/main" val="10004"/>
                  </a:ext>
                </a:extLst>
              </a:tr>
              <a:tr h="1157023">
                <a:tc>
                  <a:txBody>
                    <a:bodyPr/>
                    <a:lstStyle/>
                    <a:p>
                      <a:pPr marL="0" marR="0" lvl="0" indent="0" algn="l" rtl="0">
                        <a:spcBef>
                          <a:spcPts val="0"/>
                        </a:spcBef>
                        <a:spcAft>
                          <a:spcPts val="0"/>
                        </a:spcAft>
                        <a:buSzPts val="1800"/>
                        <a:buFont typeface="Calibri" panose="020F0502020204030204"/>
                        <a:buNone/>
                      </a:pPr>
                      <a:r>
                        <a:rPr lang="en-US" sz="1800" b="1" u="none" strike="noStrike" cap="none" dirty="0"/>
                        <a:t>Scientific Utility</a:t>
                      </a:r>
                      <a:endParaRPr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Limited tools available for rare disease detection and analysis.</a:t>
                      </a:r>
                      <a:endParaRPr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dirty="0"/>
                        <a:t>Lack of reliable AI support for early-stage diagnosis.</a:t>
                      </a:r>
                      <a:endParaRPr lang="en-US" sz="1800" u="none" strike="noStrike" cap="none" dirty="0"/>
                    </a:p>
                  </a:txBody>
                  <a:tcPr marL="91450" marR="91450" marT="45725" marB="45725" anchor="ctr"/>
                </a:tc>
                <a:tc>
                  <a:txBody>
                    <a:bodyPr/>
                    <a:lstStyle/>
                    <a:p>
                      <a:pPr marL="0" marR="0" lvl="0" indent="0" algn="l" rtl="0">
                        <a:spcBef>
                          <a:spcPts val="0"/>
                        </a:spcBef>
                        <a:spcAft>
                          <a:spcPts val="0"/>
                        </a:spcAft>
                        <a:buSzPts val="1800"/>
                        <a:buFont typeface="Calibri" panose="020F0502020204030204"/>
                        <a:buNone/>
                      </a:pPr>
                      <a:r>
                        <a:rPr lang="en-US" b="0" dirty="0"/>
                        <a:t>It provides an AI-based diagnostic support system to assist doctors and researchers in early detection.</a:t>
                      </a:r>
                      <a:endParaRPr lang="en-US" sz="1800" b="0" u="none" strike="noStrike" cap="none" dirty="0"/>
                    </a:p>
                  </a:txBody>
                  <a:tcPr marL="91450" marR="91450" marT="45725" marB="45725" anchor="ctr"/>
                </a:tc>
                <a:extLst>
                  <a:ext uri="{0D108BD9-81ED-4DB2-BD59-A6C34878D82A}">
                    <a16:rowId xmlns:a16="http://schemas.microsoft.com/office/drawing/2014/main" val="10005"/>
                  </a:ext>
                </a:extLst>
              </a:tr>
            </a:tbl>
          </a:graphicData>
        </a:graphic>
      </p:graphicFrame>
      <p:sp>
        <p:nvSpPr>
          <p:cNvPr id="3" name="Slide Number Placeholder 2">
            <a:extLst>
              <a:ext uri="{FF2B5EF4-FFF2-40B4-BE49-F238E27FC236}">
                <a16:creationId xmlns:a16="http://schemas.microsoft.com/office/drawing/2014/main" id="{05A1F894-8510-595F-3DA4-E93FD7917C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00989"/>
            <a:ext cx="7192617" cy="923585"/>
          </a:xfrm>
          <a:prstGeom prst="rect">
            <a:avLst/>
          </a:prstGeom>
        </p:spPr>
        <p:txBody>
          <a:bodyPr vert="horz" wrap="square" lIns="0" tIns="244093" rIns="0" bIns="0" rtlCol="0">
            <a:spAutoFit/>
          </a:bodyPr>
          <a:lstStyle/>
          <a:p>
            <a:pPr marL="128270">
              <a:lnSpc>
                <a:spcPct val="100000"/>
              </a:lnSpc>
              <a:spcBef>
                <a:spcPts val="95"/>
              </a:spcBef>
            </a:pPr>
            <a:r>
              <a:rPr spc="-10" dirty="0"/>
              <a:t>Objective</a:t>
            </a:r>
          </a:p>
        </p:txBody>
      </p:sp>
      <p:sp>
        <p:nvSpPr>
          <p:cNvPr id="3" name="object 3"/>
          <p:cNvSpPr txBox="1"/>
          <p:nvPr/>
        </p:nvSpPr>
        <p:spPr>
          <a:xfrm>
            <a:off x="572820" y="1213307"/>
            <a:ext cx="10634980" cy="3039294"/>
          </a:xfrm>
          <a:prstGeom prst="rect">
            <a:avLst/>
          </a:prstGeom>
        </p:spPr>
        <p:txBody>
          <a:bodyPr vert="horz" wrap="square" lIns="0" tIns="12700" rIns="0" bIns="0" rtlCol="0">
            <a:spAutoFit/>
          </a:bodyPr>
          <a:lstStyle/>
          <a:p>
            <a:pPr marL="355600" indent="-342900">
              <a:lnSpc>
                <a:spcPct val="100000"/>
              </a:lnSpc>
              <a:spcBef>
                <a:spcPts val="100"/>
              </a:spcBef>
              <a:buFont typeface="+mj-lt"/>
              <a:buAutoNum type="arabicPeriod"/>
            </a:pPr>
            <a:r>
              <a:rPr sz="1800" dirty="0">
                <a:latin typeface="Calibri"/>
                <a:cs typeface="Calibri"/>
              </a:rPr>
              <a:t>The</a:t>
            </a:r>
            <a:r>
              <a:rPr sz="1800" spc="65" dirty="0">
                <a:latin typeface="Calibri"/>
                <a:cs typeface="Calibri"/>
              </a:rPr>
              <a:t>  </a:t>
            </a:r>
            <a:r>
              <a:rPr sz="1800" dirty="0">
                <a:latin typeface="Calibri"/>
                <a:cs typeface="Calibri"/>
              </a:rPr>
              <a:t>primary</a:t>
            </a:r>
            <a:r>
              <a:rPr sz="1800" spc="70" dirty="0">
                <a:latin typeface="Calibri"/>
                <a:cs typeface="Calibri"/>
              </a:rPr>
              <a:t>  </a:t>
            </a:r>
            <a:r>
              <a:rPr sz="1800" dirty="0">
                <a:latin typeface="Calibri"/>
                <a:cs typeface="Calibri"/>
              </a:rPr>
              <a:t>aim</a:t>
            </a:r>
            <a:r>
              <a:rPr sz="1800" spc="65" dirty="0">
                <a:latin typeface="Calibri"/>
                <a:cs typeface="Calibri"/>
              </a:rPr>
              <a:t>  </a:t>
            </a:r>
            <a:r>
              <a:rPr sz="1800" dirty="0">
                <a:latin typeface="Calibri"/>
                <a:cs typeface="Calibri"/>
              </a:rPr>
              <a:t>of</a:t>
            </a:r>
            <a:r>
              <a:rPr sz="1800" spc="75" dirty="0">
                <a:latin typeface="Calibri"/>
                <a:cs typeface="Calibri"/>
              </a:rPr>
              <a:t>  </a:t>
            </a:r>
            <a:r>
              <a:rPr sz="1800" dirty="0">
                <a:latin typeface="Calibri"/>
                <a:cs typeface="Calibri"/>
              </a:rPr>
              <a:t>this</a:t>
            </a:r>
            <a:r>
              <a:rPr sz="1800" spc="65" dirty="0">
                <a:latin typeface="Calibri"/>
                <a:cs typeface="Calibri"/>
              </a:rPr>
              <a:t>  </a:t>
            </a:r>
            <a:r>
              <a:rPr sz="1800" dirty="0">
                <a:latin typeface="Calibri"/>
                <a:cs typeface="Calibri"/>
              </a:rPr>
              <a:t>project</a:t>
            </a:r>
            <a:r>
              <a:rPr sz="1800" spc="70" dirty="0">
                <a:latin typeface="Calibri"/>
                <a:cs typeface="Calibri"/>
              </a:rPr>
              <a:t>  </a:t>
            </a:r>
            <a:r>
              <a:rPr sz="1800" dirty="0">
                <a:latin typeface="Calibri"/>
                <a:cs typeface="Calibri"/>
              </a:rPr>
              <a:t>is</a:t>
            </a:r>
            <a:r>
              <a:rPr sz="1800" spc="65" dirty="0">
                <a:latin typeface="Calibri"/>
                <a:cs typeface="Calibri"/>
              </a:rPr>
              <a:t>  </a:t>
            </a:r>
            <a:r>
              <a:rPr sz="1800" dirty="0">
                <a:latin typeface="Calibri"/>
                <a:cs typeface="Calibri"/>
              </a:rPr>
              <a:t>to</a:t>
            </a:r>
            <a:r>
              <a:rPr sz="1800" spc="75" dirty="0">
                <a:latin typeface="Calibri"/>
                <a:cs typeface="Calibri"/>
              </a:rPr>
              <a:t>  </a:t>
            </a:r>
            <a:r>
              <a:rPr sz="1800" dirty="0">
                <a:latin typeface="Calibri"/>
                <a:cs typeface="Calibri"/>
              </a:rPr>
              <a:t>develop</a:t>
            </a:r>
            <a:r>
              <a:rPr sz="1800" spc="65" dirty="0">
                <a:latin typeface="Calibri"/>
                <a:cs typeface="Calibri"/>
              </a:rPr>
              <a:t>  </a:t>
            </a:r>
            <a:r>
              <a:rPr sz="1800" dirty="0">
                <a:latin typeface="Calibri"/>
                <a:cs typeface="Calibri"/>
              </a:rPr>
              <a:t>a</a:t>
            </a:r>
            <a:r>
              <a:rPr sz="1800" spc="70" dirty="0">
                <a:latin typeface="Calibri"/>
                <a:cs typeface="Calibri"/>
              </a:rPr>
              <a:t>  </a:t>
            </a:r>
            <a:r>
              <a:rPr sz="1800" dirty="0">
                <a:latin typeface="Calibri"/>
                <a:cs typeface="Calibri"/>
              </a:rPr>
              <a:t>deep</a:t>
            </a:r>
            <a:r>
              <a:rPr sz="1800" spc="65" dirty="0">
                <a:latin typeface="Calibri"/>
                <a:cs typeface="Calibri"/>
              </a:rPr>
              <a:t>  </a:t>
            </a:r>
            <a:r>
              <a:rPr sz="1800" spc="-10" dirty="0">
                <a:latin typeface="Calibri"/>
                <a:cs typeface="Calibri"/>
              </a:rPr>
              <a:t>learning-</a:t>
            </a:r>
            <a:r>
              <a:rPr sz="1800" dirty="0">
                <a:latin typeface="Calibri"/>
                <a:cs typeface="Calibri"/>
              </a:rPr>
              <a:t>based</a:t>
            </a:r>
            <a:r>
              <a:rPr sz="1800" spc="65" dirty="0">
                <a:latin typeface="Calibri"/>
                <a:cs typeface="Calibri"/>
              </a:rPr>
              <a:t>  </a:t>
            </a:r>
            <a:r>
              <a:rPr sz="1800" dirty="0">
                <a:latin typeface="Calibri"/>
                <a:cs typeface="Calibri"/>
              </a:rPr>
              <a:t>system</a:t>
            </a:r>
            <a:r>
              <a:rPr sz="1800" spc="70" dirty="0">
                <a:latin typeface="Calibri"/>
                <a:cs typeface="Calibri"/>
              </a:rPr>
              <a:t>  </a:t>
            </a:r>
            <a:r>
              <a:rPr sz="1800" dirty="0">
                <a:latin typeface="Calibri"/>
                <a:cs typeface="Calibri"/>
              </a:rPr>
              <a:t>for</a:t>
            </a:r>
            <a:r>
              <a:rPr sz="1800" spc="70" dirty="0">
                <a:latin typeface="Calibri"/>
                <a:cs typeface="Calibri"/>
              </a:rPr>
              <a:t>  </a:t>
            </a:r>
            <a:r>
              <a:rPr sz="1800" dirty="0">
                <a:latin typeface="Calibri"/>
                <a:cs typeface="Calibri"/>
              </a:rPr>
              <a:t>accurate</a:t>
            </a:r>
            <a:r>
              <a:rPr sz="1800" spc="65" dirty="0">
                <a:latin typeface="Calibri"/>
                <a:cs typeface="Calibri"/>
              </a:rPr>
              <a:t>  </a:t>
            </a:r>
            <a:r>
              <a:rPr sz="1800" dirty="0">
                <a:latin typeface="Calibri"/>
                <a:cs typeface="Calibri"/>
              </a:rPr>
              <a:t>detection</a:t>
            </a:r>
            <a:r>
              <a:rPr sz="1800" spc="65" dirty="0">
                <a:latin typeface="Calibri"/>
                <a:cs typeface="Calibri"/>
              </a:rPr>
              <a:t>  </a:t>
            </a:r>
            <a:r>
              <a:rPr sz="1800" spc="-25" dirty="0">
                <a:latin typeface="Calibri"/>
                <a:cs typeface="Calibri"/>
              </a:rPr>
              <a:t>and</a:t>
            </a:r>
            <a:r>
              <a:rPr lang="en-IN" spc="-25" dirty="0">
                <a:latin typeface="Calibri"/>
                <a:cs typeface="Calibri"/>
              </a:rPr>
              <a:t> </a:t>
            </a:r>
            <a:r>
              <a:rPr sz="1800" dirty="0">
                <a:latin typeface="Calibri"/>
                <a:cs typeface="Calibri"/>
              </a:rPr>
              <a:t>classification</a:t>
            </a:r>
            <a:r>
              <a:rPr sz="1800" spc="-40"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rare</a:t>
            </a:r>
            <a:r>
              <a:rPr sz="1800" spc="-40" dirty="0">
                <a:latin typeface="Calibri"/>
                <a:cs typeface="Calibri"/>
              </a:rPr>
              <a:t> </a:t>
            </a:r>
            <a:r>
              <a:rPr sz="1800" dirty="0">
                <a:latin typeface="Calibri"/>
                <a:cs typeface="Calibri"/>
              </a:rPr>
              <a:t>brain</a:t>
            </a:r>
            <a:r>
              <a:rPr sz="1800" spc="-40" dirty="0">
                <a:latin typeface="Calibri"/>
                <a:cs typeface="Calibri"/>
              </a:rPr>
              <a:t> </a:t>
            </a:r>
            <a:r>
              <a:rPr sz="1800" dirty="0">
                <a:latin typeface="Calibri"/>
                <a:cs typeface="Calibri"/>
              </a:rPr>
              <a:t>tumors</a:t>
            </a:r>
            <a:r>
              <a:rPr sz="1800" spc="-20" dirty="0">
                <a:latin typeface="Calibri"/>
                <a:cs typeface="Calibri"/>
              </a:rPr>
              <a:t> </a:t>
            </a:r>
            <a:r>
              <a:rPr sz="1800" dirty="0">
                <a:latin typeface="Calibri"/>
                <a:cs typeface="Calibri"/>
              </a:rPr>
              <a:t>using</a:t>
            </a:r>
            <a:r>
              <a:rPr sz="1800" spc="-35" dirty="0">
                <a:latin typeface="Calibri"/>
                <a:cs typeface="Calibri"/>
              </a:rPr>
              <a:t> </a:t>
            </a:r>
            <a:r>
              <a:rPr sz="1800" dirty="0">
                <a:latin typeface="Calibri"/>
                <a:cs typeface="Calibri"/>
              </a:rPr>
              <a:t>MRI</a:t>
            </a:r>
            <a:r>
              <a:rPr sz="1800" spc="-25" dirty="0">
                <a:latin typeface="Calibri"/>
                <a:cs typeface="Calibri"/>
              </a:rPr>
              <a:t> </a:t>
            </a:r>
            <a:r>
              <a:rPr sz="1800" dirty="0">
                <a:latin typeface="Calibri"/>
                <a:cs typeface="Calibri"/>
              </a:rPr>
              <a:t>data.</a:t>
            </a:r>
            <a:r>
              <a:rPr sz="1800" spc="-35" dirty="0">
                <a:latin typeface="Calibri"/>
                <a:cs typeface="Calibri"/>
              </a:rPr>
              <a:t> </a:t>
            </a:r>
            <a:endParaRPr lang="en-IN" sz="1800" spc="-35" dirty="0">
              <a:latin typeface="Calibri"/>
              <a:cs typeface="Calibri"/>
            </a:endParaRPr>
          </a:p>
          <a:p>
            <a:pPr marL="355600" indent="-342900">
              <a:lnSpc>
                <a:spcPct val="100000"/>
              </a:lnSpc>
              <a:spcBef>
                <a:spcPts val="100"/>
              </a:spcBef>
              <a:buFont typeface="+mj-lt"/>
              <a:buAutoNum type="arabicPeriod"/>
            </a:pPr>
            <a:endParaRPr lang="en-IN" spc="-35" dirty="0">
              <a:latin typeface="Calibri"/>
              <a:cs typeface="Calibri"/>
            </a:endParaRPr>
          </a:p>
          <a:p>
            <a:pPr marL="355600" indent="-342900">
              <a:lnSpc>
                <a:spcPct val="100000"/>
              </a:lnSpc>
              <a:spcBef>
                <a:spcPts val="100"/>
              </a:spcBef>
              <a:buFont typeface="+mj-lt"/>
              <a:buAutoNum type="arabicPeriod"/>
            </a:pPr>
            <a:r>
              <a:rPr lang="en-US" sz="1800" spc="-35" dirty="0">
                <a:latin typeface="Calibri"/>
                <a:cs typeface="Calibri"/>
              </a:rPr>
              <a:t>To enhance the reliability of rare case detection and support early-stage diagnosis in medical systems through result analysis using graphs, tables, and performance curves.</a:t>
            </a:r>
          </a:p>
          <a:p>
            <a:pPr marL="355600" indent="-342900">
              <a:lnSpc>
                <a:spcPct val="100000"/>
              </a:lnSpc>
              <a:spcBef>
                <a:spcPts val="100"/>
              </a:spcBef>
              <a:buFont typeface="+mj-lt"/>
              <a:buAutoNum type="arabicPeriod"/>
            </a:pPr>
            <a:endParaRPr lang="en-US" sz="1800" spc="-35" dirty="0">
              <a:latin typeface="Calibri"/>
              <a:cs typeface="Calibri"/>
            </a:endParaRPr>
          </a:p>
          <a:p>
            <a:pPr marL="355600" indent="-342900">
              <a:lnSpc>
                <a:spcPct val="100000"/>
              </a:lnSpc>
              <a:spcBef>
                <a:spcPts val="100"/>
              </a:spcBef>
              <a:buFont typeface="+mj-lt"/>
              <a:buAutoNum type="arabicPeriod"/>
            </a:pPr>
            <a:r>
              <a:rPr lang="en-US" sz="1800" spc="-35" dirty="0">
                <a:latin typeface="Calibri"/>
                <a:cs typeface="Calibri"/>
              </a:rPr>
              <a:t>To design and implement a custom deep learning model  for accurate detection and classification of rare brain tumors using MRI data.</a:t>
            </a:r>
          </a:p>
          <a:p>
            <a:pPr marL="355600" indent="-342900">
              <a:lnSpc>
                <a:spcPct val="100000"/>
              </a:lnSpc>
              <a:spcBef>
                <a:spcPts val="100"/>
              </a:spcBef>
              <a:buFont typeface="+mj-lt"/>
              <a:buAutoNum type="arabicPeriod"/>
            </a:pPr>
            <a:endParaRPr lang="en-US" sz="1800" spc="-35" dirty="0">
              <a:latin typeface="Calibri"/>
              <a:cs typeface="Calibri"/>
            </a:endParaRPr>
          </a:p>
          <a:p>
            <a:pPr marL="12700">
              <a:lnSpc>
                <a:spcPct val="100000"/>
              </a:lnSpc>
              <a:spcBef>
                <a:spcPts val="1535"/>
              </a:spcBef>
            </a:pPr>
            <a:endParaRPr sz="18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79704" y="1241424"/>
            <a:ext cx="10579735" cy="4960593"/>
            <a:chOff x="179704" y="1241425"/>
            <a:chExt cx="10579735" cy="4919980"/>
          </a:xfrm>
        </p:grpSpPr>
        <p:pic>
          <p:nvPicPr>
            <p:cNvPr id="4" name="object 4"/>
            <p:cNvPicPr/>
            <p:nvPr/>
          </p:nvPicPr>
          <p:blipFill>
            <a:blip r:embed="rId2" cstate="print"/>
            <a:stretch>
              <a:fillRect/>
            </a:stretch>
          </p:blipFill>
          <p:spPr>
            <a:xfrm>
              <a:off x="179704" y="2505455"/>
              <a:ext cx="6642734" cy="375411"/>
            </a:xfrm>
            <a:prstGeom prst="rect">
              <a:avLst/>
            </a:prstGeom>
          </p:spPr>
        </p:pic>
        <p:pic>
          <p:nvPicPr>
            <p:cNvPr id="5" name="object 5"/>
            <p:cNvPicPr/>
            <p:nvPr/>
          </p:nvPicPr>
          <p:blipFill>
            <a:blip r:embed="rId3" cstate="print"/>
            <a:stretch>
              <a:fillRect/>
            </a:stretch>
          </p:blipFill>
          <p:spPr>
            <a:xfrm>
              <a:off x="1304290" y="1241425"/>
              <a:ext cx="9455150" cy="4919980"/>
            </a:xfrm>
            <a:prstGeom prst="rect">
              <a:avLst/>
            </a:prstGeom>
          </p:spPr>
        </p:pic>
      </p:grpSp>
      <p:sp>
        <p:nvSpPr>
          <p:cNvPr id="2" name="object 2"/>
          <p:cNvSpPr txBox="1">
            <a:spLocks noGrp="1"/>
          </p:cNvSpPr>
          <p:nvPr>
            <p:ph type="title"/>
          </p:nvPr>
        </p:nvSpPr>
        <p:spPr>
          <a:xfrm>
            <a:off x="573157" y="33813"/>
            <a:ext cx="10515600" cy="1325563"/>
          </a:xfrm>
          <a:prstGeom prst="rect">
            <a:avLst/>
          </a:prstGeom>
        </p:spPr>
        <p:txBody>
          <a:bodyPr vert="horz" wrap="square" lIns="0" tIns="244093" rIns="0" bIns="0" rtlCol="0">
            <a:spAutoFit/>
          </a:bodyPr>
          <a:lstStyle/>
          <a:p>
            <a:pPr marL="12700">
              <a:lnSpc>
                <a:spcPct val="100000"/>
              </a:lnSpc>
              <a:spcBef>
                <a:spcPts val="95"/>
              </a:spcBef>
            </a:pPr>
            <a:r>
              <a:rPr spc="-25" dirty="0"/>
              <a:t>Architecture</a:t>
            </a:r>
            <a:r>
              <a:rPr spc="-70" dirty="0"/>
              <a:t> </a:t>
            </a:r>
            <a:r>
              <a:rPr spc="-10" dirty="0"/>
              <a:t>Diagram</a:t>
            </a:r>
          </a:p>
        </p:txBody>
      </p:sp>
      <p:sp>
        <p:nvSpPr>
          <p:cNvPr id="7" name="TextBox 6">
            <a:extLst>
              <a:ext uri="{FF2B5EF4-FFF2-40B4-BE49-F238E27FC236}">
                <a16:creationId xmlns:a16="http://schemas.microsoft.com/office/drawing/2014/main" id="{085F44B6-E0FD-AED6-5786-7A2589AF90A9}"/>
              </a:ext>
            </a:extLst>
          </p:cNvPr>
          <p:cNvSpPr txBox="1"/>
          <p:nvPr/>
        </p:nvSpPr>
        <p:spPr>
          <a:xfrm>
            <a:off x="4132326" y="5909629"/>
            <a:ext cx="3156369" cy="584775"/>
          </a:xfrm>
          <a:prstGeom prst="rect">
            <a:avLst/>
          </a:prstGeom>
          <a:noFill/>
        </p:spPr>
        <p:txBody>
          <a:bodyPr wrap="square">
            <a:spAutoFit/>
          </a:bodyPr>
          <a:lstStyle/>
          <a:p>
            <a:pPr algn="l"/>
            <a:endParaRPr lang="en-IN" sz="1400" b="0" i="0" u="none" strike="noStrike" baseline="0" dirty="0">
              <a:solidFill>
                <a:srgbClr val="000000"/>
              </a:solidFill>
              <a:latin typeface="Times New Roman" panose="02020603050405020304" pitchFamily="18" charset="0"/>
            </a:endParaRPr>
          </a:p>
          <a:p>
            <a:r>
              <a:rPr lang="en-IN" sz="14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Times New Roman" panose="02020603050405020304" pitchFamily="18" charset="0"/>
              </a:rPr>
              <a:t>Fig.1  Architecture Diagram </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EACB576-BAB8-3128-23D2-E586E71F3729}"/>
              </a:ext>
            </a:extLst>
          </p:cNvPr>
          <p:cNvSpPr txBox="1">
            <a:spLocks/>
          </p:cNvSpPr>
          <p:nvPr/>
        </p:nvSpPr>
        <p:spPr>
          <a:xfrm>
            <a:off x="553167" y="489778"/>
            <a:ext cx="5156200" cy="756920"/>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tabLst>
                <a:tab pos="3576954" algn="l"/>
              </a:tabLst>
            </a:pPr>
            <a:r>
              <a:rPr lang="en-IN" spc="-10" dirty="0"/>
              <a:t>Mathematical</a:t>
            </a:r>
            <a:r>
              <a:rPr lang="en-IN" dirty="0"/>
              <a:t>	</a:t>
            </a:r>
            <a:r>
              <a:rPr lang="en-IN" spc="-35" dirty="0"/>
              <a:t>Model</a:t>
            </a:r>
          </a:p>
        </p:txBody>
      </p:sp>
      <p:pic>
        <p:nvPicPr>
          <p:cNvPr id="4" name="Picture 3">
            <a:extLst>
              <a:ext uri="{FF2B5EF4-FFF2-40B4-BE49-F238E27FC236}">
                <a16:creationId xmlns:a16="http://schemas.microsoft.com/office/drawing/2014/main" id="{D421E1D0-EB7E-7F87-9F3F-1C7E300FE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65085"/>
            <a:ext cx="4779523" cy="6727830"/>
          </a:xfrm>
          <a:prstGeom prst="rect">
            <a:avLst/>
          </a:prstGeom>
        </p:spPr>
      </p:pic>
      <p:sp>
        <p:nvSpPr>
          <p:cNvPr id="7" name="TextBox 6">
            <a:extLst>
              <a:ext uri="{FF2B5EF4-FFF2-40B4-BE49-F238E27FC236}">
                <a16:creationId xmlns:a16="http://schemas.microsoft.com/office/drawing/2014/main" id="{827BBC11-7C94-2FC1-F6F0-89B0C918B861}"/>
              </a:ext>
            </a:extLst>
          </p:cNvPr>
          <p:cNvSpPr txBox="1"/>
          <p:nvPr/>
        </p:nvSpPr>
        <p:spPr>
          <a:xfrm>
            <a:off x="553166" y="1462339"/>
            <a:ext cx="4602493" cy="2031325"/>
          </a:xfrm>
          <a:prstGeom prst="rect">
            <a:avLst/>
          </a:prstGeom>
          <a:noFill/>
        </p:spPr>
        <p:txBody>
          <a:bodyPr wrap="square">
            <a:spAutoFit/>
          </a:bodyPr>
          <a:lstStyle/>
          <a:p>
            <a:pPr>
              <a:buFont typeface="Arial" panose="020B0604020202020204" pitchFamily="34" charset="0"/>
              <a:buChar char="•"/>
            </a:pPr>
            <a:r>
              <a:rPr lang="en-IN" b="1" dirty="0"/>
              <a:t>D = { (x₁, y₁), (x₂, y₂), …, (xₙ, yₙ) }</a:t>
            </a:r>
            <a:br>
              <a:rPr lang="en-IN" dirty="0"/>
            </a:br>
            <a:r>
              <a:rPr lang="en-IN" dirty="0"/>
              <a:t>The dataset. Each pair (xᵢ, yᵢ) means:</a:t>
            </a:r>
            <a:br>
              <a:rPr lang="en-IN" dirty="0"/>
            </a:br>
            <a:r>
              <a:rPr lang="en-IN" dirty="0"/>
              <a:t>• </a:t>
            </a:r>
            <a:r>
              <a:rPr lang="en-IN" dirty="0">
                <a:latin typeface="Courier New" panose="02070309020205020404" pitchFamily="49" charset="0"/>
              </a:rPr>
              <a:t>xᵢ</a:t>
            </a:r>
            <a:r>
              <a:rPr lang="en-IN" dirty="0"/>
              <a:t> = the </a:t>
            </a:r>
            <a:r>
              <a:rPr lang="en-IN" dirty="0" err="1"/>
              <a:t>i-th</a:t>
            </a:r>
            <a:r>
              <a:rPr lang="en-IN" dirty="0"/>
              <a:t> MRI </a:t>
            </a:r>
            <a:r>
              <a:rPr lang="en-IN" b="1" dirty="0"/>
              <a:t>image</a:t>
            </a:r>
            <a:r>
              <a:rPr lang="en-IN" dirty="0"/>
              <a:t> (matrix of pixel values).</a:t>
            </a:r>
            <a:br>
              <a:rPr lang="en-IN" dirty="0"/>
            </a:br>
            <a:r>
              <a:rPr lang="en-IN" dirty="0"/>
              <a:t>• </a:t>
            </a:r>
            <a:r>
              <a:rPr lang="en-IN" dirty="0">
                <a:latin typeface="Courier New" panose="02070309020205020404" pitchFamily="49" charset="0"/>
              </a:rPr>
              <a:t>yᵢ</a:t>
            </a:r>
            <a:r>
              <a:rPr lang="en-IN" dirty="0"/>
              <a:t> = the </a:t>
            </a:r>
            <a:r>
              <a:rPr lang="en-IN" b="1" dirty="0"/>
              <a:t>label</a:t>
            </a:r>
            <a:r>
              <a:rPr lang="en-IN" dirty="0"/>
              <a:t> for that image (one of: No </a:t>
            </a:r>
            <a:r>
              <a:rPr lang="en-IN" dirty="0" err="1"/>
              <a:t>Tumor</a:t>
            </a:r>
            <a:r>
              <a:rPr lang="en-IN" dirty="0"/>
              <a:t>,  </a:t>
            </a:r>
            <a:r>
              <a:rPr lang="en-IN" dirty="0" err="1"/>
              <a:t>Tumor</a:t>
            </a:r>
            <a:r>
              <a:rPr lang="en-IN" dirty="0"/>
              <a:t>).</a:t>
            </a:r>
            <a:br>
              <a:rPr lang="en-IN" dirty="0"/>
            </a:br>
            <a:r>
              <a:rPr lang="en-IN" dirty="0"/>
              <a:t>There are </a:t>
            </a:r>
            <a:r>
              <a:rPr lang="en-IN" dirty="0">
                <a:latin typeface="Courier New" panose="02070309020205020404" pitchFamily="49" charset="0"/>
              </a:rPr>
              <a:t>n</a:t>
            </a:r>
            <a:r>
              <a:rPr lang="en-IN" dirty="0"/>
              <a:t> images in total.</a:t>
            </a:r>
          </a:p>
        </p:txBody>
      </p:sp>
    </p:spTree>
    <p:extLst>
      <p:ext uri="{BB962C8B-B14F-4D97-AF65-F5344CB8AC3E}">
        <p14:creationId xmlns:p14="http://schemas.microsoft.com/office/powerpoint/2010/main" val="2205238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E69F0-414A-858A-E402-90FF1E2EB7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F62ECE-8EEE-CFF6-578E-98A780075065}"/>
              </a:ext>
            </a:extLst>
          </p:cNvPr>
          <p:cNvPicPr>
            <a:picLocks noChangeAspect="1"/>
          </p:cNvPicPr>
          <p:nvPr/>
        </p:nvPicPr>
        <p:blipFill>
          <a:blip r:embed="rId2"/>
          <a:stretch>
            <a:fillRect/>
          </a:stretch>
        </p:blipFill>
        <p:spPr>
          <a:xfrm>
            <a:off x="0" y="0"/>
            <a:ext cx="12192000" cy="7104888"/>
          </a:xfrm>
          <a:prstGeom prst="rect">
            <a:avLst/>
          </a:prstGeom>
        </p:spPr>
      </p:pic>
      <p:sp>
        <p:nvSpPr>
          <p:cNvPr id="2" name="object 2">
            <a:extLst>
              <a:ext uri="{FF2B5EF4-FFF2-40B4-BE49-F238E27FC236}">
                <a16:creationId xmlns:a16="http://schemas.microsoft.com/office/drawing/2014/main" id="{7449D53F-0D09-7F99-EC95-DFFDDAEE9929}"/>
              </a:ext>
            </a:extLst>
          </p:cNvPr>
          <p:cNvSpPr txBox="1">
            <a:spLocks/>
          </p:cNvSpPr>
          <p:nvPr/>
        </p:nvSpPr>
        <p:spPr>
          <a:xfrm>
            <a:off x="711200" y="347980"/>
            <a:ext cx="3454399" cy="505267"/>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sz="3200" spc="-35" dirty="0"/>
              <a:t>Class </a:t>
            </a:r>
            <a:r>
              <a:rPr lang="en-IN" sz="3200" spc="-35" dirty="0" err="1"/>
              <a:t>Daigram</a:t>
            </a:r>
            <a:endParaRPr lang="en-IN" sz="3200" spc="-35" dirty="0"/>
          </a:p>
        </p:txBody>
      </p:sp>
    </p:spTree>
    <p:extLst>
      <p:ext uri="{BB962C8B-B14F-4D97-AF65-F5344CB8AC3E}">
        <p14:creationId xmlns:p14="http://schemas.microsoft.com/office/powerpoint/2010/main" val="981203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8B3504-594B-A92F-A748-4001548F0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0276"/>
            <a:ext cx="12192000" cy="7718044"/>
          </a:xfrm>
          <a:prstGeom prst="rect">
            <a:avLst/>
          </a:prstGeom>
        </p:spPr>
      </p:pic>
      <p:sp>
        <p:nvSpPr>
          <p:cNvPr id="3" name="object 2">
            <a:extLst>
              <a:ext uri="{FF2B5EF4-FFF2-40B4-BE49-F238E27FC236}">
                <a16:creationId xmlns:a16="http://schemas.microsoft.com/office/drawing/2014/main" id="{E9CC2E03-1B22-8978-05E1-86BB5862A684}"/>
              </a:ext>
            </a:extLst>
          </p:cNvPr>
          <p:cNvSpPr txBox="1">
            <a:spLocks/>
          </p:cNvSpPr>
          <p:nvPr/>
        </p:nvSpPr>
        <p:spPr>
          <a:xfrm>
            <a:off x="363728" y="155956"/>
            <a:ext cx="3454399" cy="505267"/>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sz="3200" spc="-35" dirty="0"/>
              <a:t>Activity </a:t>
            </a:r>
            <a:r>
              <a:rPr lang="en-IN" sz="3200" spc="-35" dirty="0" err="1"/>
              <a:t>Daigram</a:t>
            </a:r>
            <a:endParaRPr lang="en-IN" sz="3200" spc="-35" dirty="0"/>
          </a:p>
        </p:txBody>
      </p:sp>
      <p:cxnSp>
        <p:nvCxnSpPr>
          <p:cNvPr id="7" name="Straight Arrow Connector 6">
            <a:extLst>
              <a:ext uri="{FF2B5EF4-FFF2-40B4-BE49-F238E27FC236}">
                <a16:creationId xmlns:a16="http://schemas.microsoft.com/office/drawing/2014/main" id="{52EB2DEC-A5C6-DC4C-CB8E-DEA95DE7599A}"/>
              </a:ext>
            </a:extLst>
          </p:cNvPr>
          <p:cNvCxnSpPr/>
          <p:nvPr/>
        </p:nvCxnSpPr>
        <p:spPr>
          <a:xfrm>
            <a:off x="6096000" y="155956"/>
            <a:ext cx="0" cy="3474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334722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243D959-3432-A216-A2F7-B457571EE672}"/>
              </a:ext>
            </a:extLst>
          </p:cNvPr>
          <p:cNvSpPr txBox="1">
            <a:spLocks/>
          </p:cNvSpPr>
          <p:nvPr/>
        </p:nvSpPr>
        <p:spPr>
          <a:xfrm>
            <a:off x="1176019" y="299720"/>
            <a:ext cx="5065755" cy="1323438"/>
          </a:xfrm>
          <a:prstGeom prst="rect">
            <a:avLst/>
          </a:prstGeom>
        </p:spPr>
        <p:txBody>
          <a:bodyPr vert="horz" wrap="square" lIns="0" tIns="64007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spc="-40" dirty="0"/>
              <a:t>Algorithm</a:t>
            </a:r>
            <a:r>
              <a:rPr lang="en-IN" spc="-190" dirty="0"/>
              <a:t> </a:t>
            </a:r>
            <a:r>
              <a:rPr lang="en-IN" dirty="0"/>
              <a:t>to</a:t>
            </a:r>
            <a:r>
              <a:rPr lang="en-IN" spc="-190" dirty="0"/>
              <a:t> </a:t>
            </a:r>
            <a:r>
              <a:rPr lang="en-IN" dirty="0"/>
              <a:t>be</a:t>
            </a:r>
            <a:r>
              <a:rPr lang="en-IN" spc="-195" dirty="0"/>
              <a:t> </a:t>
            </a:r>
            <a:r>
              <a:rPr lang="en-IN" spc="-20" dirty="0"/>
              <a:t>used</a:t>
            </a:r>
          </a:p>
        </p:txBody>
      </p:sp>
      <p:sp>
        <p:nvSpPr>
          <p:cNvPr id="3" name="Rectangle 1">
            <a:extLst>
              <a:ext uri="{FF2B5EF4-FFF2-40B4-BE49-F238E27FC236}">
                <a16:creationId xmlns:a16="http://schemas.microsoft.com/office/drawing/2014/main" id="{8C2F1969-B3FA-D9C1-283C-3CAA3F9E7335}"/>
              </a:ext>
            </a:extLst>
          </p:cNvPr>
          <p:cNvSpPr>
            <a:spLocks noChangeArrowheads="1"/>
          </p:cNvSpPr>
          <p:nvPr/>
        </p:nvSpPr>
        <p:spPr bwMode="auto">
          <a:xfrm>
            <a:off x="1046176" y="1859339"/>
            <a:ext cx="659535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medical image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Preprocess images (resize, normalize, augment)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Convolutional layers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R</a:t>
            </a:r>
            <a:r>
              <a:rPr kumimoji="0" lang="en-US" altLang="en-US" sz="1800" b="0" i="0" u="none" strike="noStrike" cap="none" normalizeH="0" baseline="0" dirty="0">
                <a:ln>
                  <a:noFill/>
                </a:ln>
                <a:solidFill>
                  <a:schemeClr val="tx1"/>
                </a:solidFill>
                <a:effectLst/>
                <a:latin typeface="Arial" panose="020B0604020202020204" pitchFamily="34" charset="0"/>
              </a:rPr>
              <a:t>educe dimensions</a:t>
            </a:r>
          </a:p>
          <a:p>
            <a:r>
              <a:rPr lang="en-US" dirty="0"/>
              <a:t>VGG16 → 16-layer CNN with 3×3 filters, widely used baseline.</a:t>
            </a:r>
          </a:p>
          <a:p>
            <a:r>
              <a:rPr lang="en-US" dirty="0"/>
              <a:t>ResNet50 → 50-layer CNN with skip connections, solves vanishing gradient.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Flatten feature maps → Fully connected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a:t>
            </a:r>
            <a:r>
              <a:rPr kumimoji="0" lang="en-US" altLang="en-US" sz="1800" b="0" i="0" u="none" strike="noStrike" cap="none" normalizeH="0" baseline="0" dirty="0" err="1">
                <a:ln>
                  <a:noFill/>
                </a:ln>
                <a:solidFill>
                  <a:schemeClr val="tx1"/>
                </a:solidFill>
                <a:effectLst/>
                <a:latin typeface="Arial" panose="020B0604020202020204" pitchFamily="34" charset="0"/>
              </a:rPr>
              <a:t>Softmax</a:t>
            </a:r>
            <a:r>
              <a:rPr kumimoji="0" lang="en-US" altLang="en-US" sz="1800" b="0" i="0" u="none" strike="noStrike" cap="none" normalizeH="0" baseline="0" dirty="0">
                <a:ln>
                  <a:noFill/>
                </a:ln>
                <a:solidFill>
                  <a:schemeClr val="tx1"/>
                </a:solidFill>
                <a:effectLst/>
                <a:latin typeface="Arial" panose="020B0604020202020204" pitchFamily="34" charset="0"/>
              </a:rPr>
              <a:t> for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 using Accuracy, Precision, Recall, 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results with existing models</a:t>
            </a:r>
          </a:p>
        </p:txBody>
      </p:sp>
    </p:spTree>
    <p:extLst>
      <p:ext uri="{BB962C8B-B14F-4D97-AF65-F5344CB8AC3E}">
        <p14:creationId xmlns:p14="http://schemas.microsoft.com/office/powerpoint/2010/main" val="3799912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F87EEA4-E524-71F4-5555-4102E6368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416" y="251791"/>
            <a:ext cx="9369287" cy="6354418"/>
          </a:xfrm>
          <a:prstGeom prst="rect">
            <a:avLst/>
          </a:prstGeom>
        </p:spPr>
      </p:pic>
      <p:sp>
        <p:nvSpPr>
          <p:cNvPr id="4" name="object 2">
            <a:extLst>
              <a:ext uri="{FF2B5EF4-FFF2-40B4-BE49-F238E27FC236}">
                <a16:creationId xmlns:a16="http://schemas.microsoft.com/office/drawing/2014/main" id="{05B0FE14-2606-C41E-792C-92F79F4D0313}"/>
              </a:ext>
            </a:extLst>
          </p:cNvPr>
          <p:cNvSpPr txBox="1">
            <a:spLocks/>
          </p:cNvSpPr>
          <p:nvPr/>
        </p:nvSpPr>
        <p:spPr>
          <a:xfrm>
            <a:off x="1176019" y="299720"/>
            <a:ext cx="7256145" cy="689932"/>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dirty="0"/>
              <a:t>End</a:t>
            </a:r>
            <a:r>
              <a:rPr lang="en-IN" spc="-235" dirty="0"/>
              <a:t> </a:t>
            </a:r>
            <a:r>
              <a:rPr lang="en-IN" dirty="0"/>
              <a:t>user</a:t>
            </a:r>
            <a:r>
              <a:rPr lang="en-IN" spc="-245" dirty="0"/>
              <a:t> </a:t>
            </a:r>
            <a:r>
              <a:rPr lang="en-IN" spc="-10" dirty="0"/>
              <a:t>Model</a:t>
            </a:r>
          </a:p>
        </p:txBody>
      </p:sp>
    </p:spTree>
    <p:extLst>
      <p:ext uri="{BB962C8B-B14F-4D97-AF65-F5344CB8AC3E}">
        <p14:creationId xmlns:p14="http://schemas.microsoft.com/office/powerpoint/2010/main" val="4195483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644" y="0"/>
            <a:ext cx="10515600" cy="1325563"/>
          </a:xfrm>
          <a:prstGeom prst="rect">
            <a:avLst/>
          </a:prstGeom>
        </p:spPr>
        <p:txBody>
          <a:bodyPr vert="horz" wrap="square" lIns="0" tIns="244093" rIns="0" bIns="0" rtlCol="0">
            <a:spAutoFit/>
          </a:bodyPr>
          <a:lstStyle/>
          <a:p>
            <a:pPr marL="128270">
              <a:lnSpc>
                <a:spcPct val="100000"/>
              </a:lnSpc>
              <a:spcBef>
                <a:spcPts val="95"/>
              </a:spcBef>
            </a:pPr>
            <a:r>
              <a:rPr spc="-10" dirty="0"/>
              <a:t>CONCLUSION</a:t>
            </a:r>
          </a:p>
        </p:txBody>
      </p:sp>
      <p:sp>
        <p:nvSpPr>
          <p:cNvPr id="3" name="object 3"/>
          <p:cNvSpPr txBox="1"/>
          <p:nvPr/>
        </p:nvSpPr>
        <p:spPr>
          <a:xfrm>
            <a:off x="688644" y="1231519"/>
            <a:ext cx="10970260" cy="453580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The</a:t>
            </a:r>
            <a:r>
              <a:rPr sz="1800" spc="260" dirty="0">
                <a:latin typeface="Calibri"/>
                <a:cs typeface="Calibri"/>
              </a:rPr>
              <a:t> </a:t>
            </a:r>
            <a:r>
              <a:rPr sz="1800" dirty="0">
                <a:latin typeface="Calibri"/>
                <a:cs typeface="Calibri"/>
              </a:rPr>
              <a:t>RareDetect</a:t>
            </a:r>
            <a:r>
              <a:rPr sz="1800" spc="295" dirty="0">
                <a:latin typeface="Calibri"/>
                <a:cs typeface="Calibri"/>
              </a:rPr>
              <a:t> </a:t>
            </a:r>
            <a:r>
              <a:rPr sz="1800" dirty="0">
                <a:latin typeface="Calibri"/>
                <a:cs typeface="Calibri"/>
              </a:rPr>
              <a:t>project</a:t>
            </a:r>
            <a:r>
              <a:rPr sz="1800" spc="270" dirty="0">
                <a:latin typeface="Calibri"/>
                <a:cs typeface="Calibri"/>
              </a:rPr>
              <a:t> </a:t>
            </a:r>
            <a:r>
              <a:rPr sz="1800" dirty="0">
                <a:latin typeface="Calibri"/>
                <a:cs typeface="Calibri"/>
              </a:rPr>
              <a:t>presents</a:t>
            </a:r>
            <a:r>
              <a:rPr sz="1800" spc="265" dirty="0">
                <a:latin typeface="Calibri"/>
                <a:cs typeface="Calibri"/>
              </a:rPr>
              <a:t> </a:t>
            </a:r>
            <a:r>
              <a:rPr sz="1800" dirty="0">
                <a:latin typeface="Calibri"/>
                <a:cs typeface="Calibri"/>
              </a:rPr>
              <a:t>a</a:t>
            </a:r>
            <a:r>
              <a:rPr sz="1800" spc="275" dirty="0">
                <a:latin typeface="Calibri"/>
                <a:cs typeface="Calibri"/>
              </a:rPr>
              <a:t> </a:t>
            </a:r>
            <a:r>
              <a:rPr sz="1800" dirty="0">
                <a:latin typeface="Calibri"/>
                <a:cs typeface="Calibri"/>
              </a:rPr>
              <a:t>focused</a:t>
            </a:r>
            <a:r>
              <a:rPr sz="1800" spc="260" dirty="0">
                <a:latin typeface="Calibri"/>
                <a:cs typeface="Calibri"/>
              </a:rPr>
              <a:t> </a:t>
            </a:r>
            <a:r>
              <a:rPr sz="1800" dirty="0">
                <a:latin typeface="Calibri"/>
                <a:cs typeface="Calibri"/>
              </a:rPr>
              <a:t>and</a:t>
            </a:r>
            <a:r>
              <a:rPr sz="1800" spc="280" dirty="0">
                <a:latin typeface="Calibri"/>
                <a:cs typeface="Calibri"/>
              </a:rPr>
              <a:t> </a:t>
            </a:r>
            <a:r>
              <a:rPr sz="1800" dirty="0">
                <a:latin typeface="Calibri"/>
                <a:cs typeface="Calibri"/>
              </a:rPr>
              <a:t>impactful</a:t>
            </a:r>
            <a:r>
              <a:rPr sz="1800" spc="290" dirty="0">
                <a:latin typeface="Calibri"/>
                <a:cs typeface="Calibri"/>
              </a:rPr>
              <a:t> </a:t>
            </a:r>
            <a:r>
              <a:rPr sz="1800" dirty="0">
                <a:latin typeface="Calibri"/>
                <a:cs typeface="Calibri"/>
              </a:rPr>
              <a:t>solution</a:t>
            </a:r>
            <a:r>
              <a:rPr sz="1800" spc="260" dirty="0">
                <a:latin typeface="Calibri"/>
                <a:cs typeface="Calibri"/>
              </a:rPr>
              <a:t> </a:t>
            </a:r>
            <a:r>
              <a:rPr sz="1800" dirty="0">
                <a:latin typeface="Calibri"/>
                <a:cs typeface="Calibri"/>
              </a:rPr>
              <a:t>to</a:t>
            </a:r>
            <a:r>
              <a:rPr sz="1800" spc="280" dirty="0">
                <a:latin typeface="Calibri"/>
                <a:cs typeface="Calibri"/>
              </a:rPr>
              <a:t> </a:t>
            </a:r>
            <a:r>
              <a:rPr sz="1800" dirty="0">
                <a:latin typeface="Calibri"/>
                <a:cs typeface="Calibri"/>
              </a:rPr>
              <a:t>one</a:t>
            </a:r>
            <a:r>
              <a:rPr sz="1800" spc="265" dirty="0">
                <a:latin typeface="Calibri"/>
                <a:cs typeface="Calibri"/>
              </a:rPr>
              <a:t> </a:t>
            </a:r>
            <a:r>
              <a:rPr sz="1800" dirty="0">
                <a:latin typeface="Calibri"/>
                <a:cs typeface="Calibri"/>
              </a:rPr>
              <a:t>of</a:t>
            </a:r>
            <a:r>
              <a:rPr sz="1800" spc="275" dirty="0">
                <a:latin typeface="Calibri"/>
                <a:cs typeface="Calibri"/>
              </a:rPr>
              <a:t> </a:t>
            </a:r>
            <a:r>
              <a:rPr sz="1800" dirty="0">
                <a:latin typeface="Calibri"/>
                <a:cs typeface="Calibri"/>
              </a:rPr>
              <a:t>the</a:t>
            </a:r>
            <a:r>
              <a:rPr sz="1800" spc="260" dirty="0">
                <a:latin typeface="Calibri"/>
                <a:cs typeface="Calibri"/>
              </a:rPr>
              <a:t> </a:t>
            </a:r>
            <a:r>
              <a:rPr sz="1800" dirty="0">
                <a:latin typeface="Calibri"/>
                <a:cs typeface="Calibri"/>
              </a:rPr>
              <a:t>most</a:t>
            </a:r>
            <a:r>
              <a:rPr sz="1800" spc="295" dirty="0">
                <a:latin typeface="Calibri"/>
                <a:cs typeface="Calibri"/>
              </a:rPr>
              <a:t> </a:t>
            </a:r>
            <a:r>
              <a:rPr sz="1800" dirty="0">
                <a:latin typeface="Calibri"/>
                <a:cs typeface="Calibri"/>
              </a:rPr>
              <a:t>pressing</a:t>
            </a:r>
            <a:r>
              <a:rPr sz="1800" spc="340" dirty="0">
                <a:latin typeface="Calibri"/>
                <a:cs typeface="Calibri"/>
              </a:rPr>
              <a:t> </a:t>
            </a:r>
            <a:r>
              <a:rPr sz="1800" dirty="0">
                <a:latin typeface="Calibri"/>
                <a:cs typeface="Calibri"/>
              </a:rPr>
              <a:t>challenges</a:t>
            </a:r>
            <a:r>
              <a:rPr sz="1800" spc="265" dirty="0">
                <a:latin typeface="Calibri"/>
                <a:cs typeface="Calibri"/>
              </a:rPr>
              <a:t> </a:t>
            </a:r>
            <a:r>
              <a:rPr sz="1800" spc="-25" dirty="0">
                <a:latin typeface="Calibri"/>
                <a:cs typeface="Calibri"/>
              </a:rPr>
              <a:t>in</a:t>
            </a:r>
            <a:endParaRPr sz="1800">
              <a:latin typeface="Calibri"/>
              <a:cs typeface="Calibri"/>
            </a:endParaRPr>
          </a:p>
          <a:p>
            <a:pPr marL="12700" marR="362585">
              <a:lnSpc>
                <a:spcPct val="171200"/>
              </a:lnSpc>
              <a:tabLst>
                <a:tab pos="1397635" algn="l"/>
                <a:tab pos="1851660" algn="l"/>
                <a:tab pos="2653030" algn="l"/>
                <a:tab pos="3305175" algn="l"/>
                <a:tab pos="3646170" algn="l"/>
                <a:tab pos="4584065" algn="l"/>
                <a:tab pos="5671185" algn="l"/>
                <a:tab pos="6630670" algn="l"/>
                <a:tab pos="7273290" algn="l"/>
                <a:tab pos="8229600" algn="l"/>
                <a:tab pos="9514840" algn="l"/>
                <a:tab pos="9898380" algn="l"/>
              </a:tabLst>
            </a:pPr>
            <a:r>
              <a:rPr sz="1800" dirty="0">
                <a:latin typeface="Calibri"/>
                <a:cs typeface="Calibri"/>
              </a:rPr>
              <a:t>modern</a:t>
            </a:r>
            <a:r>
              <a:rPr sz="1800" spc="450" dirty="0">
                <a:latin typeface="Calibri"/>
                <a:cs typeface="Calibri"/>
              </a:rPr>
              <a:t> </a:t>
            </a:r>
            <a:r>
              <a:rPr sz="1800" dirty="0">
                <a:latin typeface="Calibri"/>
                <a:cs typeface="Calibri"/>
              </a:rPr>
              <a:t>healthcare</a:t>
            </a:r>
            <a:r>
              <a:rPr sz="1800" spc="475" dirty="0">
                <a:latin typeface="Calibri"/>
                <a:cs typeface="Calibri"/>
              </a:rPr>
              <a:t> </a:t>
            </a:r>
            <a:r>
              <a:rPr sz="1800" dirty="0">
                <a:latin typeface="Calibri"/>
                <a:cs typeface="Calibri"/>
              </a:rPr>
              <a:t>—</a:t>
            </a:r>
            <a:r>
              <a:rPr sz="1800" spc="470" dirty="0">
                <a:latin typeface="Calibri"/>
                <a:cs typeface="Calibri"/>
              </a:rPr>
              <a:t> </a:t>
            </a:r>
            <a:r>
              <a:rPr sz="1800" dirty="0">
                <a:latin typeface="Calibri"/>
                <a:cs typeface="Calibri"/>
              </a:rPr>
              <a:t>the</a:t>
            </a:r>
            <a:r>
              <a:rPr sz="1800" spc="459" dirty="0">
                <a:latin typeface="Calibri"/>
                <a:cs typeface="Calibri"/>
              </a:rPr>
              <a:t> </a:t>
            </a:r>
            <a:r>
              <a:rPr sz="1800" dirty="0">
                <a:latin typeface="Calibri"/>
                <a:cs typeface="Calibri"/>
              </a:rPr>
              <a:t>early</a:t>
            </a:r>
            <a:r>
              <a:rPr sz="1800" spc="465" dirty="0">
                <a:latin typeface="Calibri"/>
                <a:cs typeface="Calibri"/>
              </a:rPr>
              <a:t> </a:t>
            </a:r>
            <a:r>
              <a:rPr sz="1800" dirty="0">
                <a:latin typeface="Calibri"/>
                <a:cs typeface="Calibri"/>
              </a:rPr>
              <a:t>detection</a:t>
            </a:r>
            <a:r>
              <a:rPr sz="1800" spc="459" dirty="0">
                <a:latin typeface="Calibri"/>
                <a:cs typeface="Calibri"/>
              </a:rPr>
              <a:t> </a:t>
            </a:r>
            <a:r>
              <a:rPr sz="1800" dirty="0">
                <a:latin typeface="Calibri"/>
                <a:cs typeface="Calibri"/>
              </a:rPr>
              <a:t>of</a:t>
            </a:r>
            <a:r>
              <a:rPr sz="1800" spc="470" dirty="0">
                <a:latin typeface="Calibri"/>
                <a:cs typeface="Calibri"/>
              </a:rPr>
              <a:t> </a:t>
            </a:r>
            <a:r>
              <a:rPr sz="1800" dirty="0">
                <a:latin typeface="Calibri"/>
                <a:cs typeface="Calibri"/>
              </a:rPr>
              <a:t>rare</a:t>
            </a:r>
            <a:r>
              <a:rPr sz="1800" spc="455" dirty="0">
                <a:latin typeface="Calibri"/>
                <a:cs typeface="Calibri"/>
              </a:rPr>
              <a:t> </a:t>
            </a:r>
            <a:r>
              <a:rPr sz="1800" dirty="0">
                <a:latin typeface="Calibri"/>
                <a:cs typeface="Calibri"/>
              </a:rPr>
              <a:t>brain</a:t>
            </a:r>
            <a:r>
              <a:rPr sz="1800" spc="459" dirty="0">
                <a:latin typeface="Calibri"/>
                <a:cs typeface="Calibri"/>
              </a:rPr>
              <a:t> </a:t>
            </a:r>
            <a:r>
              <a:rPr sz="1800" dirty="0">
                <a:latin typeface="Calibri"/>
                <a:cs typeface="Calibri"/>
              </a:rPr>
              <a:t>tumors.</a:t>
            </a:r>
            <a:r>
              <a:rPr sz="1800" spc="465" dirty="0">
                <a:latin typeface="Calibri"/>
                <a:cs typeface="Calibri"/>
              </a:rPr>
              <a:t> </a:t>
            </a:r>
            <a:r>
              <a:rPr sz="1800" dirty="0">
                <a:latin typeface="Calibri"/>
                <a:cs typeface="Calibri"/>
              </a:rPr>
              <a:t>By</a:t>
            </a:r>
            <a:r>
              <a:rPr sz="1800" spc="475" dirty="0">
                <a:latin typeface="Calibri"/>
                <a:cs typeface="Calibri"/>
              </a:rPr>
              <a:t> </a:t>
            </a:r>
            <a:r>
              <a:rPr sz="1800" dirty="0">
                <a:latin typeface="Calibri"/>
                <a:cs typeface="Calibri"/>
              </a:rPr>
              <a:t>applying</a:t>
            </a:r>
            <a:r>
              <a:rPr sz="1800" spc="465" dirty="0">
                <a:latin typeface="Calibri"/>
                <a:cs typeface="Calibri"/>
              </a:rPr>
              <a:t> </a:t>
            </a:r>
            <a:r>
              <a:rPr sz="1800" dirty="0">
                <a:latin typeface="Calibri"/>
                <a:cs typeface="Calibri"/>
              </a:rPr>
              <a:t>deep</a:t>
            </a:r>
            <a:r>
              <a:rPr sz="1800" spc="455" dirty="0">
                <a:latin typeface="Calibri"/>
                <a:cs typeface="Calibri"/>
              </a:rPr>
              <a:t> </a:t>
            </a:r>
            <a:r>
              <a:rPr sz="1800" dirty="0">
                <a:latin typeface="Calibri"/>
                <a:cs typeface="Calibri"/>
              </a:rPr>
              <a:t>learning</a:t>
            </a:r>
            <a:r>
              <a:rPr sz="1800" spc="484" dirty="0">
                <a:latin typeface="Calibri"/>
                <a:cs typeface="Calibri"/>
              </a:rPr>
              <a:t> </a:t>
            </a:r>
            <a:r>
              <a:rPr sz="1800" dirty="0">
                <a:latin typeface="Calibri"/>
                <a:cs typeface="Calibri"/>
              </a:rPr>
              <a:t>to</a:t>
            </a:r>
            <a:r>
              <a:rPr sz="1800" spc="470" dirty="0">
                <a:latin typeface="Calibri"/>
                <a:cs typeface="Calibri"/>
              </a:rPr>
              <a:t> </a:t>
            </a:r>
            <a:r>
              <a:rPr sz="1800" dirty="0">
                <a:latin typeface="Calibri"/>
                <a:cs typeface="Calibri"/>
              </a:rPr>
              <a:t>MRI</a:t>
            </a:r>
            <a:r>
              <a:rPr sz="1800" spc="450" dirty="0">
                <a:latin typeface="Calibri"/>
                <a:cs typeface="Calibri"/>
              </a:rPr>
              <a:t> </a:t>
            </a:r>
            <a:r>
              <a:rPr sz="1800" spc="-10" dirty="0">
                <a:latin typeface="Calibri"/>
                <a:cs typeface="Calibri"/>
              </a:rPr>
              <a:t>image classification,</a:t>
            </a:r>
            <a:r>
              <a:rPr sz="1800" dirty="0">
                <a:latin typeface="Calibri"/>
                <a:cs typeface="Calibri"/>
              </a:rPr>
              <a:t>	</a:t>
            </a:r>
            <a:r>
              <a:rPr sz="1800" spc="-25" dirty="0">
                <a:latin typeface="Calibri"/>
                <a:cs typeface="Calibri"/>
              </a:rPr>
              <a:t>the</a:t>
            </a:r>
            <a:r>
              <a:rPr sz="1800" dirty="0">
                <a:latin typeface="Calibri"/>
                <a:cs typeface="Calibri"/>
              </a:rPr>
              <a:t>	</a:t>
            </a:r>
            <a:r>
              <a:rPr sz="1800" spc="-10" dirty="0">
                <a:latin typeface="Calibri"/>
                <a:cs typeface="Calibri"/>
              </a:rPr>
              <a:t>system</a:t>
            </a:r>
            <a:r>
              <a:rPr sz="1800" dirty="0">
                <a:latin typeface="Calibri"/>
                <a:cs typeface="Calibri"/>
              </a:rPr>
              <a:t>	</a:t>
            </a:r>
            <a:r>
              <a:rPr sz="1800" spc="-20" dirty="0">
                <a:latin typeface="Calibri"/>
                <a:cs typeface="Calibri"/>
              </a:rPr>
              <a:t>seeks</a:t>
            </a:r>
            <a:r>
              <a:rPr sz="1800" dirty="0">
                <a:latin typeface="Calibri"/>
                <a:cs typeface="Calibri"/>
              </a:rPr>
              <a:t>	</a:t>
            </a:r>
            <a:r>
              <a:rPr sz="1800" spc="-25" dirty="0">
                <a:latin typeface="Calibri"/>
                <a:cs typeface="Calibri"/>
              </a:rPr>
              <a:t>to</a:t>
            </a:r>
            <a:r>
              <a:rPr sz="1800" dirty="0">
                <a:latin typeface="Calibri"/>
                <a:cs typeface="Calibri"/>
              </a:rPr>
              <a:t>	</a:t>
            </a:r>
            <a:r>
              <a:rPr sz="1800" spc="-10" dirty="0">
                <a:latin typeface="Calibri"/>
                <a:cs typeface="Calibri"/>
              </a:rPr>
              <a:t>enhance</a:t>
            </a:r>
            <a:r>
              <a:rPr sz="1800" dirty="0">
                <a:latin typeface="Calibri"/>
                <a:cs typeface="Calibri"/>
              </a:rPr>
              <a:t>	</a:t>
            </a:r>
            <a:r>
              <a:rPr sz="1800" spc="-10" dirty="0">
                <a:latin typeface="Calibri"/>
                <a:cs typeface="Calibri"/>
              </a:rPr>
              <a:t>diagnostic</a:t>
            </a:r>
            <a:r>
              <a:rPr sz="1800" dirty="0">
                <a:latin typeface="Calibri"/>
                <a:cs typeface="Calibri"/>
              </a:rPr>
              <a:t>	</a:t>
            </a:r>
            <a:r>
              <a:rPr sz="1800" spc="-10" dirty="0">
                <a:latin typeface="Calibri"/>
                <a:cs typeface="Calibri"/>
              </a:rPr>
              <a:t>accuracy</a:t>
            </a:r>
            <a:r>
              <a:rPr sz="1800" dirty="0">
                <a:latin typeface="Calibri"/>
                <a:cs typeface="Calibri"/>
              </a:rPr>
              <a:t>	</a:t>
            </a:r>
            <a:r>
              <a:rPr sz="1800" spc="-10" dirty="0">
                <a:latin typeface="Calibri"/>
                <a:cs typeface="Calibri"/>
              </a:rPr>
              <a:t>while</a:t>
            </a:r>
            <a:r>
              <a:rPr sz="1800" dirty="0">
                <a:latin typeface="Calibri"/>
                <a:cs typeface="Calibri"/>
              </a:rPr>
              <a:t>	</a:t>
            </a:r>
            <a:r>
              <a:rPr sz="1800" spc="-10" dirty="0">
                <a:latin typeface="Calibri"/>
                <a:cs typeface="Calibri"/>
              </a:rPr>
              <a:t>reducing</a:t>
            </a:r>
            <a:r>
              <a:rPr sz="1800" dirty="0">
                <a:latin typeface="Calibri"/>
                <a:cs typeface="Calibri"/>
              </a:rPr>
              <a:t>	</a:t>
            </a:r>
            <a:r>
              <a:rPr sz="1800" spc="-10" dirty="0">
                <a:latin typeface="Calibri"/>
                <a:cs typeface="Calibri"/>
              </a:rPr>
              <a:t>dependency</a:t>
            </a:r>
            <a:r>
              <a:rPr sz="1800" dirty="0">
                <a:latin typeface="Calibri"/>
                <a:cs typeface="Calibri"/>
              </a:rPr>
              <a:t>	</a:t>
            </a:r>
            <a:r>
              <a:rPr sz="1800" spc="-25" dirty="0">
                <a:latin typeface="Calibri"/>
                <a:cs typeface="Calibri"/>
              </a:rPr>
              <a:t>on</a:t>
            </a:r>
            <a:r>
              <a:rPr sz="1800" dirty="0">
                <a:latin typeface="Calibri"/>
                <a:cs typeface="Calibri"/>
              </a:rPr>
              <a:t>	</a:t>
            </a:r>
            <a:r>
              <a:rPr sz="1800" spc="-10" dirty="0">
                <a:latin typeface="Calibri"/>
                <a:cs typeface="Calibri"/>
              </a:rPr>
              <a:t>manual</a:t>
            </a:r>
            <a:endParaRPr sz="1800">
              <a:latin typeface="Calibri"/>
              <a:cs typeface="Calibri"/>
            </a:endParaRPr>
          </a:p>
          <a:p>
            <a:pPr marL="12700">
              <a:lnSpc>
                <a:spcPct val="100000"/>
              </a:lnSpc>
              <a:spcBef>
                <a:spcPts val="1560"/>
              </a:spcBef>
            </a:pPr>
            <a:r>
              <a:rPr sz="1800" spc="-10" dirty="0">
                <a:latin typeface="Calibri"/>
                <a:cs typeface="Calibri"/>
              </a:rPr>
              <a:t>interpretation.</a:t>
            </a:r>
            <a:endParaRPr sz="1800">
              <a:latin typeface="Calibri"/>
              <a:cs typeface="Calibri"/>
            </a:endParaRPr>
          </a:p>
          <a:p>
            <a:pPr marL="12700" marR="365125">
              <a:lnSpc>
                <a:spcPct val="171200"/>
              </a:lnSpc>
            </a:pPr>
            <a:r>
              <a:rPr sz="1800" dirty="0">
                <a:latin typeface="Calibri"/>
                <a:cs typeface="Calibri"/>
              </a:rPr>
              <a:t>The</a:t>
            </a:r>
            <a:r>
              <a:rPr sz="1800" spc="275" dirty="0">
                <a:latin typeface="Calibri"/>
                <a:cs typeface="Calibri"/>
              </a:rPr>
              <a:t> </a:t>
            </a:r>
            <a:r>
              <a:rPr sz="1800" dirty="0">
                <a:latin typeface="Calibri"/>
                <a:cs typeface="Calibri"/>
              </a:rPr>
              <a:t>development</a:t>
            </a:r>
            <a:r>
              <a:rPr sz="1800" spc="305" dirty="0">
                <a:latin typeface="Calibri"/>
                <a:cs typeface="Calibri"/>
              </a:rPr>
              <a:t> </a:t>
            </a:r>
            <a:r>
              <a:rPr sz="1800" dirty="0">
                <a:latin typeface="Calibri"/>
                <a:cs typeface="Calibri"/>
              </a:rPr>
              <a:t>of</a:t>
            </a:r>
            <a:r>
              <a:rPr sz="1800" spc="290" dirty="0">
                <a:latin typeface="Calibri"/>
                <a:cs typeface="Calibri"/>
              </a:rPr>
              <a:t> </a:t>
            </a:r>
            <a:r>
              <a:rPr sz="1800" dirty="0">
                <a:latin typeface="Calibri"/>
                <a:cs typeface="Calibri"/>
              </a:rPr>
              <a:t>a</a:t>
            </a:r>
            <a:r>
              <a:rPr sz="1800" spc="285" dirty="0">
                <a:latin typeface="Calibri"/>
                <a:cs typeface="Calibri"/>
              </a:rPr>
              <a:t> </a:t>
            </a:r>
            <a:r>
              <a:rPr sz="1800" dirty="0">
                <a:latin typeface="Calibri"/>
                <a:cs typeface="Calibri"/>
              </a:rPr>
              <a:t>custom</a:t>
            </a:r>
            <a:r>
              <a:rPr sz="1800" spc="315" dirty="0">
                <a:latin typeface="Calibri"/>
                <a:cs typeface="Calibri"/>
              </a:rPr>
              <a:t> </a:t>
            </a:r>
            <a:r>
              <a:rPr sz="1800" dirty="0">
                <a:latin typeface="Calibri"/>
                <a:cs typeface="Calibri"/>
              </a:rPr>
              <a:t>AI</a:t>
            </a:r>
            <a:r>
              <a:rPr sz="1800" spc="290" dirty="0">
                <a:latin typeface="Calibri"/>
                <a:cs typeface="Calibri"/>
              </a:rPr>
              <a:t> </a:t>
            </a:r>
            <a:r>
              <a:rPr sz="1800" dirty="0">
                <a:latin typeface="Calibri"/>
                <a:cs typeface="Calibri"/>
              </a:rPr>
              <a:t>model,</a:t>
            </a:r>
            <a:r>
              <a:rPr sz="1800" spc="295" dirty="0">
                <a:latin typeface="Calibri"/>
                <a:cs typeface="Calibri"/>
              </a:rPr>
              <a:t> </a:t>
            </a:r>
            <a:r>
              <a:rPr sz="1800" dirty="0">
                <a:latin typeface="Calibri"/>
                <a:cs typeface="Calibri"/>
              </a:rPr>
              <a:t>along</a:t>
            </a:r>
            <a:r>
              <a:rPr sz="1800" spc="300" dirty="0">
                <a:latin typeface="Calibri"/>
                <a:cs typeface="Calibri"/>
              </a:rPr>
              <a:t> </a:t>
            </a:r>
            <a:r>
              <a:rPr sz="1800" dirty="0">
                <a:latin typeface="Calibri"/>
                <a:cs typeface="Calibri"/>
              </a:rPr>
              <a:t>with</a:t>
            </a:r>
            <a:r>
              <a:rPr sz="1800" spc="270" dirty="0">
                <a:latin typeface="Calibri"/>
                <a:cs typeface="Calibri"/>
              </a:rPr>
              <a:t> </a:t>
            </a:r>
            <a:r>
              <a:rPr sz="1800" dirty="0">
                <a:latin typeface="Calibri"/>
                <a:cs typeface="Calibri"/>
              </a:rPr>
              <a:t>comparative</a:t>
            </a:r>
            <a:r>
              <a:rPr sz="1800" spc="280" dirty="0">
                <a:latin typeface="Calibri"/>
                <a:cs typeface="Calibri"/>
              </a:rPr>
              <a:t> </a:t>
            </a:r>
            <a:r>
              <a:rPr sz="1800" dirty="0">
                <a:latin typeface="Calibri"/>
                <a:cs typeface="Calibri"/>
              </a:rPr>
              <a:t>analysis</a:t>
            </a:r>
            <a:r>
              <a:rPr sz="1800" spc="285" dirty="0">
                <a:latin typeface="Calibri"/>
                <a:cs typeface="Calibri"/>
              </a:rPr>
              <a:t> </a:t>
            </a:r>
            <a:r>
              <a:rPr sz="1800" dirty="0">
                <a:latin typeface="Calibri"/>
                <a:cs typeface="Calibri"/>
              </a:rPr>
              <a:t>against</a:t>
            </a:r>
            <a:r>
              <a:rPr sz="1800" spc="305" dirty="0">
                <a:latin typeface="Calibri"/>
                <a:cs typeface="Calibri"/>
              </a:rPr>
              <a:t> </a:t>
            </a:r>
            <a:r>
              <a:rPr sz="1800" dirty="0">
                <a:latin typeface="Calibri"/>
                <a:cs typeface="Calibri"/>
              </a:rPr>
              <a:t>standard</a:t>
            </a:r>
            <a:r>
              <a:rPr sz="1800" spc="275" dirty="0">
                <a:latin typeface="Calibri"/>
                <a:cs typeface="Calibri"/>
              </a:rPr>
              <a:t> </a:t>
            </a:r>
            <a:r>
              <a:rPr sz="1800" dirty="0">
                <a:latin typeface="Calibri"/>
                <a:cs typeface="Calibri"/>
              </a:rPr>
              <a:t>architectures</a:t>
            </a:r>
            <a:r>
              <a:rPr sz="1800" spc="305" dirty="0">
                <a:latin typeface="Calibri"/>
                <a:cs typeface="Calibri"/>
              </a:rPr>
              <a:t> </a:t>
            </a:r>
            <a:r>
              <a:rPr sz="1800" spc="-20" dirty="0">
                <a:latin typeface="Calibri"/>
                <a:cs typeface="Calibri"/>
              </a:rPr>
              <a:t>like </a:t>
            </a:r>
            <a:r>
              <a:rPr sz="1800" dirty="0">
                <a:latin typeface="Calibri"/>
                <a:cs typeface="Calibri"/>
              </a:rPr>
              <a:t>VGG16</a:t>
            </a:r>
            <a:r>
              <a:rPr sz="1800" spc="260" dirty="0">
                <a:latin typeface="Calibri"/>
                <a:cs typeface="Calibri"/>
              </a:rPr>
              <a:t> </a:t>
            </a:r>
            <a:r>
              <a:rPr sz="1800" dirty="0">
                <a:latin typeface="Calibri"/>
                <a:cs typeface="Calibri"/>
              </a:rPr>
              <a:t>and</a:t>
            </a:r>
            <a:r>
              <a:rPr sz="1800" spc="254" dirty="0">
                <a:latin typeface="Calibri"/>
                <a:cs typeface="Calibri"/>
              </a:rPr>
              <a:t> </a:t>
            </a:r>
            <a:r>
              <a:rPr sz="1800" dirty="0">
                <a:latin typeface="Calibri"/>
                <a:cs typeface="Calibri"/>
              </a:rPr>
              <a:t>ResNet50,</a:t>
            </a:r>
            <a:r>
              <a:rPr sz="1800" spc="265" dirty="0">
                <a:latin typeface="Calibri"/>
                <a:cs typeface="Calibri"/>
              </a:rPr>
              <a:t> </a:t>
            </a:r>
            <a:r>
              <a:rPr sz="1800" dirty="0">
                <a:latin typeface="Calibri"/>
                <a:cs typeface="Calibri"/>
              </a:rPr>
              <a:t>provides</a:t>
            </a:r>
            <a:r>
              <a:rPr sz="1800" spc="260" dirty="0">
                <a:latin typeface="Calibri"/>
                <a:cs typeface="Calibri"/>
              </a:rPr>
              <a:t> </a:t>
            </a:r>
            <a:r>
              <a:rPr sz="1800" dirty="0">
                <a:latin typeface="Calibri"/>
                <a:cs typeface="Calibri"/>
              </a:rPr>
              <a:t>both</a:t>
            </a:r>
            <a:r>
              <a:rPr sz="1800" spc="254" dirty="0">
                <a:latin typeface="Calibri"/>
                <a:cs typeface="Calibri"/>
              </a:rPr>
              <a:t> </a:t>
            </a:r>
            <a:r>
              <a:rPr sz="1800" dirty="0">
                <a:latin typeface="Calibri"/>
                <a:cs typeface="Calibri"/>
              </a:rPr>
              <a:t>technical</a:t>
            </a:r>
            <a:r>
              <a:rPr sz="1800" spc="260" dirty="0">
                <a:latin typeface="Calibri"/>
                <a:cs typeface="Calibri"/>
              </a:rPr>
              <a:t> </a:t>
            </a:r>
            <a:r>
              <a:rPr sz="1800" dirty="0">
                <a:latin typeface="Calibri"/>
                <a:cs typeface="Calibri"/>
              </a:rPr>
              <a:t>insight</a:t>
            </a:r>
            <a:r>
              <a:rPr sz="1800" spc="265" dirty="0">
                <a:latin typeface="Calibri"/>
                <a:cs typeface="Calibri"/>
              </a:rPr>
              <a:t> </a:t>
            </a:r>
            <a:r>
              <a:rPr sz="1800" dirty="0">
                <a:latin typeface="Calibri"/>
                <a:cs typeface="Calibri"/>
              </a:rPr>
              <a:t>and</a:t>
            </a:r>
            <a:r>
              <a:rPr sz="1800" spc="254" dirty="0">
                <a:latin typeface="Calibri"/>
                <a:cs typeface="Calibri"/>
              </a:rPr>
              <a:t> </a:t>
            </a:r>
            <a:r>
              <a:rPr sz="1800" dirty="0">
                <a:latin typeface="Calibri"/>
                <a:cs typeface="Calibri"/>
              </a:rPr>
              <a:t>practical</a:t>
            </a:r>
            <a:r>
              <a:rPr sz="1800" spc="260" dirty="0">
                <a:latin typeface="Calibri"/>
                <a:cs typeface="Calibri"/>
              </a:rPr>
              <a:t> </a:t>
            </a:r>
            <a:r>
              <a:rPr sz="1800" dirty="0">
                <a:latin typeface="Calibri"/>
                <a:cs typeface="Calibri"/>
              </a:rPr>
              <a:t>value.</a:t>
            </a:r>
            <a:r>
              <a:rPr sz="1800" spc="270" dirty="0">
                <a:latin typeface="Calibri"/>
                <a:cs typeface="Calibri"/>
              </a:rPr>
              <a:t> </a:t>
            </a:r>
            <a:r>
              <a:rPr sz="1800" dirty="0">
                <a:latin typeface="Calibri"/>
                <a:cs typeface="Calibri"/>
              </a:rPr>
              <a:t>The</a:t>
            </a:r>
            <a:r>
              <a:rPr sz="1800" spc="254" dirty="0">
                <a:latin typeface="Calibri"/>
                <a:cs typeface="Calibri"/>
              </a:rPr>
              <a:t> </a:t>
            </a:r>
            <a:r>
              <a:rPr sz="1800" dirty="0">
                <a:latin typeface="Calibri"/>
                <a:cs typeface="Calibri"/>
              </a:rPr>
              <a:t>model</a:t>
            </a:r>
            <a:r>
              <a:rPr sz="1800" spc="260" dirty="0">
                <a:latin typeface="Calibri"/>
                <a:cs typeface="Calibri"/>
              </a:rPr>
              <a:t> </a:t>
            </a:r>
            <a:r>
              <a:rPr sz="1800" dirty="0">
                <a:latin typeface="Calibri"/>
                <a:cs typeface="Calibri"/>
              </a:rPr>
              <a:t>is</a:t>
            </a:r>
            <a:r>
              <a:rPr sz="1800" spc="260" dirty="0">
                <a:latin typeface="Calibri"/>
                <a:cs typeface="Calibri"/>
              </a:rPr>
              <a:t> </a:t>
            </a:r>
            <a:r>
              <a:rPr sz="1800" dirty="0">
                <a:latin typeface="Calibri"/>
                <a:cs typeface="Calibri"/>
              </a:rPr>
              <a:t>expected</a:t>
            </a:r>
            <a:r>
              <a:rPr sz="1800" spc="250" dirty="0">
                <a:latin typeface="Calibri"/>
                <a:cs typeface="Calibri"/>
              </a:rPr>
              <a:t> </a:t>
            </a:r>
            <a:r>
              <a:rPr sz="1800" dirty="0">
                <a:latin typeface="Calibri"/>
                <a:cs typeface="Calibri"/>
              </a:rPr>
              <a:t>to</a:t>
            </a:r>
            <a:r>
              <a:rPr sz="1800" spc="275" dirty="0">
                <a:latin typeface="Calibri"/>
                <a:cs typeface="Calibri"/>
              </a:rPr>
              <a:t> </a:t>
            </a:r>
            <a:r>
              <a:rPr sz="1800" spc="-10" dirty="0">
                <a:latin typeface="Calibri"/>
                <a:cs typeface="Calibri"/>
              </a:rPr>
              <a:t>perform</a:t>
            </a:r>
            <a:endParaRPr sz="1800">
              <a:latin typeface="Calibri"/>
              <a:cs typeface="Calibri"/>
            </a:endParaRPr>
          </a:p>
          <a:p>
            <a:pPr marL="12700" marR="361950">
              <a:lnSpc>
                <a:spcPct val="171100"/>
              </a:lnSpc>
              <a:spcBef>
                <a:spcPts val="25"/>
              </a:spcBef>
            </a:pPr>
            <a:r>
              <a:rPr sz="1800" dirty="0">
                <a:latin typeface="Calibri"/>
                <a:cs typeface="Calibri"/>
              </a:rPr>
              <a:t>efficiently</a:t>
            </a:r>
            <a:r>
              <a:rPr sz="1800" spc="60" dirty="0">
                <a:latin typeface="Calibri"/>
                <a:cs typeface="Calibri"/>
              </a:rPr>
              <a:t> </a:t>
            </a:r>
            <a:r>
              <a:rPr sz="1800" dirty="0">
                <a:latin typeface="Calibri"/>
                <a:cs typeface="Calibri"/>
              </a:rPr>
              <a:t>across</a:t>
            </a:r>
            <a:r>
              <a:rPr sz="1800" spc="75" dirty="0">
                <a:latin typeface="Calibri"/>
                <a:cs typeface="Calibri"/>
              </a:rPr>
              <a:t> </a:t>
            </a:r>
            <a:r>
              <a:rPr sz="1800" dirty="0">
                <a:latin typeface="Calibri"/>
                <a:cs typeface="Calibri"/>
              </a:rPr>
              <a:t>various</a:t>
            </a:r>
            <a:r>
              <a:rPr sz="1800" spc="50" dirty="0">
                <a:latin typeface="Calibri"/>
                <a:cs typeface="Calibri"/>
              </a:rPr>
              <a:t> </a:t>
            </a:r>
            <a:r>
              <a:rPr sz="1800" dirty="0">
                <a:latin typeface="Calibri"/>
                <a:cs typeface="Calibri"/>
              </a:rPr>
              <a:t>tumor</a:t>
            </a:r>
            <a:r>
              <a:rPr sz="1800" spc="60" dirty="0">
                <a:latin typeface="Calibri"/>
                <a:cs typeface="Calibri"/>
              </a:rPr>
              <a:t> </a:t>
            </a:r>
            <a:r>
              <a:rPr sz="1800" dirty="0">
                <a:latin typeface="Calibri"/>
                <a:cs typeface="Calibri"/>
              </a:rPr>
              <a:t>types,</a:t>
            </a:r>
            <a:r>
              <a:rPr sz="1800" spc="65" dirty="0">
                <a:latin typeface="Calibri"/>
                <a:cs typeface="Calibri"/>
              </a:rPr>
              <a:t> </a:t>
            </a:r>
            <a:r>
              <a:rPr sz="1800" dirty="0">
                <a:latin typeface="Calibri"/>
                <a:cs typeface="Calibri"/>
              </a:rPr>
              <a:t>particularly</a:t>
            </a:r>
            <a:r>
              <a:rPr sz="1800" spc="80" dirty="0">
                <a:latin typeface="Calibri"/>
                <a:cs typeface="Calibri"/>
              </a:rPr>
              <a:t> </a:t>
            </a:r>
            <a:r>
              <a:rPr sz="1800" dirty="0">
                <a:latin typeface="Calibri"/>
                <a:cs typeface="Calibri"/>
              </a:rPr>
              <a:t>those</a:t>
            </a:r>
            <a:r>
              <a:rPr sz="1800" spc="80" dirty="0">
                <a:latin typeface="Calibri"/>
                <a:cs typeface="Calibri"/>
              </a:rPr>
              <a:t> </a:t>
            </a:r>
            <a:r>
              <a:rPr sz="1800" dirty="0">
                <a:latin typeface="Calibri"/>
                <a:cs typeface="Calibri"/>
              </a:rPr>
              <a:t>that</a:t>
            </a:r>
            <a:r>
              <a:rPr sz="1800" spc="55" dirty="0">
                <a:latin typeface="Calibri"/>
                <a:cs typeface="Calibri"/>
              </a:rPr>
              <a:t> </a:t>
            </a:r>
            <a:r>
              <a:rPr sz="1800" dirty="0">
                <a:latin typeface="Calibri"/>
                <a:cs typeface="Calibri"/>
              </a:rPr>
              <a:t>are</a:t>
            </a:r>
            <a:r>
              <a:rPr sz="1800" spc="80" dirty="0">
                <a:latin typeface="Calibri"/>
                <a:cs typeface="Calibri"/>
              </a:rPr>
              <a:t> </a:t>
            </a:r>
            <a:r>
              <a:rPr sz="1800" dirty="0">
                <a:latin typeface="Calibri"/>
                <a:cs typeface="Calibri"/>
              </a:rPr>
              <a:t>rare</a:t>
            </a:r>
            <a:r>
              <a:rPr sz="1800" spc="55" dirty="0">
                <a:latin typeface="Calibri"/>
                <a:cs typeface="Calibri"/>
              </a:rPr>
              <a:t> </a:t>
            </a:r>
            <a:r>
              <a:rPr sz="1800" dirty="0">
                <a:latin typeface="Calibri"/>
                <a:cs typeface="Calibri"/>
              </a:rPr>
              <a:t>or</a:t>
            </a:r>
            <a:r>
              <a:rPr sz="1800" spc="55" dirty="0">
                <a:latin typeface="Calibri"/>
                <a:cs typeface="Calibri"/>
              </a:rPr>
              <a:t> </a:t>
            </a:r>
            <a:r>
              <a:rPr sz="1800" dirty="0">
                <a:latin typeface="Calibri"/>
                <a:cs typeface="Calibri"/>
              </a:rPr>
              <a:t>subtle,</a:t>
            </a:r>
            <a:r>
              <a:rPr sz="1800" spc="65" dirty="0">
                <a:latin typeface="Calibri"/>
                <a:cs typeface="Calibri"/>
              </a:rPr>
              <a:t> </a:t>
            </a:r>
            <a:r>
              <a:rPr sz="1800" dirty="0">
                <a:latin typeface="Calibri"/>
                <a:cs typeface="Calibri"/>
              </a:rPr>
              <a:t>making</a:t>
            </a:r>
            <a:r>
              <a:rPr sz="1800" spc="75" dirty="0">
                <a:latin typeface="Calibri"/>
                <a:cs typeface="Calibri"/>
              </a:rPr>
              <a:t> </a:t>
            </a:r>
            <a:r>
              <a:rPr sz="1800" dirty="0">
                <a:latin typeface="Calibri"/>
                <a:cs typeface="Calibri"/>
              </a:rPr>
              <a:t>it</a:t>
            </a:r>
            <a:r>
              <a:rPr sz="1800" spc="60" dirty="0">
                <a:latin typeface="Calibri"/>
                <a:cs typeface="Calibri"/>
              </a:rPr>
              <a:t> </a:t>
            </a:r>
            <a:r>
              <a:rPr sz="1800" dirty="0">
                <a:latin typeface="Calibri"/>
                <a:cs typeface="Calibri"/>
              </a:rPr>
              <a:t>a</a:t>
            </a:r>
            <a:r>
              <a:rPr sz="1800" spc="85" dirty="0">
                <a:latin typeface="Calibri"/>
                <a:cs typeface="Calibri"/>
              </a:rPr>
              <a:t> </a:t>
            </a:r>
            <a:r>
              <a:rPr sz="1800" dirty="0">
                <a:latin typeface="Calibri"/>
                <a:cs typeface="Calibri"/>
              </a:rPr>
              <a:t>strong</a:t>
            </a:r>
            <a:r>
              <a:rPr sz="1800" spc="80" dirty="0">
                <a:latin typeface="Calibri"/>
                <a:cs typeface="Calibri"/>
              </a:rPr>
              <a:t> </a:t>
            </a:r>
            <a:r>
              <a:rPr sz="1800" dirty="0">
                <a:latin typeface="Calibri"/>
                <a:cs typeface="Calibri"/>
              </a:rPr>
              <a:t>candidate</a:t>
            </a:r>
            <a:r>
              <a:rPr sz="1800" spc="55" dirty="0">
                <a:latin typeface="Calibri"/>
                <a:cs typeface="Calibri"/>
              </a:rPr>
              <a:t> </a:t>
            </a:r>
            <a:r>
              <a:rPr sz="1800" spc="-25" dirty="0">
                <a:latin typeface="Calibri"/>
                <a:cs typeface="Calibri"/>
              </a:rPr>
              <a:t>for </a:t>
            </a:r>
            <a:r>
              <a:rPr sz="1800" spc="-10" dirty="0">
                <a:latin typeface="Calibri"/>
                <a:cs typeface="Calibri"/>
              </a:rPr>
              <a:t>real-</a:t>
            </a:r>
            <a:r>
              <a:rPr sz="1800" dirty="0">
                <a:latin typeface="Calibri"/>
                <a:cs typeface="Calibri"/>
              </a:rPr>
              <a:t>world</a:t>
            </a:r>
            <a:r>
              <a:rPr sz="1800" spc="-50" dirty="0">
                <a:latin typeface="Calibri"/>
                <a:cs typeface="Calibri"/>
              </a:rPr>
              <a:t> </a:t>
            </a:r>
            <a:r>
              <a:rPr sz="1800" dirty="0">
                <a:latin typeface="Calibri"/>
                <a:cs typeface="Calibri"/>
              </a:rPr>
              <a:t>clinical</a:t>
            </a:r>
            <a:r>
              <a:rPr sz="1800" spc="-35" dirty="0">
                <a:latin typeface="Calibri"/>
                <a:cs typeface="Calibri"/>
              </a:rPr>
              <a:t> </a:t>
            </a:r>
            <a:r>
              <a:rPr sz="1800" dirty="0">
                <a:latin typeface="Calibri"/>
                <a:cs typeface="Calibri"/>
              </a:rPr>
              <a:t>support</a:t>
            </a:r>
            <a:r>
              <a:rPr sz="1800" spc="-20" dirty="0">
                <a:latin typeface="Calibri"/>
                <a:cs typeface="Calibri"/>
              </a:rPr>
              <a:t> </a:t>
            </a:r>
            <a:r>
              <a:rPr sz="1800" spc="-10" dirty="0">
                <a:latin typeface="Calibri"/>
                <a:cs typeface="Calibri"/>
              </a:rPr>
              <a:t>systems.</a:t>
            </a:r>
            <a:endParaRPr sz="1800">
              <a:latin typeface="Calibri"/>
              <a:cs typeface="Calibri"/>
            </a:endParaRPr>
          </a:p>
          <a:p>
            <a:pPr marL="12700" marR="5080">
              <a:lnSpc>
                <a:spcPct val="171200"/>
              </a:lnSpc>
              <a:spcBef>
                <a:spcPts val="25"/>
              </a:spcBef>
            </a:pPr>
            <a:r>
              <a:rPr sz="1800" dirty="0">
                <a:latin typeface="Calibri"/>
                <a:cs typeface="Calibri"/>
              </a:rPr>
              <a:t>If</a:t>
            </a:r>
            <a:r>
              <a:rPr sz="1800" spc="-55" dirty="0">
                <a:latin typeface="Calibri"/>
                <a:cs typeface="Calibri"/>
              </a:rPr>
              <a:t> </a:t>
            </a:r>
            <a:r>
              <a:rPr sz="1800" spc="-20" dirty="0">
                <a:latin typeface="Calibri"/>
                <a:cs typeface="Calibri"/>
              </a:rPr>
              <a:t>successful,</a:t>
            </a:r>
            <a:r>
              <a:rPr sz="1800" spc="-55" dirty="0">
                <a:latin typeface="Calibri"/>
                <a:cs typeface="Calibri"/>
              </a:rPr>
              <a:t> </a:t>
            </a:r>
            <a:r>
              <a:rPr sz="1800" dirty="0">
                <a:latin typeface="Calibri"/>
                <a:cs typeface="Calibri"/>
              </a:rPr>
              <a:t>this</a:t>
            </a:r>
            <a:r>
              <a:rPr sz="1800" spc="-45" dirty="0">
                <a:latin typeface="Calibri"/>
                <a:cs typeface="Calibri"/>
              </a:rPr>
              <a:t> </a:t>
            </a:r>
            <a:r>
              <a:rPr sz="1800" spc="-10" dirty="0">
                <a:latin typeface="Calibri"/>
                <a:cs typeface="Calibri"/>
              </a:rPr>
              <a:t>system</a:t>
            </a:r>
            <a:r>
              <a:rPr sz="1800" spc="-60" dirty="0">
                <a:latin typeface="Calibri"/>
                <a:cs typeface="Calibri"/>
              </a:rPr>
              <a:t> </a:t>
            </a:r>
            <a:r>
              <a:rPr sz="1800" dirty="0">
                <a:latin typeface="Calibri"/>
                <a:cs typeface="Calibri"/>
              </a:rPr>
              <a:t>can</a:t>
            </a:r>
            <a:r>
              <a:rPr sz="1800" spc="-40" dirty="0">
                <a:latin typeface="Calibri"/>
                <a:cs typeface="Calibri"/>
              </a:rPr>
              <a:t> </a:t>
            </a:r>
            <a:r>
              <a:rPr sz="1800" dirty="0">
                <a:latin typeface="Calibri"/>
                <a:cs typeface="Calibri"/>
              </a:rPr>
              <a:t>be</a:t>
            </a:r>
            <a:r>
              <a:rPr sz="1800" spc="-70" dirty="0">
                <a:latin typeface="Calibri"/>
                <a:cs typeface="Calibri"/>
              </a:rPr>
              <a:t> </a:t>
            </a:r>
            <a:r>
              <a:rPr sz="1800" spc="-10" dirty="0">
                <a:latin typeface="Calibri"/>
                <a:cs typeface="Calibri"/>
              </a:rPr>
              <a:t>adapted</a:t>
            </a:r>
            <a:r>
              <a:rPr sz="1800" spc="-65" dirty="0">
                <a:latin typeface="Calibri"/>
                <a:cs typeface="Calibri"/>
              </a:rPr>
              <a:t> </a:t>
            </a:r>
            <a:r>
              <a:rPr sz="1800" dirty="0">
                <a:latin typeface="Calibri"/>
                <a:cs typeface="Calibri"/>
              </a:rPr>
              <a:t>for</a:t>
            </a:r>
            <a:r>
              <a:rPr sz="1800" spc="-65" dirty="0">
                <a:latin typeface="Calibri"/>
                <a:cs typeface="Calibri"/>
              </a:rPr>
              <a:t> </a:t>
            </a:r>
            <a:r>
              <a:rPr sz="1800" spc="-10" dirty="0">
                <a:latin typeface="Calibri"/>
                <a:cs typeface="Calibri"/>
              </a:rPr>
              <a:t>other</a:t>
            </a:r>
            <a:r>
              <a:rPr sz="1800" spc="-65" dirty="0">
                <a:latin typeface="Calibri"/>
                <a:cs typeface="Calibri"/>
              </a:rPr>
              <a:t> </a:t>
            </a:r>
            <a:r>
              <a:rPr sz="1800" dirty="0">
                <a:latin typeface="Calibri"/>
                <a:cs typeface="Calibri"/>
              </a:rPr>
              <a:t>rare</a:t>
            </a:r>
            <a:r>
              <a:rPr sz="1800" spc="-45" dirty="0">
                <a:latin typeface="Calibri"/>
                <a:cs typeface="Calibri"/>
              </a:rPr>
              <a:t> </a:t>
            </a:r>
            <a:r>
              <a:rPr sz="1800" spc="-10" dirty="0">
                <a:latin typeface="Calibri"/>
                <a:cs typeface="Calibri"/>
              </a:rPr>
              <a:t>disease</a:t>
            </a:r>
            <a:r>
              <a:rPr sz="1800" spc="-70" dirty="0">
                <a:latin typeface="Calibri"/>
                <a:cs typeface="Calibri"/>
              </a:rPr>
              <a:t> </a:t>
            </a:r>
            <a:r>
              <a:rPr sz="1800" spc="-10" dirty="0">
                <a:latin typeface="Calibri"/>
                <a:cs typeface="Calibri"/>
              </a:rPr>
              <a:t>applications</a:t>
            </a:r>
            <a:r>
              <a:rPr sz="1800" spc="-65" dirty="0">
                <a:latin typeface="Calibri"/>
                <a:cs typeface="Calibri"/>
              </a:rPr>
              <a:t> </a:t>
            </a:r>
            <a:r>
              <a:rPr sz="1800" dirty="0">
                <a:latin typeface="Calibri"/>
                <a:cs typeface="Calibri"/>
              </a:rPr>
              <a:t>and</a:t>
            </a:r>
            <a:r>
              <a:rPr sz="1800" spc="-70" dirty="0">
                <a:latin typeface="Calibri"/>
                <a:cs typeface="Calibri"/>
              </a:rPr>
              <a:t> </a:t>
            </a:r>
            <a:r>
              <a:rPr sz="1800" spc="-10" dirty="0">
                <a:latin typeface="Calibri"/>
                <a:cs typeface="Calibri"/>
              </a:rPr>
              <a:t>integrated</a:t>
            </a:r>
            <a:r>
              <a:rPr sz="1800" spc="-45" dirty="0">
                <a:latin typeface="Calibri"/>
                <a:cs typeface="Calibri"/>
              </a:rPr>
              <a:t> </a:t>
            </a:r>
            <a:r>
              <a:rPr sz="1800" dirty="0">
                <a:latin typeface="Calibri"/>
                <a:cs typeface="Calibri"/>
              </a:rPr>
              <a:t>into</a:t>
            </a:r>
            <a:r>
              <a:rPr sz="1800" spc="-55" dirty="0">
                <a:latin typeface="Calibri"/>
                <a:cs typeface="Calibri"/>
              </a:rPr>
              <a:t> </a:t>
            </a:r>
            <a:r>
              <a:rPr sz="1800" spc="-20" dirty="0">
                <a:latin typeface="Calibri"/>
                <a:cs typeface="Calibri"/>
              </a:rPr>
              <a:t>telemedicine</a:t>
            </a:r>
            <a:r>
              <a:rPr sz="1800" spc="-40" dirty="0">
                <a:latin typeface="Calibri"/>
                <a:cs typeface="Calibri"/>
              </a:rPr>
              <a:t> </a:t>
            </a:r>
            <a:r>
              <a:rPr sz="1800" spc="-10" dirty="0">
                <a:latin typeface="Calibri"/>
                <a:cs typeface="Calibri"/>
              </a:rPr>
              <a:t>platforms, particularly</a:t>
            </a:r>
            <a:r>
              <a:rPr sz="1800" spc="-15" dirty="0">
                <a:latin typeface="Calibri"/>
                <a:cs typeface="Calibri"/>
              </a:rPr>
              <a:t> </a:t>
            </a:r>
            <a:r>
              <a:rPr sz="1800" dirty="0">
                <a:latin typeface="Calibri"/>
                <a:cs typeface="Calibri"/>
              </a:rPr>
              <a:t>in</a:t>
            </a:r>
            <a:r>
              <a:rPr sz="1800" spc="-55" dirty="0">
                <a:latin typeface="Calibri"/>
                <a:cs typeface="Calibri"/>
              </a:rPr>
              <a:t> </a:t>
            </a:r>
            <a:r>
              <a:rPr sz="1800" spc="-20" dirty="0">
                <a:latin typeface="Calibri"/>
                <a:cs typeface="Calibri"/>
              </a:rPr>
              <a:t>underserved</a:t>
            </a:r>
            <a:r>
              <a:rPr sz="1800" spc="-75" dirty="0">
                <a:latin typeface="Calibri"/>
                <a:cs typeface="Calibri"/>
              </a:rPr>
              <a:t> </a:t>
            </a:r>
            <a:r>
              <a:rPr sz="1800" dirty="0">
                <a:latin typeface="Calibri"/>
                <a:cs typeface="Calibri"/>
              </a:rPr>
              <a:t>or</a:t>
            </a:r>
            <a:r>
              <a:rPr sz="1800" spc="-40" dirty="0">
                <a:latin typeface="Calibri"/>
                <a:cs typeface="Calibri"/>
              </a:rPr>
              <a:t> </a:t>
            </a:r>
            <a:r>
              <a:rPr sz="1800" spc="-10" dirty="0">
                <a:latin typeface="Calibri"/>
                <a:cs typeface="Calibri"/>
              </a:rPr>
              <a:t>remote</a:t>
            </a:r>
            <a:r>
              <a:rPr sz="1800" spc="-50" dirty="0">
                <a:latin typeface="Calibri"/>
                <a:cs typeface="Calibri"/>
              </a:rPr>
              <a:t> </a:t>
            </a:r>
            <a:r>
              <a:rPr sz="1800" spc="-10" dirty="0">
                <a:latin typeface="Calibri"/>
                <a:cs typeface="Calibri"/>
              </a:rPr>
              <a:t>areas.</a:t>
            </a:r>
            <a:endParaRPr sz="18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8060" y="0"/>
            <a:ext cx="10515600" cy="1325563"/>
          </a:xfrm>
          <a:prstGeom prst="rect">
            <a:avLst/>
          </a:prstGeom>
        </p:spPr>
        <p:txBody>
          <a:bodyPr vert="horz" wrap="square" lIns="0" tIns="244093" rIns="0" bIns="0" rtlCol="0">
            <a:spAutoFit/>
          </a:bodyPr>
          <a:lstStyle/>
          <a:p>
            <a:pPr marL="128270">
              <a:lnSpc>
                <a:spcPct val="100000"/>
              </a:lnSpc>
              <a:spcBef>
                <a:spcPts val="95"/>
              </a:spcBef>
            </a:pPr>
            <a:r>
              <a:rPr spc="-10" dirty="0"/>
              <a:t>References</a:t>
            </a:r>
          </a:p>
        </p:txBody>
      </p:sp>
      <p:sp>
        <p:nvSpPr>
          <p:cNvPr id="3" name="object 3"/>
          <p:cNvSpPr txBox="1"/>
          <p:nvPr/>
        </p:nvSpPr>
        <p:spPr>
          <a:xfrm>
            <a:off x="588060" y="1231519"/>
            <a:ext cx="10755630" cy="5005070"/>
          </a:xfrm>
          <a:prstGeom prst="rect">
            <a:avLst/>
          </a:prstGeom>
        </p:spPr>
        <p:txBody>
          <a:bodyPr vert="horz" wrap="square" lIns="0" tIns="12700" rIns="0" bIns="0" rtlCol="0">
            <a:spAutoFit/>
          </a:bodyPr>
          <a:lstStyle/>
          <a:p>
            <a:pPr marL="506095" indent="-493395">
              <a:lnSpc>
                <a:spcPct val="100000"/>
              </a:lnSpc>
              <a:spcBef>
                <a:spcPts val="100"/>
              </a:spcBef>
              <a:buSzPct val="66666"/>
              <a:buFont typeface="Cambria"/>
              <a:buAutoNum type="arabicPlain"/>
              <a:tabLst>
                <a:tab pos="506095" algn="l"/>
              </a:tabLst>
            </a:pPr>
            <a:r>
              <a:rPr sz="1800" dirty="0">
                <a:latin typeface="Calibri"/>
                <a:cs typeface="Calibri"/>
              </a:rPr>
              <a:t>[1]</a:t>
            </a:r>
            <a:r>
              <a:rPr sz="1800" spc="325" dirty="0">
                <a:latin typeface="Calibri"/>
                <a:cs typeface="Calibri"/>
              </a:rPr>
              <a:t> </a:t>
            </a:r>
            <a:r>
              <a:rPr sz="1800" dirty="0">
                <a:latin typeface="Calibri"/>
                <a:cs typeface="Calibri"/>
              </a:rPr>
              <a:t>Kumar,</a:t>
            </a:r>
            <a:r>
              <a:rPr sz="1800" spc="325" dirty="0">
                <a:latin typeface="Calibri"/>
                <a:cs typeface="Calibri"/>
              </a:rPr>
              <a:t> </a:t>
            </a:r>
            <a:r>
              <a:rPr sz="1800" dirty="0">
                <a:latin typeface="Calibri"/>
                <a:cs typeface="Calibri"/>
              </a:rPr>
              <a:t>D.,</a:t>
            </a:r>
            <a:r>
              <a:rPr sz="1800" spc="330" dirty="0">
                <a:latin typeface="Calibri"/>
                <a:cs typeface="Calibri"/>
              </a:rPr>
              <a:t> </a:t>
            </a:r>
            <a:r>
              <a:rPr sz="1800" dirty="0">
                <a:latin typeface="Calibri"/>
                <a:cs typeface="Calibri"/>
              </a:rPr>
              <a:t>Sethi,</a:t>
            </a:r>
            <a:r>
              <a:rPr sz="1800" spc="330" dirty="0">
                <a:latin typeface="Calibri"/>
                <a:cs typeface="Calibri"/>
              </a:rPr>
              <a:t> </a:t>
            </a:r>
            <a:r>
              <a:rPr sz="1800" dirty="0">
                <a:latin typeface="Calibri"/>
                <a:cs typeface="Calibri"/>
              </a:rPr>
              <a:t>S.,</a:t>
            </a:r>
            <a:r>
              <a:rPr sz="1800" spc="335" dirty="0">
                <a:latin typeface="Calibri"/>
                <a:cs typeface="Calibri"/>
              </a:rPr>
              <a:t> </a:t>
            </a:r>
            <a:r>
              <a:rPr sz="1800" dirty="0">
                <a:latin typeface="Calibri"/>
                <a:cs typeface="Calibri"/>
              </a:rPr>
              <a:t>&amp;</a:t>
            </a:r>
            <a:r>
              <a:rPr sz="1800" spc="320" dirty="0">
                <a:latin typeface="Calibri"/>
                <a:cs typeface="Calibri"/>
              </a:rPr>
              <a:t> </a:t>
            </a:r>
            <a:r>
              <a:rPr sz="1800" dirty="0">
                <a:latin typeface="Calibri"/>
                <a:cs typeface="Calibri"/>
              </a:rPr>
              <a:t>Arora,</a:t>
            </a:r>
            <a:r>
              <a:rPr sz="1800" spc="330" dirty="0">
                <a:latin typeface="Calibri"/>
                <a:cs typeface="Calibri"/>
              </a:rPr>
              <a:t> </a:t>
            </a:r>
            <a:r>
              <a:rPr sz="1800" dirty="0">
                <a:latin typeface="Calibri"/>
                <a:cs typeface="Calibri"/>
              </a:rPr>
              <a:t>A.</a:t>
            </a:r>
            <a:r>
              <a:rPr sz="1800" spc="325" dirty="0">
                <a:latin typeface="Calibri"/>
                <a:cs typeface="Calibri"/>
              </a:rPr>
              <a:t> </a:t>
            </a:r>
            <a:r>
              <a:rPr sz="1800" dirty="0">
                <a:latin typeface="Calibri"/>
                <a:cs typeface="Calibri"/>
              </a:rPr>
              <a:t>(2020).</a:t>
            </a:r>
            <a:r>
              <a:rPr sz="1800" spc="370" dirty="0">
                <a:latin typeface="Calibri"/>
                <a:cs typeface="Calibri"/>
              </a:rPr>
              <a:t> </a:t>
            </a:r>
            <a:r>
              <a:rPr sz="1800" i="1" dirty="0">
                <a:latin typeface="Calibri"/>
                <a:cs typeface="Calibri"/>
              </a:rPr>
              <a:t>Brain</a:t>
            </a:r>
            <a:r>
              <a:rPr sz="1800" i="1" spc="310" dirty="0">
                <a:latin typeface="Calibri"/>
                <a:cs typeface="Calibri"/>
              </a:rPr>
              <a:t> </a:t>
            </a:r>
            <a:r>
              <a:rPr sz="1800" i="1" dirty="0">
                <a:latin typeface="Calibri"/>
                <a:cs typeface="Calibri"/>
              </a:rPr>
              <a:t>Tumor</a:t>
            </a:r>
            <a:r>
              <a:rPr sz="1800" i="1" spc="330" dirty="0">
                <a:latin typeface="Calibri"/>
                <a:cs typeface="Calibri"/>
              </a:rPr>
              <a:t> </a:t>
            </a:r>
            <a:r>
              <a:rPr sz="1800" i="1" dirty="0">
                <a:latin typeface="Calibri"/>
                <a:cs typeface="Calibri"/>
              </a:rPr>
              <a:t>Detection</a:t>
            </a:r>
            <a:r>
              <a:rPr sz="1800" i="1" spc="335" dirty="0">
                <a:latin typeface="Calibri"/>
                <a:cs typeface="Calibri"/>
              </a:rPr>
              <a:t> </a:t>
            </a:r>
            <a:r>
              <a:rPr sz="1800" i="1" dirty="0">
                <a:latin typeface="Calibri"/>
                <a:cs typeface="Calibri"/>
              </a:rPr>
              <a:t>Using</a:t>
            </a:r>
            <a:r>
              <a:rPr sz="1800" i="1" spc="335" dirty="0">
                <a:latin typeface="Calibri"/>
                <a:cs typeface="Calibri"/>
              </a:rPr>
              <a:t> </a:t>
            </a:r>
            <a:r>
              <a:rPr sz="1800" i="1" dirty="0">
                <a:latin typeface="Calibri"/>
                <a:cs typeface="Calibri"/>
              </a:rPr>
              <a:t>Convolutional</a:t>
            </a:r>
            <a:r>
              <a:rPr sz="1800" i="1" spc="320" dirty="0">
                <a:latin typeface="Calibri"/>
                <a:cs typeface="Calibri"/>
              </a:rPr>
              <a:t> </a:t>
            </a:r>
            <a:r>
              <a:rPr sz="1800" i="1" dirty="0">
                <a:latin typeface="Calibri"/>
                <a:cs typeface="Calibri"/>
              </a:rPr>
              <a:t>Neural</a:t>
            </a:r>
            <a:r>
              <a:rPr sz="1800" i="1" spc="320" dirty="0">
                <a:latin typeface="Calibri"/>
                <a:cs typeface="Calibri"/>
              </a:rPr>
              <a:t> </a:t>
            </a:r>
            <a:r>
              <a:rPr sz="1800" i="1" spc="-10" dirty="0">
                <a:latin typeface="Calibri"/>
                <a:cs typeface="Calibri"/>
              </a:rPr>
              <a:t>Network.</a:t>
            </a:r>
            <a:endParaRPr sz="1800" dirty="0">
              <a:latin typeface="Calibri"/>
              <a:cs typeface="Calibri"/>
            </a:endParaRPr>
          </a:p>
          <a:p>
            <a:pPr marL="12700">
              <a:lnSpc>
                <a:spcPct val="100000"/>
              </a:lnSpc>
              <a:spcBef>
                <a:spcPts val="1535"/>
              </a:spcBef>
            </a:pPr>
            <a:r>
              <a:rPr sz="1800" dirty="0">
                <a:latin typeface="Calibri"/>
                <a:cs typeface="Calibri"/>
              </a:rPr>
              <a:t>International</a:t>
            </a:r>
            <a:r>
              <a:rPr sz="1800" spc="-55" dirty="0">
                <a:latin typeface="Calibri"/>
                <a:cs typeface="Calibri"/>
              </a:rPr>
              <a:t> </a:t>
            </a:r>
            <a:r>
              <a:rPr sz="1800" dirty="0">
                <a:latin typeface="Calibri"/>
                <a:cs typeface="Calibri"/>
              </a:rPr>
              <a:t>Journal</a:t>
            </a:r>
            <a:r>
              <a:rPr sz="1800" spc="-50"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Engineering</a:t>
            </a:r>
            <a:r>
              <a:rPr sz="1800" spc="-60" dirty="0">
                <a:latin typeface="Calibri"/>
                <a:cs typeface="Calibri"/>
              </a:rPr>
              <a:t> </a:t>
            </a:r>
            <a:r>
              <a:rPr sz="1800" dirty="0">
                <a:latin typeface="Calibri"/>
                <a:cs typeface="Calibri"/>
              </a:rPr>
              <a:t>Research</a:t>
            </a:r>
            <a:r>
              <a:rPr sz="1800" spc="-40" dirty="0">
                <a:latin typeface="Calibri"/>
                <a:cs typeface="Calibri"/>
              </a:rPr>
              <a:t> </a:t>
            </a:r>
            <a:r>
              <a:rPr sz="1800" dirty="0">
                <a:latin typeface="Calibri"/>
                <a:cs typeface="Calibri"/>
              </a:rPr>
              <a:t>&amp;</a:t>
            </a:r>
            <a:r>
              <a:rPr sz="1800" spc="-50" dirty="0">
                <a:latin typeface="Calibri"/>
                <a:cs typeface="Calibri"/>
              </a:rPr>
              <a:t> </a:t>
            </a:r>
            <a:r>
              <a:rPr sz="1800" dirty="0">
                <a:latin typeface="Calibri"/>
                <a:cs typeface="Calibri"/>
              </a:rPr>
              <a:t>Technology</a:t>
            </a:r>
            <a:r>
              <a:rPr sz="1800" spc="-55" dirty="0">
                <a:latin typeface="Calibri"/>
                <a:cs typeface="Calibri"/>
              </a:rPr>
              <a:t> </a:t>
            </a:r>
            <a:r>
              <a:rPr sz="1800" dirty="0">
                <a:latin typeface="Calibri"/>
                <a:cs typeface="Calibri"/>
              </a:rPr>
              <a:t>(IJERT),</a:t>
            </a:r>
            <a:r>
              <a:rPr sz="1800" spc="-50" dirty="0">
                <a:latin typeface="Calibri"/>
                <a:cs typeface="Calibri"/>
              </a:rPr>
              <a:t> </a:t>
            </a:r>
            <a:r>
              <a:rPr sz="1800" dirty="0">
                <a:latin typeface="Calibri"/>
                <a:cs typeface="Calibri"/>
              </a:rPr>
              <a:t>Vol.</a:t>
            </a:r>
            <a:r>
              <a:rPr sz="1800" spc="-50" dirty="0">
                <a:latin typeface="Calibri"/>
                <a:cs typeface="Calibri"/>
              </a:rPr>
              <a:t> </a:t>
            </a:r>
            <a:r>
              <a:rPr sz="1800" dirty="0">
                <a:latin typeface="Calibri"/>
                <a:cs typeface="Calibri"/>
              </a:rPr>
              <a:t>9</a:t>
            </a:r>
            <a:r>
              <a:rPr sz="1800" spc="-50" dirty="0">
                <a:latin typeface="Calibri"/>
                <a:cs typeface="Calibri"/>
              </a:rPr>
              <a:t> </a:t>
            </a:r>
            <a:r>
              <a:rPr sz="1800" dirty="0">
                <a:latin typeface="Calibri"/>
                <a:cs typeface="Calibri"/>
              </a:rPr>
              <a:t>Issue</a:t>
            </a:r>
            <a:r>
              <a:rPr sz="1800" spc="-60" dirty="0">
                <a:latin typeface="Calibri"/>
                <a:cs typeface="Calibri"/>
              </a:rPr>
              <a:t> </a:t>
            </a:r>
            <a:r>
              <a:rPr sz="1800" spc="-25" dirty="0">
                <a:latin typeface="Calibri"/>
                <a:cs typeface="Calibri"/>
              </a:rPr>
              <a:t>8.</a:t>
            </a:r>
            <a:endParaRPr sz="1800" dirty="0">
              <a:latin typeface="Calibri"/>
              <a:cs typeface="Calibri"/>
            </a:endParaRPr>
          </a:p>
          <a:p>
            <a:pPr marL="506095" indent="-493395">
              <a:lnSpc>
                <a:spcPct val="100000"/>
              </a:lnSpc>
              <a:spcBef>
                <a:spcPts val="1540"/>
              </a:spcBef>
              <a:buSzPct val="66666"/>
              <a:buFont typeface="Cambria"/>
              <a:buAutoNum type="arabicPlain" startAt="2"/>
              <a:tabLst>
                <a:tab pos="506095" algn="l"/>
              </a:tabLst>
            </a:pPr>
            <a:r>
              <a:rPr sz="1800" dirty="0">
                <a:latin typeface="Calibri"/>
                <a:cs typeface="Calibri"/>
              </a:rPr>
              <a:t>Rani,</a:t>
            </a:r>
            <a:r>
              <a:rPr sz="1800" spc="-40" dirty="0">
                <a:latin typeface="Calibri"/>
                <a:cs typeface="Calibri"/>
              </a:rPr>
              <a:t> </a:t>
            </a:r>
            <a:r>
              <a:rPr sz="1800" dirty="0">
                <a:latin typeface="Calibri"/>
                <a:cs typeface="Calibri"/>
              </a:rPr>
              <a:t>A.,</a:t>
            </a:r>
            <a:r>
              <a:rPr sz="1800" spc="-30" dirty="0">
                <a:latin typeface="Calibri"/>
                <a:cs typeface="Calibri"/>
              </a:rPr>
              <a:t> </a:t>
            </a:r>
            <a:r>
              <a:rPr sz="1800" dirty="0">
                <a:latin typeface="Calibri"/>
                <a:cs typeface="Calibri"/>
              </a:rPr>
              <a:t>&amp;</a:t>
            </a:r>
            <a:r>
              <a:rPr sz="1800" spc="-45" dirty="0">
                <a:latin typeface="Calibri"/>
                <a:cs typeface="Calibri"/>
              </a:rPr>
              <a:t> </a:t>
            </a:r>
            <a:r>
              <a:rPr sz="1800" dirty="0">
                <a:latin typeface="Calibri"/>
                <a:cs typeface="Calibri"/>
              </a:rPr>
              <a:t>Kaur,</a:t>
            </a:r>
            <a:r>
              <a:rPr sz="1800" spc="-35" dirty="0">
                <a:latin typeface="Calibri"/>
                <a:cs typeface="Calibri"/>
              </a:rPr>
              <a:t> </a:t>
            </a:r>
            <a:r>
              <a:rPr sz="1800" dirty="0">
                <a:latin typeface="Calibri"/>
                <a:cs typeface="Calibri"/>
              </a:rPr>
              <a:t>P.</a:t>
            </a:r>
            <a:r>
              <a:rPr sz="1800" spc="-40" dirty="0">
                <a:latin typeface="Calibri"/>
                <a:cs typeface="Calibri"/>
              </a:rPr>
              <a:t> </a:t>
            </a:r>
            <a:r>
              <a:rPr sz="1800" dirty="0">
                <a:latin typeface="Calibri"/>
                <a:cs typeface="Calibri"/>
              </a:rPr>
              <a:t>(2021).</a:t>
            </a:r>
            <a:r>
              <a:rPr sz="1800" spc="-20" dirty="0">
                <a:latin typeface="Calibri"/>
                <a:cs typeface="Calibri"/>
              </a:rPr>
              <a:t> </a:t>
            </a:r>
            <a:r>
              <a:rPr sz="1800" i="1" dirty="0">
                <a:latin typeface="Calibri"/>
                <a:cs typeface="Calibri"/>
              </a:rPr>
              <a:t>Deep</a:t>
            </a:r>
            <a:r>
              <a:rPr sz="1800" i="1" spc="-50" dirty="0">
                <a:latin typeface="Calibri"/>
                <a:cs typeface="Calibri"/>
              </a:rPr>
              <a:t> </a:t>
            </a:r>
            <a:r>
              <a:rPr sz="1800" i="1" dirty="0">
                <a:latin typeface="Calibri"/>
                <a:cs typeface="Calibri"/>
              </a:rPr>
              <a:t>Learning</a:t>
            </a:r>
            <a:r>
              <a:rPr sz="1800" i="1" spc="-30" dirty="0">
                <a:latin typeface="Calibri"/>
                <a:cs typeface="Calibri"/>
              </a:rPr>
              <a:t> </a:t>
            </a:r>
            <a:r>
              <a:rPr sz="1800" i="1" dirty="0">
                <a:latin typeface="Calibri"/>
                <a:cs typeface="Calibri"/>
              </a:rPr>
              <a:t>Based</a:t>
            </a:r>
            <a:r>
              <a:rPr sz="1800" i="1" spc="-35" dirty="0">
                <a:latin typeface="Calibri"/>
                <a:cs typeface="Calibri"/>
              </a:rPr>
              <a:t> </a:t>
            </a:r>
            <a:r>
              <a:rPr sz="1800" i="1" dirty="0">
                <a:latin typeface="Calibri"/>
                <a:cs typeface="Calibri"/>
              </a:rPr>
              <a:t>Brain</a:t>
            </a:r>
            <a:r>
              <a:rPr sz="1800" i="1" spc="-30" dirty="0">
                <a:latin typeface="Calibri"/>
                <a:cs typeface="Calibri"/>
              </a:rPr>
              <a:t> </a:t>
            </a:r>
            <a:r>
              <a:rPr sz="1800" i="1" dirty="0">
                <a:latin typeface="Calibri"/>
                <a:cs typeface="Calibri"/>
              </a:rPr>
              <a:t>Tumor</a:t>
            </a:r>
            <a:r>
              <a:rPr sz="1800" i="1" spc="-35" dirty="0">
                <a:latin typeface="Calibri"/>
                <a:cs typeface="Calibri"/>
              </a:rPr>
              <a:t> </a:t>
            </a:r>
            <a:r>
              <a:rPr sz="1800" i="1" dirty="0">
                <a:latin typeface="Calibri"/>
                <a:cs typeface="Calibri"/>
              </a:rPr>
              <a:t>Detection</a:t>
            </a:r>
            <a:r>
              <a:rPr sz="1800" i="1" spc="-30" dirty="0">
                <a:latin typeface="Calibri"/>
                <a:cs typeface="Calibri"/>
              </a:rPr>
              <a:t> </a:t>
            </a:r>
            <a:r>
              <a:rPr sz="1800" i="1" spc="-10" dirty="0">
                <a:latin typeface="Calibri"/>
                <a:cs typeface="Calibri"/>
              </a:rPr>
              <a:t>Using</a:t>
            </a:r>
            <a:endParaRPr sz="1800" dirty="0">
              <a:latin typeface="Calibri"/>
              <a:cs typeface="Calibri"/>
            </a:endParaRPr>
          </a:p>
          <a:p>
            <a:pPr marL="36830" marR="18415">
              <a:lnSpc>
                <a:spcPct val="171200"/>
              </a:lnSpc>
              <a:spcBef>
                <a:spcPts val="25"/>
              </a:spcBef>
            </a:pPr>
            <a:r>
              <a:rPr sz="1800" i="1" dirty="0">
                <a:latin typeface="Calibri"/>
                <a:cs typeface="Calibri"/>
              </a:rPr>
              <a:t>MRI</a:t>
            </a:r>
            <a:r>
              <a:rPr sz="1800" i="1" spc="70" dirty="0">
                <a:latin typeface="Calibri"/>
                <a:cs typeface="Calibri"/>
              </a:rPr>
              <a:t> </a:t>
            </a:r>
            <a:r>
              <a:rPr sz="1800" i="1" dirty="0">
                <a:latin typeface="Calibri"/>
                <a:cs typeface="Calibri"/>
              </a:rPr>
              <a:t>Images.</a:t>
            </a:r>
            <a:r>
              <a:rPr sz="1800" i="1" spc="90" dirty="0">
                <a:latin typeface="Calibri"/>
                <a:cs typeface="Calibri"/>
              </a:rPr>
              <a:t> </a:t>
            </a:r>
            <a:r>
              <a:rPr sz="1800" dirty="0">
                <a:latin typeface="Calibri"/>
                <a:cs typeface="Calibri"/>
              </a:rPr>
              <a:t>International</a:t>
            </a:r>
            <a:r>
              <a:rPr sz="1800" spc="70" dirty="0">
                <a:latin typeface="Calibri"/>
                <a:cs typeface="Calibri"/>
              </a:rPr>
              <a:t> </a:t>
            </a:r>
            <a:r>
              <a:rPr sz="1800" dirty="0">
                <a:latin typeface="Calibri"/>
                <a:cs typeface="Calibri"/>
              </a:rPr>
              <a:t>Journal</a:t>
            </a:r>
            <a:r>
              <a:rPr sz="1800" spc="70" dirty="0">
                <a:latin typeface="Calibri"/>
                <a:cs typeface="Calibri"/>
              </a:rPr>
              <a:t> </a:t>
            </a:r>
            <a:r>
              <a:rPr sz="1800" dirty="0">
                <a:latin typeface="Calibri"/>
                <a:cs typeface="Calibri"/>
              </a:rPr>
              <a:t>for</a:t>
            </a:r>
            <a:r>
              <a:rPr sz="1800" spc="70" dirty="0">
                <a:latin typeface="Calibri"/>
                <a:cs typeface="Calibri"/>
              </a:rPr>
              <a:t> </a:t>
            </a:r>
            <a:r>
              <a:rPr sz="1800" dirty="0">
                <a:latin typeface="Calibri"/>
                <a:cs typeface="Calibri"/>
              </a:rPr>
              <a:t>Research</a:t>
            </a:r>
            <a:r>
              <a:rPr sz="1800" spc="65" dirty="0">
                <a:latin typeface="Calibri"/>
                <a:cs typeface="Calibri"/>
              </a:rPr>
              <a:t> </a:t>
            </a:r>
            <a:r>
              <a:rPr sz="1800" dirty="0">
                <a:latin typeface="Calibri"/>
                <a:cs typeface="Calibri"/>
              </a:rPr>
              <a:t>in</a:t>
            </a:r>
            <a:r>
              <a:rPr sz="1800" spc="60" dirty="0">
                <a:latin typeface="Calibri"/>
                <a:cs typeface="Calibri"/>
              </a:rPr>
              <a:t> </a:t>
            </a:r>
            <a:r>
              <a:rPr sz="1800" dirty="0">
                <a:latin typeface="Calibri"/>
                <a:cs typeface="Calibri"/>
              </a:rPr>
              <a:t>Applied</a:t>
            </a:r>
            <a:r>
              <a:rPr sz="1800" spc="85" dirty="0">
                <a:latin typeface="Calibri"/>
                <a:cs typeface="Calibri"/>
              </a:rPr>
              <a:t> </a:t>
            </a:r>
            <a:r>
              <a:rPr sz="1800" dirty="0">
                <a:latin typeface="Calibri"/>
                <a:cs typeface="Calibri"/>
              </a:rPr>
              <a:t>Science</a:t>
            </a:r>
            <a:r>
              <a:rPr sz="1800" spc="65" dirty="0">
                <a:latin typeface="Calibri"/>
                <a:cs typeface="Calibri"/>
              </a:rPr>
              <a:t> </a:t>
            </a:r>
            <a:r>
              <a:rPr sz="1800" dirty="0">
                <a:latin typeface="Calibri"/>
                <a:cs typeface="Calibri"/>
              </a:rPr>
              <a:t>&amp;</a:t>
            </a:r>
            <a:r>
              <a:rPr sz="1800" spc="65" dirty="0">
                <a:latin typeface="Calibri"/>
                <a:cs typeface="Calibri"/>
              </a:rPr>
              <a:t> </a:t>
            </a:r>
            <a:r>
              <a:rPr sz="1800" dirty="0">
                <a:latin typeface="Calibri"/>
                <a:cs typeface="Calibri"/>
              </a:rPr>
              <a:t>Engineering</a:t>
            </a:r>
            <a:r>
              <a:rPr sz="1800" spc="85" dirty="0">
                <a:latin typeface="Calibri"/>
                <a:cs typeface="Calibri"/>
              </a:rPr>
              <a:t> </a:t>
            </a:r>
            <a:r>
              <a:rPr sz="1800" dirty="0">
                <a:latin typeface="Calibri"/>
                <a:cs typeface="Calibri"/>
              </a:rPr>
              <a:t>Technology</a:t>
            </a:r>
            <a:r>
              <a:rPr sz="1800" spc="75" dirty="0">
                <a:latin typeface="Calibri"/>
                <a:cs typeface="Calibri"/>
              </a:rPr>
              <a:t> </a:t>
            </a:r>
            <a:r>
              <a:rPr sz="1800" dirty="0">
                <a:latin typeface="Calibri"/>
                <a:cs typeface="Calibri"/>
              </a:rPr>
              <a:t>(IJRASET),</a:t>
            </a:r>
            <a:r>
              <a:rPr sz="1800" spc="75" dirty="0">
                <a:latin typeface="Calibri"/>
                <a:cs typeface="Calibri"/>
              </a:rPr>
              <a:t> </a:t>
            </a:r>
            <a:r>
              <a:rPr sz="1800" dirty="0">
                <a:latin typeface="Calibri"/>
                <a:cs typeface="Calibri"/>
              </a:rPr>
              <a:t>Volume</a:t>
            </a:r>
            <a:r>
              <a:rPr sz="1800" spc="65" dirty="0">
                <a:latin typeface="Calibri"/>
                <a:cs typeface="Calibri"/>
              </a:rPr>
              <a:t> </a:t>
            </a:r>
            <a:r>
              <a:rPr sz="1800" spc="-50" dirty="0">
                <a:latin typeface="Calibri"/>
                <a:cs typeface="Calibri"/>
              </a:rPr>
              <a:t>9 </a:t>
            </a:r>
            <a:r>
              <a:rPr sz="1800" dirty="0">
                <a:latin typeface="Calibri"/>
                <a:cs typeface="Calibri"/>
              </a:rPr>
              <a:t>Issue</a:t>
            </a:r>
            <a:r>
              <a:rPr sz="1800" spc="-65" dirty="0">
                <a:latin typeface="Calibri"/>
                <a:cs typeface="Calibri"/>
              </a:rPr>
              <a:t> </a:t>
            </a:r>
            <a:r>
              <a:rPr sz="1800" spc="-25" dirty="0">
                <a:latin typeface="Calibri"/>
                <a:cs typeface="Calibri"/>
              </a:rPr>
              <a:t>V.</a:t>
            </a:r>
            <a:endParaRPr sz="1800" dirty="0">
              <a:latin typeface="Calibri"/>
              <a:cs typeface="Calibri"/>
            </a:endParaRPr>
          </a:p>
          <a:p>
            <a:pPr marL="506095" indent="-493395">
              <a:lnSpc>
                <a:spcPct val="100000"/>
              </a:lnSpc>
              <a:spcBef>
                <a:spcPts val="1535"/>
              </a:spcBef>
              <a:buSzPct val="66666"/>
              <a:buFont typeface="Cambria"/>
              <a:buAutoNum type="arabicPlain" startAt="3"/>
              <a:tabLst>
                <a:tab pos="506095" algn="l"/>
              </a:tabLst>
            </a:pPr>
            <a:r>
              <a:rPr sz="1800" dirty="0">
                <a:latin typeface="Calibri"/>
                <a:cs typeface="Calibri"/>
              </a:rPr>
              <a:t>Prajapati,</a:t>
            </a:r>
            <a:r>
              <a:rPr sz="1800" spc="350" dirty="0">
                <a:latin typeface="Calibri"/>
                <a:cs typeface="Calibri"/>
              </a:rPr>
              <a:t> </a:t>
            </a:r>
            <a:r>
              <a:rPr sz="1800" dirty="0">
                <a:latin typeface="Calibri"/>
                <a:cs typeface="Calibri"/>
              </a:rPr>
              <a:t>J.,</a:t>
            </a:r>
            <a:r>
              <a:rPr sz="1800" spc="360" dirty="0">
                <a:latin typeface="Calibri"/>
                <a:cs typeface="Calibri"/>
              </a:rPr>
              <a:t> </a:t>
            </a:r>
            <a:r>
              <a:rPr sz="1800" dirty="0">
                <a:latin typeface="Calibri"/>
                <a:cs typeface="Calibri"/>
              </a:rPr>
              <a:t>Trivedi,</a:t>
            </a:r>
            <a:r>
              <a:rPr sz="1800" spc="350" dirty="0">
                <a:latin typeface="Calibri"/>
                <a:cs typeface="Calibri"/>
              </a:rPr>
              <a:t> </a:t>
            </a:r>
            <a:r>
              <a:rPr sz="1800" dirty="0">
                <a:latin typeface="Calibri"/>
                <a:cs typeface="Calibri"/>
              </a:rPr>
              <a:t>H.,</a:t>
            </a:r>
            <a:r>
              <a:rPr sz="1800" spc="355" dirty="0">
                <a:latin typeface="Calibri"/>
                <a:cs typeface="Calibri"/>
              </a:rPr>
              <a:t> </a:t>
            </a:r>
            <a:r>
              <a:rPr sz="1800" dirty="0">
                <a:latin typeface="Calibri"/>
                <a:cs typeface="Calibri"/>
              </a:rPr>
              <a:t>&amp;</a:t>
            </a:r>
            <a:r>
              <a:rPr sz="1800" spc="340" dirty="0">
                <a:latin typeface="Calibri"/>
                <a:cs typeface="Calibri"/>
              </a:rPr>
              <a:t> </a:t>
            </a:r>
            <a:r>
              <a:rPr sz="1800" dirty="0">
                <a:latin typeface="Calibri"/>
                <a:cs typeface="Calibri"/>
              </a:rPr>
              <a:t>Patel,</a:t>
            </a:r>
            <a:r>
              <a:rPr sz="1800" spc="355" dirty="0">
                <a:latin typeface="Calibri"/>
                <a:cs typeface="Calibri"/>
              </a:rPr>
              <a:t> </a:t>
            </a:r>
            <a:r>
              <a:rPr sz="1800" dirty="0">
                <a:latin typeface="Calibri"/>
                <a:cs typeface="Calibri"/>
              </a:rPr>
              <a:t>D.</a:t>
            </a:r>
            <a:r>
              <a:rPr sz="1800" spc="345" dirty="0">
                <a:latin typeface="Calibri"/>
                <a:cs typeface="Calibri"/>
              </a:rPr>
              <a:t> </a:t>
            </a:r>
            <a:r>
              <a:rPr sz="1800" dirty="0">
                <a:latin typeface="Calibri"/>
                <a:cs typeface="Calibri"/>
              </a:rPr>
              <a:t>(2021).</a:t>
            </a:r>
            <a:r>
              <a:rPr sz="1800" spc="395" dirty="0">
                <a:latin typeface="Calibri"/>
                <a:cs typeface="Calibri"/>
              </a:rPr>
              <a:t> </a:t>
            </a:r>
            <a:r>
              <a:rPr sz="1800" i="1" dirty="0">
                <a:latin typeface="Calibri"/>
                <a:cs typeface="Calibri"/>
              </a:rPr>
              <a:t>Brain</a:t>
            </a:r>
            <a:r>
              <a:rPr sz="1800" i="1" spc="330" dirty="0">
                <a:latin typeface="Calibri"/>
                <a:cs typeface="Calibri"/>
              </a:rPr>
              <a:t> </a:t>
            </a:r>
            <a:r>
              <a:rPr sz="1800" i="1" dirty="0">
                <a:latin typeface="Calibri"/>
                <a:cs typeface="Calibri"/>
              </a:rPr>
              <a:t>Tumor</a:t>
            </a:r>
            <a:r>
              <a:rPr sz="1800" i="1" spc="355" dirty="0">
                <a:latin typeface="Calibri"/>
                <a:cs typeface="Calibri"/>
              </a:rPr>
              <a:t> </a:t>
            </a:r>
            <a:r>
              <a:rPr sz="1800" i="1" dirty="0">
                <a:latin typeface="Calibri"/>
                <a:cs typeface="Calibri"/>
              </a:rPr>
              <a:t>Detection</a:t>
            </a:r>
            <a:r>
              <a:rPr sz="1800" i="1" spc="355" dirty="0">
                <a:latin typeface="Calibri"/>
                <a:cs typeface="Calibri"/>
              </a:rPr>
              <a:t> </a:t>
            </a:r>
            <a:r>
              <a:rPr sz="1800" i="1" dirty="0">
                <a:latin typeface="Calibri"/>
                <a:cs typeface="Calibri"/>
              </a:rPr>
              <a:t>Using</a:t>
            </a:r>
            <a:r>
              <a:rPr sz="1800" i="1" spc="360" dirty="0">
                <a:latin typeface="Calibri"/>
                <a:cs typeface="Calibri"/>
              </a:rPr>
              <a:t> </a:t>
            </a:r>
            <a:r>
              <a:rPr sz="1800" i="1" dirty="0">
                <a:latin typeface="Calibri"/>
                <a:cs typeface="Calibri"/>
              </a:rPr>
              <a:t>Convolutional</a:t>
            </a:r>
            <a:r>
              <a:rPr sz="1800" i="1" spc="345" dirty="0">
                <a:latin typeface="Calibri"/>
                <a:cs typeface="Calibri"/>
              </a:rPr>
              <a:t> </a:t>
            </a:r>
            <a:r>
              <a:rPr sz="1800" i="1" dirty="0">
                <a:latin typeface="Calibri"/>
                <a:cs typeface="Calibri"/>
              </a:rPr>
              <a:t>Neural</a:t>
            </a:r>
            <a:r>
              <a:rPr sz="1800" i="1" spc="340" dirty="0">
                <a:latin typeface="Calibri"/>
                <a:cs typeface="Calibri"/>
              </a:rPr>
              <a:t> </a:t>
            </a:r>
            <a:r>
              <a:rPr sz="1800" i="1" spc="-10" dirty="0">
                <a:latin typeface="Calibri"/>
                <a:cs typeface="Calibri"/>
              </a:rPr>
              <a:t>Network.</a:t>
            </a:r>
            <a:endParaRPr sz="1800" dirty="0">
              <a:latin typeface="Calibri"/>
              <a:cs typeface="Calibri"/>
            </a:endParaRPr>
          </a:p>
          <a:p>
            <a:pPr marL="12700">
              <a:lnSpc>
                <a:spcPct val="100000"/>
              </a:lnSpc>
              <a:spcBef>
                <a:spcPts val="1565"/>
              </a:spcBef>
            </a:pPr>
            <a:r>
              <a:rPr sz="1800" dirty="0">
                <a:latin typeface="Calibri"/>
                <a:cs typeface="Calibri"/>
              </a:rPr>
              <a:t>International</a:t>
            </a:r>
            <a:r>
              <a:rPr sz="1800" spc="-55" dirty="0">
                <a:latin typeface="Calibri"/>
                <a:cs typeface="Calibri"/>
              </a:rPr>
              <a:t> </a:t>
            </a:r>
            <a:r>
              <a:rPr sz="1800" dirty="0">
                <a:latin typeface="Calibri"/>
                <a:cs typeface="Calibri"/>
              </a:rPr>
              <a:t>Journal</a:t>
            </a:r>
            <a:r>
              <a:rPr sz="1800" spc="-55"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Engineering</a:t>
            </a:r>
            <a:r>
              <a:rPr sz="1800" spc="-60" dirty="0">
                <a:latin typeface="Calibri"/>
                <a:cs typeface="Calibri"/>
              </a:rPr>
              <a:t> </a:t>
            </a:r>
            <a:r>
              <a:rPr sz="1800" dirty="0">
                <a:latin typeface="Calibri"/>
                <a:cs typeface="Calibri"/>
              </a:rPr>
              <a:t>Sciences</a:t>
            </a:r>
            <a:r>
              <a:rPr sz="1800" spc="-60" dirty="0">
                <a:latin typeface="Calibri"/>
                <a:cs typeface="Calibri"/>
              </a:rPr>
              <a:t> </a:t>
            </a:r>
            <a:r>
              <a:rPr sz="1800" dirty="0">
                <a:latin typeface="Calibri"/>
                <a:cs typeface="Calibri"/>
              </a:rPr>
              <a:t>&amp;</a:t>
            </a:r>
            <a:r>
              <a:rPr sz="1800" spc="-60" dirty="0">
                <a:latin typeface="Calibri"/>
                <a:cs typeface="Calibri"/>
              </a:rPr>
              <a:t> </a:t>
            </a:r>
            <a:r>
              <a:rPr sz="1800" dirty="0">
                <a:latin typeface="Calibri"/>
                <a:cs typeface="Calibri"/>
              </a:rPr>
              <a:t>Research</a:t>
            </a:r>
            <a:r>
              <a:rPr sz="1800" spc="-60" dirty="0">
                <a:latin typeface="Calibri"/>
                <a:cs typeface="Calibri"/>
              </a:rPr>
              <a:t> </a:t>
            </a:r>
            <a:r>
              <a:rPr sz="1800" dirty="0">
                <a:latin typeface="Calibri"/>
                <a:cs typeface="Calibri"/>
              </a:rPr>
              <a:t>Technology,</a:t>
            </a:r>
            <a:r>
              <a:rPr sz="1800" spc="-45" dirty="0">
                <a:latin typeface="Calibri"/>
                <a:cs typeface="Calibri"/>
              </a:rPr>
              <a:t> </a:t>
            </a:r>
            <a:r>
              <a:rPr sz="1800" dirty="0">
                <a:latin typeface="Calibri"/>
                <a:cs typeface="Calibri"/>
              </a:rPr>
              <a:t>Volume</a:t>
            </a:r>
            <a:r>
              <a:rPr sz="1800" spc="-65" dirty="0">
                <a:latin typeface="Calibri"/>
                <a:cs typeface="Calibri"/>
              </a:rPr>
              <a:t> </a:t>
            </a:r>
            <a:r>
              <a:rPr sz="1800" dirty="0">
                <a:latin typeface="Calibri"/>
                <a:cs typeface="Calibri"/>
              </a:rPr>
              <a:t>10</a:t>
            </a:r>
            <a:r>
              <a:rPr sz="1800" spc="-55" dirty="0">
                <a:latin typeface="Calibri"/>
                <a:cs typeface="Calibri"/>
              </a:rPr>
              <a:t> </a:t>
            </a:r>
            <a:r>
              <a:rPr sz="1800" dirty="0">
                <a:latin typeface="Calibri"/>
                <a:cs typeface="Calibri"/>
              </a:rPr>
              <a:t>Issue</a:t>
            </a:r>
            <a:r>
              <a:rPr sz="1800" spc="-60" dirty="0">
                <a:latin typeface="Calibri"/>
                <a:cs typeface="Calibri"/>
              </a:rPr>
              <a:t> </a:t>
            </a:r>
            <a:r>
              <a:rPr sz="1800" spc="-25" dirty="0">
                <a:latin typeface="Calibri"/>
                <a:cs typeface="Calibri"/>
              </a:rPr>
              <a:t>5.</a:t>
            </a:r>
            <a:endParaRPr sz="1800" dirty="0">
              <a:latin typeface="Calibri"/>
              <a:cs typeface="Calibri"/>
            </a:endParaRPr>
          </a:p>
          <a:p>
            <a:pPr marL="12700" marR="5080" indent="493395">
              <a:lnSpc>
                <a:spcPts val="3720"/>
              </a:lnSpc>
              <a:spcBef>
                <a:spcPts val="360"/>
              </a:spcBef>
              <a:buSzPct val="66666"/>
              <a:buFont typeface="Cambria"/>
              <a:buAutoNum type="arabicPlain" startAt="4"/>
              <a:tabLst>
                <a:tab pos="506095" algn="l"/>
              </a:tabLst>
            </a:pPr>
            <a:r>
              <a:rPr sz="1800" dirty="0">
                <a:latin typeface="Calibri"/>
                <a:cs typeface="Calibri"/>
              </a:rPr>
              <a:t>Ali,</a:t>
            </a:r>
            <a:r>
              <a:rPr sz="1800" spc="160" dirty="0">
                <a:latin typeface="Calibri"/>
                <a:cs typeface="Calibri"/>
              </a:rPr>
              <a:t> </a:t>
            </a:r>
            <a:r>
              <a:rPr sz="1800" dirty="0">
                <a:latin typeface="Calibri"/>
                <a:cs typeface="Calibri"/>
              </a:rPr>
              <a:t>S.,</a:t>
            </a:r>
            <a:r>
              <a:rPr sz="1800" spc="160" dirty="0">
                <a:latin typeface="Calibri"/>
                <a:cs typeface="Calibri"/>
              </a:rPr>
              <a:t> </a:t>
            </a:r>
            <a:r>
              <a:rPr sz="1800" dirty="0">
                <a:latin typeface="Calibri"/>
                <a:cs typeface="Calibri"/>
              </a:rPr>
              <a:t>Nandhini,</a:t>
            </a:r>
            <a:r>
              <a:rPr sz="1800" spc="160" dirty="0">
                <a:latin typeface="Calibri"/>
                <a:cs typeface="Calibri"/>
              </a:rPr>
              <a:t> </a:t>
            </a:r>
            <a:r>
              <a:rPr sz="1800" dirty="0">
                <a:latin typeface="Calibri"/>
                <a:cs typeface="Calibri"/>
              </a:rPr>
              <a:t>K.,</a:t>
            </a:r>
            <a:r>
              <a:rPr sz="1800" spc="160" dirty="0">
                <a:latin typeface="Calibri"/>
                <a:cs typeface="Calibri"/>
              </a:rPr>
              <a:t> </a:t>
            </a:r>
            <a:r>
              <a:rPr sz="1800" dirty="0">
                <a:latin typeface="Calibri"/>
                <a:cs typeface="Calibri"/>
              </a:rPr>
              <a:t>&amp;</a:t>
            </a:r>
            <a:r>
              <a:rPr sz="1800" spc="150" dirty="0">
                <a:latin typeface="Calibri"/>
                <a:cs typeface="Calibri"/>
              </a:rPr>
              <a:t> </a:t>
            </a:r>
            <a:r>
              <a:rPr sz="1800" dirty="0">
                <a:latin typeface="Calibri"/>
                <a:cs typeface="Calibri"/>
              </a:rPr>
              <a:t>Nivedhitha,</a:t>
            </a:r>
            <a:r>
              <a:rPr sz="1800" spc="160" dirty="0">
                <a:latin typeface="Calibri"/>
                <a:cs typeface="Calibri"/>
              </a:rPr>
              <a:t> </a:t>
            </a:r>
            <a:r>
              <a:rPr sz="1800" dirty="0">
                <a:latin typeface="Calibri"/>
                <a:cs typeface="Calibri"/>
              </a:rPr>
              <a:t>R.</a:t>
            </a:r>
            <a:r>
              <a:rPr sz="1800" spc="155" dirty="0">
                <a:latin typeface="Calibri"/>
                <a:cs typeface="Calibri"/>
              </a:rPr>
              <a:t> </a:t>
            </a:r>
            <a:r>
              <a:rPr sz="1800" dirty="0">
                <a:latin typeface="Calibri"/>
                <a:cs typeface="Calibri"/>
              </a:rPr>
              <a:t>(2022).</a:t>
            </a:r>
            <a:r>
              <a:rPr sz="1800" spc="195" dirty="0">
                <a:latin typeface="Calibri"/>
                <a:cs typeface="Calibri"/>
              </a:rPr>
              <a:t> </a:t>
            </a:r>
            <a:r>
              <a:rPr sz="1800" i="1" dirty="0">
                <a:latin typeface="Calibri"/>
                <a:cs typeface="Calibri"/>
              </a:rPr>
              <a:t>Brain</a:t>
            </a:r>
            <a:r>
              <a:rPr sz="1800" i="1" spc="140" dirty="0">
                <a:latin typeface="Calibri"/>
                <a:cs typeface="Calibri"/>
              </a:rPr>
              <a:t> </a:t>
            </a:r>
            <a:r>
              <a:rPr sz="1800" i="1" dirty="0">
                <a:latin typeface="Calibri"/>
                <a:cs typeface="Calibri"/>
              </a:rPr>
              <a:t>Tumor</a:t>
            </a:r>
            <a:r>
              <a:rPr sz="1800" i="1" spc="160" dirty="0">
                <a:latin typeface="Calibri"/>
                <a:cs typeface="Calibri"/>
              </a:rPr>
              <a:t> </a:t>
            </a:r>
            <a:r>
              <a:rPr sz="1800" i="1" dirty="0">
                <a:latin typeface="Calibri"/>
                <a:cs typeface="Calibri"/>
              </a:rPr>
              <a:t>Detection</a:t>
            </a:r>
            <a:r>
              <a:rPr sz="1800" i="1" spc="160" dirty="0">
                <a:latin typeface="Calibri"/>
                <a:cs typeface="Calibri"/>
              </a:rPr>
              <a:t> </a:t>
            </a:r>
            <a:r>
              <a:rPr sz="1800" i="1" dirty="0">
                <a:latin typeface="Calibri"/>
                <a:cs typeface="Calibri"/>
              </a:rPr>
              <a:t>Using</a:t>
            </a:r>
            <a:r>
              <a:rPr sz="1800" i="1" spc="160" dirty="0">
                <a:latin typeface="Calibri"/>
                <a:cs typeface="Calibri"/>
              </a:rPr>
              <a:t> </a:t>
            </a:r>
            <a:r>
              <a:rPr sz="1800" i="1" dirty="0">
                <a:latin typeface="Calibri"/>
                <a:cs typeface="Calibri"/>
              </a:rPr>
              <a:t>CNN</a:t>
            </a:r>
            <a:r>
              <a:rPr sz="1800" i="1" spc="150" dirty="0">
                <a:latin typeface="Calibri"/>
                <a:cs typeface="Calibri"/>
              </a:rPr>
              <a:t> </a:t>
            </a:r>
            <a:r>
              <a:rPr sz="1800" i="1" dirty="0">
                <a:latin typeface="Calibri"/>
                <a:cs typeface="Calibri"/>
              </a:rPr>
              <a:t>and</a:t>
            </a:r>
            <a:r>
              <a:rPr sz="1800" i="1" spc="140" dirty="0">
                <a:latin typeface="Calibri"/>
                <a:cs typeface="Calibri"/>
              </a:rPr>
              <a:t> </a:t>
            </a:r>
            <a:r>
              <a:rPr sz="1800" i="1" dirty="0">
                <a:latin typeface="Calibri"/>
                <a:cs typeface="Calibri"/>
              </a:rPr>
              <a:t>Transfer</a:t>
            </a:r>
            <a:r>
              <a:rPr sz="1800" i="1" spc="160" dirty="0">
                <a:latin typeface="Calibri"/>
                <a:cs typeface="Calibri"/>
              </a:rPr>
              <a:t> </a:t>
            </a:r>
            <a:r>
              <a:rPr sz="1800" i="1" dirty="0">
                <a:latin typeface="Calibri"/>
                <a:cs typeface="Calibri"/>
              </a:rPr>
              <a:t>Learning.</a:t>
            </a:r>
            <a:r>
              <a:rPr sz="1800" i="1" spc="190" dirty="0">
                <a:latin typeface="Calibri"/>
                <a:cs typeface="Calibri"/>
              </a:rPr>
              <a:t> </a:t>
            </a:r>
            <a:r>
              <a:rPr sz="1800" spc="-20" dirty="0">
                <a:latin typeface="Calibri"/>
                <a:cs typeface="Calibri"/>
              </a:rPr>
              <a:t>IEEE </a:t>
            </a:r>
            <a:r>
              <a:rPr sz="1800" dirty="0">
                <a:latin typeface="Calibri"/>
                <a:cs typeface="Calibri"/>
              </a:rPr>
              <a:t>Xplore,</a:t>
            </a:r>
            <a:r>
              <a:rPr sz="1800" spc="-55" dirty="0">
                <a:latin typeface="Calibri"/>
                <a:cs typeface="Calibri"/>
              </a:rPr>
              <a:t> </a:t>
            </a:r>
            <a:r>
              <a:rPr sz="1800" dirty="0">
                <a:latin typeface="Calibri"/>
                <a:cs typeface="Calibri"/>
              </a:rPr>
              <a:t>2022</a:t>
            </a:r>
            <a:r>
              <a:rPr sz="1800" spc="-50" dirty="0">
                <a:latin typeface="Calibri"/>
                <a:cs typeface="Calibri"/>
              </a:rPr>
              <a:t> </a:t>
            </a:r>
            <a:r>
              <a:rPr sz="1800" dirty="0">
                <a:latin typeface="Calibri"/>
                <a:cs typeface="Calibri"/>
              </a:rPr>
              <a:t>International</a:t>
            </a:r>
            <a:r>
              <a:rPr sz="1800" spc="-50" dirty="0">
                <a:latin typeface="Calibri"/>
                <a:cs typeface="Calibri"/>
              </a:rPr>
              <a:t> </a:t>
            </a:r>
            <a:r>
              <a:rPr sz="1800" spc="-10" dirty="0">
                <a:latin typeface="Calibri"/>
                <a:cs typeface="Calibri"/>
              </a:rPr>
              <a:t>Conference</a:t>
            </a:r>
            <a:r>
              <a:rPr sz="1800" spc="-60" dirty="0">
                <a:latin typeface="Calibri"/>
                <a:cs typeface="Calibri"/>
              </a:rPr>
              <a:t> </a:t>
            </a:r>
            <a:r>
              <a:rPr sz="1800" dirty="0">
                <a:latin typeface="Calibri"/>
                <a:cs typeface="Calibri"/>
              </a:rPr>
              <a:t>on</a:t>
            </a:r>
            <a:r>
              <a:rPr sz="1800" spc="-60" dirty="0">
                <a:latin typeface="Calibri"/>
                <a:cs typeface="Calibri"/>
              </a:rPr>
              <a:t> </a:t>
            </a:r>
            <a:r>
              <a:rPr sz="1800" dirty="0">
                <a:latin typeface="Calibri"/>
                <a:cs typeface="Calibri"/>
              </a:rPr>
              <a:t>Computer</a:t>
            </a:r>
            <a:r>
              <a:rPr sz="1800" spc="-55" dirty="0">
                <a:latin typeface="Calibri"/>
                <a:cs typeface="Calibri"/>
              </a:rPr>
              <a:t> </a:t>
            </a:r>
            <a:r>
              <a:rPr sz="1800" dirty="0">
                <a:latin typeface="Calibri"/>
                <a:cs typeface="Calibri"/>
              </a:rPr>
              <a:t>Communication</a:t>
            </a:r>
            <a:r>
              <a:rPr sz="1800" spc="-60" dirty="0">
                <a:latin typeface="Calibri"/>
                <a:cs typeface="Calibri"/>
              </a:rPr>
              <a:t> </a:t>
            </a:r>
            <a:r>
              <a:rPr sz="1800" dirty="0">
                <a:latin typeface="Calibri"/>
                <a:cs typeface="Calibri"/>
              </a:rPr>
              <a:t>and</a:t>
            </a:r>
            <a:r>
              <a:rPr sz="1800" spc="-60" dirty="0">
                <a:latin typeface="Calibri"/>
                <a:cs typeface="Calibri"/>
              </a:rPr>
              <a:t> </a:t>
            </a:r>
            <a:r>
              <a:rPr sz="1800" dirty="0">
                <a:latin typeface="Calibri"/>
                <a:cs typeface="Calibri"/>
              </a:rPr>
              <a:t>Informatics</a:t>
            </a:r>
            <a:r>
              <a:rPr sz="1800" spc="-60" dirty="0">
                <a:latin typeface="Calibri"/>
                <a:cs typeface="Calibri"/>
              </a:rPr>
              <a:t> </a:t>
            </a:r>
            <a:r>
              <a:rPr sz="1800" spc="-10" dirty="0">
                <a:latin typeface="Calibri"/>
                <a:cs typeface="Calibri"/>
              </a:rPr>
              <a:t>(ICCCI).</a:t>
            </a:r>
            <a:endParaRPr sz="1800" dirty="0">
              <a:latin typeface="Calibri"/>
              <a:cs typeface="Calibri"/>
            </a:endParaRPr>
          </a:p>
          <a:p>
            <a:pPr marL="506095" indent="-493395">
              <a:lnSpc>
                <a:spcPct val="100000"/>
              </a:lnSpc>
              <a:spcBef>
                <a:spcPts val="1155"/>
              </a:spcBef>
              <a:buSzPct val="66666"/>
              <a:buFont typeface="Cambria"/>
              <a:buAutoNum type="arabicPlain" startAt="4"/>
              <a:tabLst>
                <a:tab pos="506095" algn="l"/>
              </a:tabLst>
            </a:pPr>
            <a:r>
              <a:rPr sz="1800" dirty="0">
                <a:latin typeface="Calibri"/>
                <a:cs typeface="Calibri"/>
              </a:rPr>
              <a:t>Sahu,</a:t>
            </a:r>
            <a:r>
              <a:rPr sz="1800" spc="345" dirty="0">
                <a:latin typeface="Calibri"/>
                <a:cs typeface="Calibri"/>
              </a:rPr>
              <a:t> </a:t>
            </a:r>
            <a:r>
              <a:rPr sz="1800" dirty="0">
                <a:latin typeface="Calibri"/>
                <a:cs typeface="Calibri"/>
              </a:rPr>
              <a:t>S.,</a:t>
            </a:r>
            <a:r>
              <a:rPr sz="1800" spc="345" dirty="0">
                <a:latin typeface="Calibri"/>
                <a:cs typeface="Calibri"/>
              </a:rPr>
              <a:t> </a:t>
            </a:r>
            <a:r>
              <a:rPr sz="1800" dirty="0">
                <a:latin typeface="Calibri"/>
                <a:cs typeface="Calibri"/>
              </a:rPr>
              <a:t>&amp;</a:t>
            </a:r>
            <a:r>
              <a:rPr sz="1800" spc="340" dirty="0">
                <a:latin typeface="Calibri"/>
                <a:cs typeface="Calibri"/>
              </a:rPr>
              <a:t> </a:t>
            </a:r>
            <a:r>
              <a:rPr sz="1800" dirty="0">
                <a:latin typeface="Calibri"/>
                <a:cs typeface="Calibri"/>
              </a:rPr>
              <a:t>Mahapatra,</a:t>
            </a:r>
            <a:r>
              <a:rPr sz="1800" spc="350" dirty="0">
                <a:latin typeface="Calibri"/>
                <a:cs typeface="Calibri"/>
              </a:rPr>
              <a:t> </a:t>
            </a:r>
            <a:r>
              <a:rPr sz="1800" dirty="0">
                <a:latin typeface="Calibri"/>
                <a:cs typeface="Calibri"/>
              </a:rPr>
              <a:t>A.</a:t>
            </a:r>
            <a:r>
              <a:rPr sz="1800" spc="340" dirty="0">
                <a:latin typeface="Calibri"/>
                <a:cs typeface="Calibri"/>
              </a:rPr>
              <a:t> </a:t>
            </a:r>
            <a:r>
              <a:rPr sz="1800" dirty="0">
                <a:latin typeface="Calibri"/>
                <a:cs typeface="Calibri"/>
              </a:rPr>
              <a:t>(2023).</a:t>
            </a:r>
            <a:r>
              <a:rPr sz="1800" spc="375" dirty="0">
                <a:latin typeface="Calibri"/>
                <a:cs typeface="Calibri"/>
              </a:rPr>
              <a:t> </a:t>
            </a:r>
            <a:r>
              <a:rPr sz="1800" i="1" dirty="0">
                <a:latin typeface="Calibri"/>
                <a:cs typeface="Calibri"/>
              </a:rPr>
              <a:t>Comparative</a:t>
            </a:r>
            <a:r>
              <a:rPr sz="1800" i="1" spc="350" dirty="0">
                <a:latin typeface="Calibri"/>
                <a:cs typeface="Calibri"/>
              </a:rPr>
              <a:t> </a:t>
            </a:r>
            <a:r>
              <a:rPr sz="1800" i="1" dirty="0">
                <a:latin typeface="Calibri"/>
                <a:cs typeface="Calibri"/>
              </a:rPr>
              <a:t>Study</a:t>
            </a:r>
            <a:r>
              <a:rPr sz="1800" i="1" spc="330" dirty="0">
                <a:latin typeface="Calibri"/>
                <a:cs typeface="Calibri"/>
              </a:rPr>
              <a:t> </a:t>
            </a:r>
            <a:r>
              <a:rPr sz="1800" i="1" dirty="0">
                <a:latin typeface="Calibri"/>
                <a:cs typeface="Calibri"/>
              </a:rPr>
              <a:t>of</a:t>
            </a:r>
            <a:r>
              <a:rPr sz="1800" i="1" spc="340" dirty="0">
                <a:latin typeface="Calibri"/>
                <a:cs typeface="Calibri"/>
              </a:rPr>
              <a:t> </a:t>
            </a:r>
            <a:r>
              <a:rPr sz="1800" i="1" dirty="0">
                <a:latin typeface="Calibri"/>
                <a:cs typeface="Calibri"/>
              </a:rPr>
              <a:t>Brain</a:t>
            </a:r>
            <a:r>
              <a:rPr sz="1800" i="1" spc="330" dirty="0">
                <a:latin typeface="Calibri"/>
                <a:cs typeface="Calibri"/>
              </a:rPr>
              <a:t> </a:t>
            </a:r>
            <a:r>
              <a:rPr sz="1800" i="1" dirty="0">
                <a:latin typeface="Calibri"/>
                <a:cs typeface="Calibri"/>
              </a:rPr>
              <a:t>Tumor</a:t>
            </a:r>
            <a:r>
              <a:rPr sz="1800" i="1" spc="345" dirty="0">
                <a:latin typeface="Calibri"/>
                <a:cs typeface="Calibri"/>
              </a:rPr>
              <a:t> </a:t>
            </a:r>
            <a:r>
              <a:rPr sz="1800" i="1" dirty="0">
                <a:latin typeface="Calibri"/>
                <a:cs typeface="Calibri"/>
              </a:rPr>
              <a:t>Classification</a:t>
            </a:r>
            <a:r>
              <a:rPr sz="1800" i="1" spc="355" dirty="0">
                <a:latin typeface="Calibri"/>
                <a:cs typeface="Calibri"/>
              </a:rPr>
              <a:t> </a:t>
            </a:r>
            <a:r>
              <a:rPr sz="1800" i="1" dirty="0">
                <a:latin typeface="Calibri"/>
                <a:cs typeface="Calibri"/>
              </a:rPr>
              <a:t>Using</a:t>
            </a:r>
            <a:r>
              <a:rPr sz="1800" i="1" spc="350" dirty="0">
                <a:latin typeface="Calibri"/>
                <a:cs typeface="Calibri"/>
              </a:rPr>
              <a:t> </a:t>
            </a:r>
            <a:r>
              <a:rPr sz="1800" i="1" dirty="0">
                <a:latin typeface="Calibri"/>
                <a:cs typeface="Calibri"/>
              </a:rPr>
              <a:t>Deep</a:t>
            </a:r>
            <a:r>
              <a:rPr sz="1800" i="1" spc="355" dirty="0">
                <a:latin typeface="Calibri"/>
                <a:cs typeface="Calibri"/>
              </a:rPr>
              <a:t> </a:t>
            </a:r>
            <a:r>
              <a:rPr sz="1800" i="1" spc="-10" dirty="0">
                <a:latin typeface="Calibri"/>
                <a:cs typeface="Calibri"/>
              </a:rPr>
              <a:t>Learning</a:t>
            </a:r>
            <a:endParaRPr sz="1800" dirty="0">
              <a:latin typeface="Calibri"/>
              <a:cs typeface="Calibri"/>
            </a:endParaRPr>
          </a:p>
          <a:p>
            <a:pPr marL="12700">
              <a:lnSpc>
                <a:spcPct val="100000"/>
              </a:lnSpc>
              <a:spcBef>
                <a:spcPts val="1535"/>
              </a:spcBef>
            </a:pPr>
            <a:r>
              <a:rPr sz="1800" i="1" dirty="0">
                <a:latin typeface="Calibri"/>
                <a:cs typeface="Calibri"/>
              </a:rPr>
              <a:t>Models.</a:t>
            </a:r>
            <a:r>
              <a:rPr sz="1800" i="1" spc="-40" dirty="0">
                <a:latin typeface="Calibri"/>
                <a:cs typeface="Calibri"/>
              </a:rPr>
              <a:t> </a:t>
            </a:r>
            <a:r>
              <a:rPr sz="1800" spc="-10" dirty="0">
                <a:latin typeface="Calibri"/>
                <a:cs typeface="Calibri"/>
              </a:rPr>
              <a:t>International</a:t>
            </a:r>
            <a:r>
              <a:rPr sz="1800" spc="-40" dirty="0">
                <a:latin typeface="Calibri"/>
                <a:cs typeface="Calibri"/>
              </a:rPr>
              <a:t> </a:t>
            </a:r>
            <a:r>
              <a:rPr sz="1800" dirty="0">
                <a:latin typeface="Calibri"/>
                <a:cs typeface="Calibri"/>
              </a:rPr>
              <a:t>Journal</a:t>
            </a:r>
            <a:r>
              <a:rPr sz="1800" spc="-45" dirty="0">
                <a:latin typeface="Calibri"/>
                <a:cs typeface="Calibri"/>
              </a:rPr>
              <a:t> </a:t>
            </a:r>
            <a:r>
              <a:rPr sz="1800" dirty="0">
                <a:latin typeface="Calibri"/>
                <a:cs typeface="Calibri"/>
              </a:rPr>
              <a:t>of</a:t>
            </a:r>
            <a:r>
              <a:rPr sz="1800" spc="-20" dirty="0">
                <a:latin typeface="Calibri"/>
                <a:cs typeface="Calibri"/>
              </a:rPr>
              <a:t> </a:t>
            </a:r>
            <a:r>
              <a:rPr sz="1800" spc="-10" dirty="0">
                <a:latin typeface="Calibri"/>
                <a:cs typeface="Calibri"/>
              </a:rPr>
              <a:t>Advanced</a:t>
            </a:r>
            <a:r>
              <a:rPr sz="1800" spc="-50" dirty="0">
                <a:latin typeface="Calibri"/>
                <a:cs typeface="Calibri"/>
              </a:rPr>
              <a:t> </a:t>
            </a:r>
            <a:r>
              <a:rPr sz="1800" dirty="0">
                <a:latin typeface="Calibri"/>
                <a:cs typeface="Calibri"/>
              </a:rPr>
              <a:t>Computer</a:t>
            </a:r>
            <a:r>
              <a:rPr sz="1800" spc="-25" dirty="0">
                <a:latin typeface="Calibri"/>
                <a:cs typeface="Calibri"/>
              </a:rPr>
              <a:t> </a:t>
            </a:r>
            <a:r>
              <a:rPr sz="1800" dirty="0">
                <a:latin typeface="Calibri"/>
                <a:cs typeface="Calibri"/>
              </a:rPr>
              <a:t>Science</a:t>
            </a:r>
            <a:r>
              <a:rPr sz="1800" spc="-50"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Applications</a:t>
            </a:r>
            <a:r>
              <a:rPr sz="1800" spc="-55" dirty="0">
                <a:latin typeface="Calibri"/>
                <a:cs typeface="Calibri"/>
              </a:rPr>
              <a:t> </a:t>
            </a:r>
            <a:r>
              <a:rPr sz="1800" dirty="0">
                <a:latin typeface="Calibri"/>
                <a:cs typeface="Calibri"/>
              </a:rPr>
              <a:t>(IJACSA),</a:t>
            </a:r>
            <a:r>
              <a:rPr sz="1800" spc="-40" dirty="0">
                <a:latin typeface="Calibri"/>
                <a:cs typeface="Calibri"/>
              </a:rPr>
              <a:t> </a:t>
            </a:r>
            <a:r>
              <a:rPr sz="1800" dirty="0">
                <a:latin typeface="Calibri"/>
                <a:cs typeface="Calibri"/>
              </a:rPr>
              <a:t>Volume</a:t>
            </a:r>
            <a:r>
              <a:rPr sz="1800" spc="-50" dirty="0">
                <a:latin typeface="Calibri"/>
                <a:cs typeface="Calibri"/>
              </a:rPr>
              <a:t> </a:t>
            </a:r>
            <a:r>
              <a:rPr sz="1800" dirty="0">
                <a:latin typeface="Calibri"/>
                <a:cs typeface="Calibri"/>
              </a:rPr>
              <a:t>14</a:t>
            </a:r>
            <a:r>
              <a:rPr sz="1800" spc="-40" dirty="0">
                <a:latin typeface="Calibri"/>
                <a:cs typeface="Calibri"/>
              </a:rPr>
              <a:t> </a:t>
            </a:r>
            <a:r>
              <a:rPr sz="1800" dirty="0">
                <a:latin typeface="Calibri"/>
                <a:cs typeface="Calibri"/>
              </a:rPr>
              <a:t>Issue</a:t>
            </a:r>
            <a:r>
              <a:rPr sz="1800" spc="-55" dirty="0">
                <a:latin typeface="Calibri"/>
                <a:cs typeface="Calibri"/>
              </a:rPr>
              <a:t> </a:t>
            </a:r>
            <a:r>
              <a:rPr sz="1800" spc="-25" dirty="0">
                <a:latin typeface="Calibri"/>
                <a:cs typeface="Calibri"/>
              </a:rPr>
              <a:t>3.</a:t>
            </a:r>
            <a:endParaRPr sz="18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8060" y="759078"/>
            <a:ext cx="10756265" cy="4538345"/>
          </a:xfrm>
          <a:prstGeom prst="rect">
            <a:avLst/>
          </a:prstGeom>
        </p:spPr>
        <p:txBody>
          <a:bodyPr vert="horz" wrap="square" lIns="0" tIns="12700" rIns="0" bIns="0" rtlCol="0">
            <a:spAutoFit/>
          </a:bodyPr>
          <a:lstStyle/>
          <a:p>
            <a:pPr marL="506095" indent="-493395">
              <a:lnSpc>
                <a:spcPct val="100000"/>
              </a:lnSpc>
              <a:spcBef>
                <a:spcPts val="100"/>
              </a:spcBef>
              <a:buSzPct val="66666"/>
              <a:buFont typeface="Cambria"/>
              <a:buAutoNum type="arabicPlain" startAt="6"/>
              <a:tabLst>
                <a:tab pos="506095" algn="l"/>
              </a:tabLst>
            </a:pPr>
            <a:r>
              <a:rPr sz="1800" dirty="0">
                <a:latin typeface="Calibri"/>
                <a:cs typeface="Calibri"/>
              </a:rPr>
              <a:t>Afshar,</a:t>
            </a:r>
            <a:r>
              <a:rPr sz="1800" spc="114" dirty="0">
                <a:latin typeface="Calibri"/>
                <a:cs typeface="Calibri"/>
              </a:rPr>
              <a:t> </a:t>
            </a:r>
            <a:r>
              <a:rPr sz="1800" dirty="0">
                <a:latin typeface="Calibri"/>
                <a:cs typeface="Calibri"/>
              </a:rPr>
              <a:t>P.,</a:t>
            </a:r>
            <a:r>
              <a:rPr sz="1800" spc="114" dirty="0">
                <a:latin typeface="Calibri"/>
                <a:cs typeface="Calibri"/>
              </a:rPr>
              <a:t> </a:t>
            </a:r>
            <a:r>
              <a:rPr sz="1800" dirty="0">
                <a:latin typeface="Calibri"/>
                <a:cs typeface="Calibri"/>
              </a:rPr>
              <a:t>Mohammadi,</a:t>
            </a:r>
            <a:r>
              <a:rPr sz="1800" spc="135" dirty="0">
                <a:latin typeface="Calibri"/>
                <a:cs typeface="Calibri"/>
              </a:rPr>
              <a:t> </a:t>
            </a:r>
            <a:r>
              <a:rPr sz="1800" dirty="0">
                <a:latin typeface="Calibri"/>
                <a:cs typeface="Calibri"/>
              </a:rPr>
              <a:t>A.,</a:t>
            </a:r>
            <a:r>
              <a:rPr sz="1800" spc="120" dirty="0">
                <a:latin typeface="Calibri"/>
                <a:cs typeface="Calibri"/>
              </a:rPr>
              <a:t> </a:t>
            </a:r>
            <a:r>
              <a:rPr sz="1800" dirty="0">
                <a:latin typeface="Calibri"/>
                <a:cs typeface="Calibri"/>
              </a:rPr>
              <a:t>&amp;</a:t>
            </a:r>
            <a:r>
              <a:rPr sz="1800" spc="110" dirty="0">
                <a:latin typeface="Calibri"/>
                <a:cs typeface="Calibri"/>
              </a:rPr>
              <a:t> </a:t>
            </a:r>
            <a:r>
              <a:rPr sz="1800" dirty="0">
                <a:latin typeface="Calibri"/>
                <a:cs typeface="Calibri"/>
              </a:rPr>
              <a:t>Plataniotis,</a:t>
            </a:r>
            <a:r>
              <a:rPr sz="1800" spc="120" dirty="0">
                <a:latin typeface="Calibri"/>
                <a:cs typeface="Calibri"/>
              </a:rPr>
              <a:t> </a:t>
            </a:r>
            <a:r>
              <a:rPr sz="1800" dirty="0">
                <a:latin typeface="Calibri"/>
                <a:cs typeface="Calibri"/>
              </a:rPr>
              <a:t>K.</a:t>
            </a:r>
            <a:r>
              <a:rPr sz="1800" spc="130" dirty="0">
                <a:latin typeface="Calibri"/>
                <a:cs typeface="Calibri"/>
              </a:rPr>
              <a:t> </a:t>
            </a:r>
            <a:r>
              <a:rPr sz="1800" dirty="0">
                <a:latin typeface="Calibri"/>
                <a:cs typeface="Calibri"/>
              </a:rPr>
              <a:t>N.</a:t>
            </a:r>
            <a:r>
              <a:rPr sz="1800" spc="110" dirty="0">
                <a:latin typeface="Calibri"/>
                <a:cs typeface="Calibri"/>
              </a:rPr>
              <a:t> </a:t>
            </a:r>
            <a:r>
              <a:rPr sz="1800" dirty="0">
                <a:latin typeface="Calibri"/>
                <a:cs typeface="Calibri"/>
              </a:rPr>
              <a:t>(2020).</a:t>
            </a:r>
            <a:r>
              <a:rPr sz="1800" spc="140" dirty="0">
                <a:latin typeface="Calibri"/>
                <a:cs typeface="Calibri"/>
              </a:rPr>
              <a:t> </a:t>
            </a:r>
            <a:r>
              <a:rPr sz="1800" i="1" dirty="0">
                <a:latin typeface="Calibri"/>
                <a:cs typeface="Calibri"/>
              </a:rPr>
              <a:t>Brain</a:t>
            </a:r>
            <a:r>
              <a:rPr sz="1800" i="1" spc="120" dirty="0">
                <a:latin typeface="Calibri"/>
                <a:cs typeface="Calibri"/>
              </a:rPr>
              <a:t> </a:t>
            </a:r>
            <a:r>
              <a:rPr sz="1800" i="1" dirty="0">
                <a:latin typeface="Calibri"/>
                <a:cs typeface="Calibri"/>
              </a:rPr>
              <a:t>tumor</a:t>
            </a:r>
            <a:r>
              <a:rPr sz="1800" i="1" spc="114" dirty="0">
                <a:latin typeface="Calibri"/>
                <a:cs typeface="Calibri"/>
              </a:rPr>
              <a:t> </a:t>
            </a:r>
            <a:r>
              <a:rPr sz="1800" i="1" dirty="0">
                <a:latin typeface="Calibri"/>
                <a:cs typeface="Calibri"/>
              </a:rPr>
              <a:t>type</a:t>
            </a:r>
            <a:r>
              <a:rPr sz="1800" i="1" spc="114" dirty="0">
                <a:latin typeface="Calibri"/>
                <a:cs typeface="Calibri"/>
              </a:rPr>
              <a:t> </a:t>
            </a:r>
            <a:r>
              <a:rPr sz="1800" i="1" dirty="0">
                <a:latin typeface="Calibri"/>
                <a:cs typeface="Calibri"/>
              </a:rPr>
              <a:t>classification</a:t>
            </a:r>
            <a:r>
              <a:rPr sz="1800" i="1" spc="120" dirty="0">
                <a:latin typeface="Calibri"/>
                <a:cs typeface="Calibri"/>
              </a:rPr>
              <a:t> </a:t>
            </a:r>
            <a:r>
              <a:rPr sz="1800" i="1" dirty="0">
                <a:latin typeface="Calibri"/>
                <a:cs typeface="Calibri"/>
              </a:rPr>
              <a:t>via</a:t>
            </a:r>
            <a:r>
              <a:rPr sz="1800" i="1" spc="120" dirty="0">
                <a:latin typeface="Calibri"/>
                <a:cs typeface="Calibri"/>
              </a:rPr>
              <a:t> </a:t>
            </a:r>
            <a:r>
              <a:rPr sz="1800" i="1" dirty="0">
                <a:latin typeface="Calibri"/>
                <a:cs typeface="Calibri"/>
              </a:rPr>
              <a:t>capsule</a:t>
            </a:r>
            <a:r>
              <a:rPr sz="1800" i="1" spc="114" dirty="0">
                <a:latin typeface="Calibri"/>
                <a:cs typeface="Calibri"/>
              </a:rPr>
              <a:t> </a:t>
            </a:r>
            <a:r>
              <a:rPr sz="1800" i="1" spc="-10" dirty="0">
                <a:latin typeface="Calibri"/>
                <a:cs typeface="Calibri"/>
              </a:rPr>
              <a:t>networks.</a:t>
            </a:r>
            <a:endParaRPr sz="1800">
              <a:latin typeface="Calibri"/>
              <a:cs typeface="Calibri"/>
            </a:endParaRPr>
          </a:p>
          <a:p>
            <a:pPr marL="12700">
              <a:lnSpc>
                <a:spcPct val="100000"/>
              </a:lnSpc>
              <a:spcBef>
                <a:spcPts val="1560"/>
              </a:spcBef>
            </a:pPr>
            <a:r>
              <a:rPr sz="1800" dirty="0">
                <a:latin typeface="Calibri"/>
                <a:cs typeface="Calibri"/>
              </a:rPr>
              <a:t>Expert</a:t>
            </a:r>
            <a:r>
              <a:rPr sz="1800" spc="-50" dirty="0">
                <a:latin typeface="Calibri"/>
                <a:cs typeface="Calibri"/>
              </a:rPr>
              <a:t> </a:t>
            </a:r>
            <a:r>
              <a:rPr sz="1800" dirty="0">
                <a:latin typeface="Calibri"/>
                <a:cs typeface="Calibri"/>
              </a:rPr>
              <a:t>Systems</a:t>
            </a:r>
            <a:r>
              <a:rPr sz="1800" spc="-45" dirty="0">
                <a:latin typeface="Calibri"/>
                <a:cs typeface="Calibri"/>
              </a:rPr>
              <a:t> </a:t>
            </a:r>
            <a:r>
              <a:rPr sz="1800" dirty="0">
                <a:latin typeface="Calibri"/>
                <a:cs typeface="Calibri"/>
              </a:rPr>
              <a:t>with</a:t>
            </a:r>
            <a:r>
              <a:rPr sz="1800" spc="-50" dirty="0">
                <a:latin typeface="Calibri"/>
                <a:cs typeface="Calibri"/>
              </a:rPr>
              <a:t> </a:t>
            </a:r>
            <a:r>
              <a:rPr sz="1800" dirty="0">
                <a:latin typeface="Calibri"/>
                <a:cs typeface="Calibri"/>
              </a:rPr>
              <a:t>Applications,</a:t>
            </a:r>
            <a:r>
              <a:rPr sz="1800" spc="-35" dirty="0">
                <a:latin typeface="Calibri"/>
                <a:cs typeface="Calibri"/>
              </a:rPr>
              <a:t> </a:t>
            </a:r>
            <a:r>
              <a:rPr sz="1800" dirty="0">
                <a:latin typeface="Calibri"/>
                <a:cs typeface="Calibri"/>
              </a:rPr>
              <a:t>141,</a:t>
            </a:r>
            <a:r>
              <a:rPr sz="1800" spc="-40" dirty="0">
                <a:latin typeface="Calibri"/>
                <a:cs typeface="Calibri"/>
              </a:rPr>
              <a:t> </a:t>
            </a:r>
            <a:r>
              <a:rPr sz="1800" spc="-10" dirty="0">
                <a:latin typeface="Calibri"/>
                <a:cs typeface="Calibri"/>
              </a:rPr>
              <a:t>112957.</a:t>
            </a:r>
            <a:endParaRPr sz="1800">
              <a:latin typeface="Calibri"/>
              <a:cs typeface="Calibri"/>
            </a:endParaRPr>
          </a:p>
          <a:p>
            <a:pPr marL="12700" marR="10160" indent="493395">
              <a:lnSpc>
                <a:spcPct val="171200"/>
              </a:lnSpc>
              <a:buSzPct val="66666"/>
              <a:buFont typeface="Cambria"/>
              <a:buAutoNum type="arabicPlain" startAt="7"/>
              <a:tabLst>
                <a:tab pos="506095" algn="l"/>
              </a:tabLst>
            </a:pPr>
            <a:r>
              <a:rPr sz="1800" dirty="0">
                <a:latin typeface="Calibri"/>
                <a:cs typeface="Calibri"/>
              </a:rPr>
              <a:t>Iqbal,</a:t>
            </a:r>
            <a:r>
              <a:rPr sz="1800" spc="-15" dirty="0">
                <a:latin typeface="Calibri"/>
                <a:cs typeface="Calibri"/>
              </a:rPr>
              <a:t> </a:t>
            </a:r>
            <a:r>
              <a:rPr sz="1800" dirty="0">
                <a:latin typeface="Calibri"/>
                <a:cs typeface="Calibri"/>
              </a:rPr>
              <a:t>S.,</a:t>
            </a:r>
            <a:r>
              <a:rPr sz="1800" spc="-5" dirty="0">
                <a:latin typeface="Calibri"/>
                <a:cs typeface="Calibri"/>
              </a:rPr>
              <a:t> </a:t>
            </a:r>
            <a:r>
              <a:rPr sz="1800" dirty="0">
                <a:latin typeface="Calibri"/>
                <a:cs typeface="Calibri"/>
              </a:rPr>
              <a:t>Qureshi,</a:t>
            </a:r>
            <a:r>
              <a:rPr sz="1800" spc="15" dirty="0">
                <a:latin typeface="Calibri"/>
                <a:cs typeface="Calibri"/>
              </a:rPr>
              <a:t> </a:t>
            </a:r>
            <a:r>
              <a:rPr sz="1800" dirty="0">
                <a:latin typeface="Calibri"/>
                <a:cs typeface="Calibri"/>
              </a:rPr>
              <a:t>S.</a:t>
            </a:r>
            <a:r>
              <a:rPr sz="1800" spc="-20" dirty="0">
                <a:latin typeface="Calibri"/>
                <a:cs typeface="Calibri"/>
              </a:rPr>
              <a:t> </a:t>
            </a:r>
            <a:r>
              <a:rPr sz="1800" dirty="0">
                <a:latin typeface="Calibri"/>
                <a:cs typeface="Calibri"/>
              </a:rPr>
              <a:t>A.,</a:t>
            </a:r>
            <a:r>
              <a:rPr sz="1800" spc="-5" dirty="0">
                <a:latin typeface="Calibri"/>
                <a:cs typeface="Calibri"/>
              </a:rPr>
              <a:t> </a:t>
            </a:r>
            <a:r>
              <a:rPr sz="1800" dirty="0">
                <a:latin typeface="Calibri"/>
                <a:cs typeface="Calibri"/>
              </a:rPr>
              <a:t>&amp;</a:t>
            </a:r>
            <a:r>
              <a:rPr sz="1800" spc="-20" dirty="0">
                <a:latin typeface="Calibri"/>
                <a:cs typeface="Calibri"/>
              </a:rPr>
              <a:t> </a:t>
            </a:r>
            <a:r>
              <a:rPr sz="1800" dirty="0">
                <a:latin typeface="Calibri"/>
                <a:cs typeface="Calibri"/>
              </a:rPr>
              <a:t>Javed,</a:t>
            </a:r>
            <a:r>
              <a:rPr sz="1800" spc="-10" dirty="0">
                <a:latin typeface="Calibri"/>
                <a:cs typeface="Calibri"/>
              </a:rPr>
              <a:t> </a:t>
            </a:r>
            <a:r>
              <a:rPr sz="1800" dirty="0">
                <a:latin typeface="Calibri"/>
                <a:cs typeface="Calibri"/>
              </a:rPr>
              <a:t>M.</a:t>
            </a:r>
            <a:r>
              <a:rPr sz="1800" spc="-15" dirty="0">
                <a:latin typeface="Calibri"/>
                <a:cs typeface="Calibri"/>
              </a:rPr>
              <a:t> </a:t>
            </a:r>
            <a:r>
              <a:rPr sz="1800" dirty="0">
                <a:latin typeface="Calibri"/>
                <a:cs typeface="Calibri"/>
              </a:rPr>
              <a:t>Y.</a:t>
            </a:r>
            <a:r>
              <a:rPr sz="1800" spc="-15" dirty="0">
                <a:latin typeface="Calibri"/>
                <a:cs typeface="Calibri"/>
              </a:rPr>
              <a:t> </a:t>
            </a:r>
            <a:r>
              <a:rPr sz="1800" dirty="0">
                <a:latin typeface="Calibri"/>
                <a:cs typeface="Calibri"/>
              </a:rPr>
              <a:t>(2021).</a:t>
            </a:r>
            <a:r>
              <a:rPr sz="1800" spc="35" dirty="0">
                <a:latin typeface="Calibri"/>
                <a:cs typeface="Calibri"/>
              </a:rPr>
              <a:t> </a:t>
            </a:r>
            <a:r>
              <a:rPr sz="1800" i="1" dirty="0">
                <a:latin typeface="Calibri"/>
                <a:cs typeface="Calibri"/>
              </a:rPr>
              <a:t>Deep learning</a:t>
            </a:r>
            <a:r>
              <a:rPr sz="1800" i="1" spc="-10" dirty="0">
                <a:latin typeface="Calibri"/>
                <a:cs typeface="Calibri"/>
              </a:rPr>
              <a:t> </a:t>
            </a:r>
            <a:r>
              <a:rPr sz="1800" i="1" dirty="0">
                <a:latin typeface="Calibri"/>
                <a:cs typeface="Calibri"/>
              </a:rPr>
              <a:t>model</a:t>
            </a:r>
            <a:r>
              <a:rPr sz="1800" i="1" spc="-15" dirty="0">
                <a:latin typeface="Calibri"/>
                <a:cs typeface="Calibri"/>
              </a:rPr>
              <a:t> </a:t>
            </a:r>
            <a:r>
              <a:rPr sz="1800" i="1" dirty="0">
                <a:latin typeface="Calibri"/>
                <a:cs typeface="Calibri"/>
              </a:rPr>
              <a:t>for</a:t>
            </a:r>
            <a:r>
              <a:rPr sz="1800" i="1" spc="-10" dirty="0">
                <a:latin typeface="Calibri"/>
                <a:cs typeface="Calibri"/>
              </a:rPr>
              <a:t> </a:t>
            </a:r>
            <a:r>
              <a:rPr sz="1800" i="1" dirty="0">
                <a:latin typeface="Calibri"/>
                <a:cs typeface="Calibri"/>
              </a:rPr>
              <a:t>classification</a:t>
            </a:r>
            <a:r>
              <a:rPr sz="1800" i="1" spc="-5" dirty="0">
                <a:latin typeface="Calibri"/>
                <a:cs typeface="Calibri"/>
              </a:rPr>
              <a:t> </a:t>
            </a:r>
            <a:r>
              <a:rPr sz="1800" i="1" dirty="0">
                <a:latin typeface="Calibri"/>
                <a:cs typeface="Calibri"/>
              </a:rPr>
              <a:t>of</a:t>
            </a:r>
            <a:r>
              <a:rPr sz="1800" i="1" spc="-10" dirty="0">
                <a:latin typeface="Calibri"/>
                <a:cs typeface="Calibri"/>
              </a:rPr>
              <a:t> </a:t>
            </a:r>
            <a:r>
              <a:rPr sz="1800" i="1" dirty="0">
                <a:latin typeface="Calibri"/>
                <a:cs typeface="Calibri"/>
              </a:rPr>
              <a:t>glioma</a:t>
            </a:r>
            <a:r>
              <a:rPr sz="1800" i="1" spc="-10" dirty="0">
                <a:latin typeface="Calibri"/>
                <a:cs typeface="Calibri"/>
              </a:rPr>
              <a:t> </a:t>
            </a:r>
            <a:r>
              <a:rPr sz="1800" i="1" dirty="0">
                <a:latin typeface="Calibri"/>
                <a:cs typeface="Calibri"/>
              </a:rPr>
              <a:t>tumor</a:t>
            </a:r>
            <a:r>
              <a:rPr sz="1800" i="1" spc="-10" dirty="0">
                <a:latin typeface="Calibri"/>
                <a:cs typeface="Calibri"/>
              </a:rPr>
              <a:t> subtypes </a:t>
            </a:r>
            <a:r>
              <a:rPr sz="1800" i="1" dirty="0">
                <a:latin typeface="Calibri"/>
                <a:cs typeface="Calibri"/>
              </a:rPr>
              <a:t>using</a:t>
            </a:r>
            <a:r>
              <a:rPr sz="1800" i="1" spc="-30" dirty="0">
                <a:latin typeface="Calibri"/>
                <a:cs typeface="Calibri"/>
              </a:rPr>
              <a:t> </a:t>
            </a:r>
            <a:r>
              <a:rPr sz="1800" i="1" dirty="0">
                <a:latin typeface="Calibri"/>
                <a:cs typeface="Calibri"/>
              </a:rPr>
              <a:t>MRI</a:t>
            </a:r>
            <a:r>
              <a:rPr sz="1800" i="1" spc="-55" dirty="0">
                <a:latin typeface="Calibri"/>
                <a:cs typeface="Calibri"/>
              </a:rPr>
              <a:t> </a:t>
            </a:r>
            <a:r>
              <a:rPr sz="1800" i="1" dirty="0">
                <a:latin typeface="Calibri"/>
                <a:cs typeface="Calibri"/>
              </a:rPr>
              <a:t>data.</a:t>
            </a:r>
            <a:r>
              <a:rPr sz="1800" i="1" spc="-20" dirty="0">
                <a:latin typeface="Calibri"/>
                <a:cs typeface="Calibri"/>
              </a:rPr>
              <a:t> </a:t>
            </a:r>
            <a:r>
              <a:rPr sz="1800" dirty="0">
                <a:latin typeface="Calibri"/>
                <a:cs typeface="Calibri"/>
              </a:rPr>
              <a:t>Biomedical</a:t>
            </a:r>
            <a:r>
              <a:rPr sz="1800" spc="-30" dirty="0">
                <a:latin typeface="Calibri"/>
                <a:cs typeface="Calibri"/>
              </a:rPr>
              <a:t> </a:t>
            </a:r>
            <a:r>
              <a:rPr sz="1800" dirty="0">
                <a:latin typeface="Calibri"/>
                <a:cs typeface="Calibri"/>
              </a:rPr>
              <a:t>Signal</a:t>
            </a:r>
            <a:r>
              <a:rPr sz="1800" spc="-40" dirty="0">
                <a:latin typeface="Calibri"/>
                <a:cs typeface="Calibri"/>
              </a:rPr>
              <a:t> </a:t>
            </a:r>
            <a:r>
              <a:rPr sz="1800" dirty="0">
                <a:latin typeface="Calibri"/>
                <a:cs typeface="Calibri"/>
              </a:rPr>
              <a:t>Processing</a:t>
            </a:r>
            <a:r>
              <a:rPr sz="1800" spc="-40"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Control,</a:t>
            </a:r>
            <a:r>
              <a:rPr sz="1800" spc="-35" dirty="0">
                <a:latin typeface="Calibri"/>
                <a:cs typeface="Calibri"/>
              </a:rPr>
              <a:t> </a:t>
            </a:r>
            <a:r>
              <a:rPr sz="1800" dirty="0">
                <a:latin typeface="Calibri"/>
                <a:cs typeface="Calibri"/>
              </a:rPr>
              <a:t>63,</a:t>
            </a:r>
            <a:r>
              <a:rPr sz="1800" spc="-30" dirty="0">
                <a:latin typeface="Calibri"/>
                <a:cs typeface="Calibri"/>
              </a:rPr>
              <a:t> </a:t>
            </a:r>
            <a:r>
              <a:rPr sz="1800" spc="-10" dirty="0">
                <a:latin typeface="Calibri"/>
                <a:cs typeface="Calibri"/>
              </a:rPr>
              <a:t>102172.</a:t>
            </a:r>
            <a:endParaRPr sz="1800">
              <a:latin typeface="Calibri"/>
              <a:cs typeface="Calibri"/>
            </a:endParaRPr>
          </a:p>
          <a:p>
            <a:pPr marL="12700" marR="7620" indent="493395">
              <a:lnSpc>
                <a:spcPct val="171200"/>
              </a:lnSpc>
              <a:spcBef>
                <a:spcPts val="20"/>
              </a:spcBef>
              <a:buSzPct val="66666"/>
              <a:buFont typeface="Cambria"/>
              <a:buAutoNum type="arabicPlain" startAt="7"/>
              <a:tabLst>
                <a:tab pos="506095" algn="l"/>
              </a:tabLst>
            </a:pPr>
            <a:r>
              <a:rPr sz="1800" dirty="0">
                <a:latin typeface="Calibri"/>
                <a:cs typeface="Calibri"/>
              </a:rPr>
              <a:t>Rehman,</a:t>
            </a:r>
            <a:r>
              <a:rPr sz="1800" spc="130" dirty="0">
                <a:latin typeface="Calibri"/>
                <a:cs typeface="Calibri"/>
              </a:rPr>
              <a:t> </a:t>
            </a:r>
            <a:r>
              <a:rPr sz="1800" dirty="0">
                <a:latin typeface="Calibri"/>
                <a:cs typeface="Calibri"/>
              </a:rPr>
              <a:t>A.,</a:t>
            </a:r>
            <a:r>
              <a:rPr sz="1800" spc="135" dirty="0">
                <a:latin typeface="Calibri"/>
                <a:cs typeface="Calibri"/>
              </a:rPr>
              <a:t> </a:t>
            </a:r>
            <a:r>
              <a:rPr sz="1800" dirty="0">
                <a:latin typeface="Calibri"/>
                <a:cs typeface="Calibri"/>
              </a:rPr>
              <a:t>Khan,</a:t>
            </a:r>
            <a:r>
              <a:rPr sz="1800" spc="135" dirty="0">
                <a:latin typeface="Calibri"/>
                <a:cs typeface="Calibri"/>
              </a:rPr>
              <a:t> </a:t>
            </a:r>
            <a:r>
              <a:rPr sz="1800" dirty="0">
                <a:latin typeface="Calibri"/>
                <a:cs typeface="Calibri"/>
              </a:rPr>
              <a:t>M.</a:t>
            </a:r>
            <a:r>
              <a:rPr sz="1800" spc="125" dirty="0">
                <a:latin typeface="Calibri"/>
                <a:cs typeface="Calibri"/>
              </a:rPr>
              <a:t> </a:t>
            </a:r>
            <a:r>
              <a:rPr sz="1800" dirty="0">
                <a:latin typeface="Calibri"/>
                <a:cs typeface="Calibri"/>
              </a:rPr>
              <a:t>A.,</a:t>
            </a:r>
            <a:r>
              <a:rPr sz="1800" spc="135" dirty="0">
                <a:latin typeface="Calibri"/>
                <a:cs typeface="Calibri"/>
              </a:rPr>
              <a:t> </a:t>
            </a:r>
            <a:r>
              <a:rPr sz="1800" dirty="0">
                <a:latin typeface="Calibri"/>
                <a:cs typeface="Calibri"/>
              </a:rPr>
              <a:t>Saba,</a:t>
            </a:r>
            <a:r>
              <a:rPr sz="1800" spc="160" dirty="0">
                <a:latin typeface="Calibri"/>
                <a:cs typeface="Calibri"/>
              </a:rPr>
              <a:t> </a:t>
            </a:r>
            <a:r>
              <a:rPr sz="1800" dirty="0">
                <a:latin typeface="Calibri"/>
                <a:cs typeface="Calibri"/>
              </a:rPr>
              <a:t>T.,</a:t>
            </a:r>
            <a:r>
              <a:rPr sz="1800" spc="135" dirty="0">
                <a:latin typeface="Calibri"/>
                <a:cs typeface="Calibri"/>
              </a:rPr>
              <a:t> </a:t>
            </a:r>
            <a:r>
              <a:rPr sz="1800" dirty="0">
                <a:latin typeface="Calibri"/>
                <a:cs typeface="Calibri"/>
              </a:rPr>
              <a:t>&amp;</a:t>
            </a:r>
            <a:r>
              <a:rPr sz="1800" spc="120" dirty="0">
                <a:latin typeface="Calibri"/>
                <a:cs typeface="Calibri"/>
              </a:rPr>
              <a:t> </a:t>
            </a:r>
            <a:r>
              <a:rPr sz="1800" dirty="0">
                <a:latin typeface="Calibri"/>
                <a:cs typeface="Calibri"/>
              </a:rPr>
              <a:t>Mehmood,</a:t>
            </a:r>
            <a:r>
              <a:rPr sz="1800" spc="135" dirty="0">
                <a:latin typeface="Calibri"/>
                <a:cs typeface="Calibri"/>
              </a:rPr>
              <a:t> </a:t>
            </a:r>
            <a:r>
              <a:rPr sz="1800" dirty="0">
                <a:latin typeface="Calibri"/>
                <a:cs typeface="Calibri"/>
              </a:rPr>
              <a:t>Z.</a:t>
            </a:r>
            <a:r>
              <a:rPr sz="1800" spc="125" dirty="0">
                <a:latin typeface="Calibri"/>
                <a:cs typeface="Calibri"/>
              </a:rPr>
              <a:t> </a:t>
            </a:r>
            <a:r>
              <a:rPr sz="1800" dirty="0">
                <a:latin typeface="Calibri"/>
                <a:cs typeface="Calibri"/>
              </a:rPr>
              <a:t>(2022).</a:t>
            </a:r>
            <a:r>
              <a:rPr sz="1800" spc="185" dirty="0">
                <a:latin typeface="Calibri"/>
                <a:cs typeface="Calibri"/>
              </a:rPr>
              <a:t> </a:t>
            </a:r>
            <a:r>
              <a:rPr sz="1800" i="1" dirty="0">
                <a:latin typeface="Calibri"/>
                <a:cs typeface="Calibri"/>
              </a:rPr>
              <a:t>Brain</a:t>
            </a:r>
            <a:r>
              <a:rPr sz="1800" i="1" spc="114" dirty="0">
                <a:latin typeface="Calibri"/>
                <a:cs typeface="Calibri"/>
              </a:rPr>
              <a:t> </a:t>
            </a:r>
            <a:r>
              <a:rPr sz="1800" i="1" dirty="0">
                <a:latin typeface="Calibri"/>
                <a:cs typeface="Calibri"/>
              </a:rPr>
              <a:t>tumor</a:t>
            </a:r>
            <a:r>
              <a:rPr sz="1800" i="1" spc="130" dirty="0">
                <a:latin typeface="Calibri"/>
                <a:cs typeface="Calibri"/>
              </a:rPr>
              <a:t> </a:t>
            </a:r>
            <a:r>
              <a:rPr sz="1800" i="1" dirty="0">
                <a:latin typeface="Calibri"/>
                <a:cs typeface="Calibri"/>
              </a:rPr>
              <a:t>classification</a:t>
            </a:r>
            <a:r>
              <a:rPr sz="1800" i="1" spc="135" dirty="0">
                <a:latin typeface="Calibri"/>
                <a:cs typeface="Calibri"/>
              </a:rPr>
              <a:t> </a:t>
            </a:r>
            <a:r>
              <a:rPr sz="1800" i="1" dirty="0">
                <a:latin typeface="Calibri"/>
                <a:cs typeface="Calibri"/>
              </a:rPr>
              <a:t>using</a:t>
            </a:r>
            <a:r>
              <a:rPr sz="1800" i="1" spc="140" dirty="0">
                <a:latin typeface="Calibri"/>
                <a:cs typeface="Calibri"/>
              </a:rPr>
              <a:t> </a:t>
            </a:r>
            <a:r>
              <a:rPr sz="1800" i="1" dirty="0">
                <a:latin typeface="Calibri"/>
                <a:cs typeface="Calibri"/>
              </a:rPr>
              <a:t>deep</a:t>
            </a:r>
            <a:r>
              <a:rPr sz="1800" i="1" spc="110" dirty="0">
                <a:latin typeface="Calibri"/>
                <a:cs typeface="Calibri"/>
              </a:rPr>
              <a:t> </a:t>
            </a:r>
            <a:r>
              <a:rPr sz="1800" i="1" dirty="0">
                <a:latin typeface="Calibri"/>
                <a:cs typeface="Calibri"/>
              </a:rPr>
              <a:t>learning:</a:t>
            </a:r>
            <a:r>
              <a:rPr sz="1800" i="1" spc="130" dirty="0">
                <a:latin typeface="Calibri"/>
                <a:cs typeface="Calibri"/>
              </a:rPr>
              <a:t> </a:t>
            </a:r>
            <a:r>
              <a:rPr sz="1800" i="1" spc="-50" dirty="0">
                <a:latin typeface="Calibri"/>
                <a:cs typeface="Calibri"/>
              </a:rPr>
              <a:t>A </a:t>
            </a:r>
            <a:r>
              <a:rPr sz="1800" i="1" dirty="0">
                <a:latin typeface="Calibri"/>
                <a:cs typeface="Calibri"/>
              </a:rPr>
              <a:t>review.</a:t>
            </a:r>
            <a:r>
              <a:rPr sz="1800" i="1" spc="-45" dirty="0">
                <a:latin typeface="Calibri"/>
                <a:cs typeface="Calibri"/>
              </a:rPr>
              <a:t> </a:t>
            </a:r>
            <a:r>
              <a:rPr sz="1800" dirty="0">
                <a:latin typeface="Calibri"/>
                <a:cs typeface="Calibri"/>
              </a:rPr>
              <a:t>Healthcare</a:t>
            </a:r>
            <a:r>
              <a:rPr sz="1800" spc="-65" dirty="0">
                <a:latin typeface="Calibri"/>
                <a:cs typeface="Calibri"/>
              </a:rPr>
              <a:t> </a:t>
            </a:r>
            <a:r>
              <a:rPr sz="1800" dirty="0">
                <a:latin typeface="Calibri"/>
                <a:cs typeface="Calibri"/>
              </a:rPr>
              <a:t>Analytics,</a:t>
            </a:r>
            <a:r>
              <a:rPr sz="1800" spc="-50" dirty="0">
                <a:latin typeface="Calibri"/>
                <a:cs typeface="Calibri"/>
              </a:rPr>
              <a:t> </a:t>
            </a:r>
            <a:r>
              <a:rPr sz="1800" dirty="0">
                <a:latin typeface="Calibri"/>
                <a:cs typeface="Calibri"/>
              </a:rPr>
              <a:t>2,</a:t>
            </a:r>
            <a:r>
              <a:rPr sz="1800" spc="-40" dirty="0">
                <a:latin typeface="Calibri"/>
                <a:cs typeface="Calibri"/>
              </a:rPr>
              <a:t> </a:t>
            </a:r>
            <a:r>
              <a:rPr sz="1800" spc="-10" dirty="0">
                <a:latin typeface="Calibri"/>
                <a:cs typeface="Calibri"/>
              </a:rPr>
              <a:t>100041.</a:t>
            </a:r>
            <a:endParaRPr sz="1800">
              <a:latin typeface="Calibri"/>
              <a:cs typeface="Calibri"/>
            </a:endParaRPr>
          </a:p>
          <a:p>
            <a:pPr marL="12700" marR="5715" indent="493395">
              <a:lnSpc>
                <a:spcPts val="3720"/>
              </a:lnSpc>
              <a:spcBef>
                <a:spcPts val="365"/>
              </a:spcBef>
              <a:buSzPct val="66666"/>
              <a:buFont typeface="Cambria"/>
              <a:buAutoNum type="arabicPlain" startAt="7"/>
              <a:tabLst>
                <a:tab pos="506095" algn="l"/>
              </a:tabLst>
            </a:pPr>
            <a:r>
              <a:rPr sz="1800" dirty="0">
                <a:latin typeface="Calibri"/>
                <a:cs typeface="Calibri"/>
              </a:rPr>
              <a:t>Islam,</a:t>
            </a:r>
            <a:r>
              <a:rPr sz="1800" spc="20" dirty="0">
                <a:latin typeface="Calibri"/>
                <a:cs typeface="Calibri"/>
              </a:rPr>
              <a:t> </a:t>
            </a:r>
            <a:r>
              <a:rPr sz="1800" dirty="0">
                <a:latin typeface="Calibri"/>
                <a:cs typeface="Calibri"/>
              </a:rPr>
              <a:t>M.,</a:t>
            </a:r>
            <a:r>
              <a:rPr sz="1800" spc="25" dirty="0">
                <a:latin typeface="Calibri"/>
                <a:cs typeface="Calibri"/>
              </a:rPr>
              <a:t> </a:t>
            </a:r>
            <a:r>
              <a:rPr sz="1800" dirty="0">
                <a:latin typeface="Calibri"/>
                <a:cs typeface="Calibri"/>
              </a:rPr>
              <a:t>Zhang,</a:t>
            </a:r>
            <a:r>
              <a:rPr sz="1800" spc="20" dirty="0">
                <a:latin typeface="Calibri"/>
                <a:cs typeface="Calibri"/>
              </a:rPr>
              <a:t> </a:t>
            </a:r>
            <a:r>
              <a:rPr sz="1800" dirty="0">
                <a:latin typeface="Calibri"/>
                <a:cs typeface="Calibri"/>
              </a:rPr>
              <a:t>Y.,</a:t>
            </a:r>
            <a:r>
              <a:rPr sz="1800" spc="25" dirty="0">
                <a:latin typeface="Calibri"/>
                <a:cs typeface="Calibri"/>
              </a:rPr>
              <a:t> </a:t>
            </a:r>
            <a:r>
              <a:rPr sz="1800" dirty="0">
                <a:latin typeface="Calibri"/>
                <a:cs typeface="Calibri"/>
              </a:rPr>
              <a:t>&amp;</a:t>
            </a:r>
            <a:r>
              <a:rPr sz="1800" spc="15" dirty="0">
                <a:latin typeface="Calibri"/>
                <a:cs typeface="Calibri"/>
              </a:rPr>
              <a:t> </a:t>
            </a:r>
            <a:r>
              <a:rPr sz="1800" dirty="0">
                <a:latin typeface="Calibri"/>
                <a:cs typeface="Calibri"/>
              </a:rPr>
              <a:t>Ren,</a:t>
            </a:r>
            <a:r>
              <a:rPr sz="1800" spc="20" dirty="0">
                <a:latin typeface="Calibri"/>
                <a:cs typeface="Calibri"/>
              </a:rPr>
              <a:t> </a:t>
            </a:r>
            <a:r>
              <a:rPr sz="1800" dirty="0">
                <a:latin typeface="Calibri"/>
                <a:cs typeface="Calibri"/>
              </a:rPr>
              <a:t>H.</a:t>
            </a:r>
            <a:r>
              <a:rPr sz="1800" spc="20" dirty="0">
                <a:latin typeface="Calibri"/>
                <a:cs typeface="Calibri"/>
              </a:rPr>
              <a:t> </a:t>
            </a:r>
            <a:r>
              <a:rPr sz="1800" dirty="0">
                <a:latin typeface="Calibri"/>
                <a:cs typeface="Calibri"/>
              </a:rPr>
              <a:t>(2023).</a:t>
            </a:r>
            <a:r>
              <a:rPr sz="1800" spc="60" dirty="0">
                <a:latin typeface="Calibri"/>
                <a:cs typeface="Calibri"/>
              </a:rPr>
              <a:t> </a:t>
            </a:r>
            <a:r>
              <a:rPr sz="1800" i="1" spc="-10" dirty="0">
                <a:latin typeface="Calibri"/>
                <a:cs typeface="Calibri"/>
              </a:rPr>
              <a:t>Multi-</a:t>
            </a:r>
            <a:r>
              <a:rPr sz="1800" i="1" dirty="0">
                <a:latin typeface="Calibri"/>
                <a:cs typeface="Calibri"/>
              </a:rPr>
              <a:t>class</a:t>
            </a:r>
            <a:r>
              <a:rPr sz="1800" i="1" spc="10" dirty="0">
                <a:latin typeface="Calibri"/>
                <a:cs typeface="Calibri"/>
              </a:rPr>
              <a:t> </a:t>
            </a:r>
            <a:r>
              <a:rPr sz="1800" i="1" dirty="0">
                <a:latin typeface="Calibri"/>
                <a:cs typeface="Calibri"/>
              </a:rPr>
              <a:t>brain</a:t>
            </a:r>
            <a:r>
              <a:rPr sz="1800" i="1" spc="25" dirty="0">
                <a:latin typeface="Calibri"/>
                <a:cs typeface="Calibri"/>
              </a:rPr>
              <a:t> </a:t>
            </a:r>
            <a:r>
              <a:rPr sz="1800" i="1" dirty="0">
                <a:latin typeface="Calibri"/>
                <a:cs typeface="Calibri"/>
              </a:rPr>
              <a:t>tumor</a:t>
            </a:r>
            <a:r>
              <a:rPr sz="1800" i="1" spc="25" dirty="0">
                <a:latin typeface="Calibri"/>
                <a:cs typeface="Calibri"/>
              </a:rPr>
              <a:t> </a:t>
            </a:r>
            <a:r>
              <a:rPr sz="1800" i="1" dirty="0">
                <a:latin typeface="Calibri"/>
                <a:cs typeface="Calibri"/>
              </a:rPr>
              <a:t>classification</a:t>
            </a:r>
            <a:r>
              <a:rPr sz="1800" i="1" spc="25" dirty="0">
                <a:latin typeface="Calibri"/>
                <a:cs typeface="Calibri"/>
              </a:rPr>
              <a:t> </a:t>
            </a:r>
            <a:r>
              <a:rPr sz="1800" i="1" dirty="0">
                <a:latin typeface="Calibri"/>
                <a:cs typeface="Calibri"/>
              </a:rPr>
              <a:t>using</a:t>
            </a:r>
            <a:r>
              <a:rPr sz="1800" i="1" spc="30" dirty="0">
                <a:latin typeface="Calibri"/>
                <a:cs typeface="Calibri"/>
              </a:rPr>
              <a:t> </a:t>
            </a:r>
            <a:r>
              <a:rPr sz="1800" i="1" dirty="0">
                <a:latin typeface="Calibri"/>
                <a:cs typeface="Calibri"/>
              </a:rPr>
              <a:t>ensemble</a:t>
            </a:r>
            <a:r>
              <a:rPr sz="1800" i="1" spc="20" dirty="0">
                <a:latin typeface="Calibri"/>
                <a:cs typeface="Calibri"/>
              </a:rPr>
              <a:t> </a:t>
            </a:r>
            <a:r>
              <a:rPr sz="1800" i="1" dirty="0">
                <a:latin typeface="Calibri"/>
                <a:cs typeface="Calibri"/>
              </a:rPr>
              <a:t>CNNs.</a:t>
            </a:r>
            <a:r>
              <a:rPr sz="1800" i="1" spc="80" dirty="0">
                <a:latin typeface="Calibri"/>
                <a:cs typeface="Calibri"/>
              </a:rPr>
              <a:t> </a:t>
            </a:r>
            <a:r>
              <a:rPr sz="1800" spc="-10" dirty="0">
                <a:latin typeface="Calibri"/>
                <a:cs typeface="Calibri"/>
              </a:rPr>
              <a:t>Computers </a:t>
            </a:r>
            <a:r>
              <a:rPr sz="1800" dirty="0">
                <a:latin typeface="Calibri"/>
                <a:cs typeface="Calibri"/>
              </a:rPr>
              <a:t>in</a:t>
            </a:r>
            <a:r>
              <a:rPr sz="1800" spc="-55" dirty="0">
                <a:latin typeface="Calibri"/>
                <a:cs typeface="Calibri"/>
              </a:rPr>
              <a:t> </a:t>
            </a:r>
            <a:r>
              <a:rPr sz="1800" dirty="0">
                <a:latin typeface="Calibri"/>
                <a:cs typeface="Calibri"/>
              </a:rPr>
              <a:t>Biology</a:t>
            </a:r>
            <a:r>
              <a:rPr sz="1800" spc="-4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Medicine,</a:t>
            </a:r>
            <a:r>
              <a:rPr sz="1800" spc="-45" dirty="0">
                <a:latin typeface="Calibri"/>
                <a:cs typeface="Calibri"/>
              </a:rPr>
              <a:t> </a:t>
            </a:r>
            <a:r>
              <a:rPr sz="1800" dirty="0">
                <a:latin typeface="Calibri"/>
                <a:cs typeface="Calibri"/>
              </a:rPr>
              <a:t>154,</a:t>
            </a:r>
            <a:r>
              <a:rPr sz="1800" spc="-45" dirty="0">
                <a:latin typeface="Calibri"/>
                <a:cs typeface="Calibri"/>
              </a:rPr>
              <a:t> </a:t>
            </a:r>
            <a:r>
              <a:rPr sz="1800" spc="-10" dirty="0">
                <a:latin typeface="Calibri"/>
                <a:cs typeface="Calibri"/>
              </a:rPr>
              <a:t>106594.</a:t>
            </a:r>
            <a:endParaRPr sz="1800">
              <a:latin typeface="Calibri"/>
              <a:cs typeface="Calibri"/>
            </a:endParaRPr>
          </a:p>
          <a:p>
            <a:pPr marL="506095" indent="-493395">
              <a:lnSpc>
                <a:spcPct val="100000"/>
              </a:lnSpc>
              <a:spcBef>
                <a:spcPts val="1155"/>
              </a:spcBef>
              <a:buSzPct val="66666"/>
              <a:buFont typeface="Cambria"/>
              <a:buAutoNum type="arabicPlain" startAt="7"/>
              <a:tabLst>
                <a:tab pos="506095" algn="l"/>
              </a:tabLst>
            </a:pPr>
            <a:r>
              <a:rPr sz="1800" dirty="0">
                <a:latin typeface="Calibri"/>
                <a:cs typeface="Calibri"/>
              </a:rPr>
              <a:t>Lakkimsetty,</a:t>
            </a:r>
            <a:r>
              <a:rPr sz="1800" spc="135" dirty="0">
                <a:latin typeface="Calibri"/>
                <a:cs typeface="Calibri"/>
              </a:rPr>
              <a:t> </a:t>
            </a:r>
            <a:r>
              <a:rPr sz="1800" dirty="0">
                <a:latin typeface="Calibri"/>
                <a:cs typeface="Calibri"/>
              </a:rPr>
              <a:t>V.,</a:t>
            </a:r>
            <a:r>
              <a:rPr sz="1800" spc="140" dirty="0">
                <a:latin typeface="Calibri"/>
                <a:cs typeface="Calibri"/>
              </a:rPr>
              <a:t> </a:t>
            </a:r>
            <a:r>
              <a:rPr sz="1800" dirty="0">
                <a:latin typeface="Calibri"/>
                <a:cs typeface="Calibri"/>
              </a:rPr>
              <a:t>&amp;</a:t>
            </a:r>
            <a:r>
              <a:rPr sz="1800" spc="130" dirty="0">
                <a:latin typeface="Calibri"/>
                <a:cs typeface="Calibri"/>
              </a:rPr>
              <a:t> </a:t>
            </a:r>
            <a:r>
              <a:rPr sz="1800" dirty="0">
                <a:latin typeface="Calibri"/>
                <a:cs typeface="Calibri"/>
              </a:rPr>
              <a:t>Ghanta,</a:t>
            </a:r>
            <a:r>
              <a:rPr sz="1800" spc="135" dirty="0">
                <a:latin typeface="Calibri"/>
                <a:cs typeface="Calibri"/>
              </a:rPr>
              <a:t> </a:t>
            </a:r>
            <a:r>
              <a:rPr sz="1800" dirty="0">
                <a:latin typeface="Calibri"/>
                <a:cs typeface="Calibri"/>
              </a:rPr>
              <a:t>S.</a:t>
            </a:r>
            <a:r>
              <a:rPr sz="1800" spc="135" dirty="0">
                <a:latin typeface="Calibri"/>
                <a:cs typeface="Calibri"/>
              </a:rPr>
              <a:t> </a:t>
            </a:r>
            <a:r>
              <a:rPr sz="1800" dirty="0">
                <a:latin typeface="Calibri"/>
                <a:cs typeface="Calibri"/>
              </a:rPr>
              <a:t>K.</a:t>
            </a:r>
            <a:r>
              <a:rPr sz="1800" spc="155" dirty="0">
                <a:latin typeface="Calibri"/>
                <a:cs typeface="Calibri"/>
              </a:rPr>
              <a:t> </a:t>
            </a:r>
            <a:r>
              <a:rPr sz="1800" dirty="0">
                <a:latin typeface="Calibri"/>
                <a:cs typeface="Calibri"/>
              </a:rPr>
              <a:t>(2023).</a:t>
            </a:r>
            <a:r>
              <a:rPr sz="1800" spc="165" dirty="0">
                <a:latin typeface="Calibri"/>
                <a:cs typeface="Calibri"/>
              </a:rPr>
              <a:t> </a:t>
            </a:r>
            <a:r>
              <a:rPr sz="1800" i="1" dirty="0">
                <a:latin typeface="Calibri"/>
                <a:cs typeface="Calibri"/>
              </a:rPr>
              <a:t>Transfer</a:t>
            </a:r>
            <a:r>
              <a:rPr sz="1800" i="1" spc="140" dirty="0">
                <a:latin typeface="Calibri"/>
                <a:cs typeface="Calibri"/>
              </a:rPr>
              <a:t> </a:t>
            </a:r>
            <a:r>
              <a:rPr sz="1800" i="1" dirty="0">
                <a:latin typeface="Calibri"/>
                <a:cs typeface="Calibri"/>
              </a:rPr>
              <a:t>learning</a:t>
            </a:r>
            <a:r>
              <a:rPr sz="1800" i="1" spc="140" dirty="0">
                <a:latin typeface="Calibri"/>
                <a:cs typeface="Calibri"/>
              </a:rPr>
              <a:t> </a:t>
            </a:r>
            <a:r>
              <a:rPr sz="1800" i="1" dirty="0">
                <a:latin typeface="Calibri"/>
                <a:cs typeface="Calibri"/>
              </a:rPr>
              <a:t>for</a:t>
            </a:r>
            <a:r>
              <a:rPr sz="1800" i="1" spc="114" dirty="0">
                <a:latin typeface="Calibri"/>
                <a:cs typeface="Calibri"/>
              </a:rPr>
              <a:t> </a:t>
            </a:r>
            <a:r>
              <a:rPr sz="1800" i="1" dirty="0">
                <a:latin typeface="Calibri"/>
                <a:cs typeface="Calibri"/>
              </a:rPr>
              <a:t>brain</a:t>
            </a:r>
            <a:r>
              <a:rPr sz="1800" i="1" spc="140" dirty="0">
                <a:latin typeface="Calibri"/>
                <a:cs typeface="Calibri"/>
              </a:rPr>
              <a:t> </a:t>
            </a:r>
            <a:r>
              <a:rPr sz="1800" i="1" dirty="0">
                <a:latin typeface="Calibri"/>
                <a:cs typeface="Calibri"/>
              </a:rPr>
              <a:t>tumor</a:t>
            </a:r>
            <a:r>
              <a:rPr sz="1800" i="1" spc="140" dirty="0">
                <a:latin typeface="Calibri"/>
                <a:cs typeface="Calibri"/>
              </a:rPr>
              <a:t> </a:t>
            </a:r>
            <a:r>
              <a:rPr sz="1800" i="1" dirty="0">
                <a:latin typeface="Calibri"/>
                <a:cs typeface="Calibri"/>
              </a:rPr>
              <a:t>detection</a:t>
            </a:r>
            <a:r>
              <a:rPr sz="1800" i="1" spc="140" dirty="0">
                <a:latin typeface="Calibri"/>
                <a:cs typeface="Calibri"/>
              </a:rPr>
              <a:t> </a:t>
            </a:r>
            <a:r>
              <a:rPr sz="1800" i="1" dirty="0">
                <a:latin typeface="Calibri"/>
                <a:cs typeface="Calibri"/>
              </a:rPr>
              <a:t>using</a:t>
            </a:r>
            <a:r>
              <a:rPr sz="1800" i="1" spc="145" dirty="0">
                <a:latin typeface="Calibri"/>
                <a:cs typeface="Calibri"/>
              </a:rPr>
              <a:t> </a:t>
            </a:r>
            <a:r>
              <a:rPr sz="1800" i="1" dirty="0">
                <a:latin typeface="Calibri"/>
                <a:cs typeface="Calibri"/>
              </a:rPr>
              <a:t>fine-tuned</a:t>
            </a:r>
            <a:r>
              <a:rPr sz="1800" i="1" spc="140" dirty="0">
                <a:latin typeface="Calibri"/>
                <a:cs typeface="Calibri"/>
              </a:rPr>
              <a:t> </a:t>
            </a:r>
            <a:r>
              <a:rPr sz="1800" i="1" spc="-10" dirty="0">
                <a:latin typeface="Calibri"/>
                <a:cs typeface="Calibri"/>
              </a:rPr>
              <a:t>ResNet</a:t>
            </a:r>
            <a:endParaRPr sz="1800">
              <a:latin typeface="Calibri"/>
              <a:cs typeface="Calibri"/>
            </a:endParaRPr>
          </a:p>
          <a:p>
            <a:pPr marL="12700">
              <a:lnSpc>
                <a:spcPct val="100000"/>
              </a:lnSpc>
              <a:spcBef>
                <a:spcPts val="1560"/>
              </a:spcBef>
            </a:pPr>
            <a:r>
              <a:rPr sz="1800" i="1" dirty="0">
                <a:latin typeface="Calibri"/>
                <a:cs typeface="Calibri"/>
              </a:rPr>
              <a:t>models.</a:t>
            </a:r>
            <a:r>
              <a:rPr sz="1800" i="1" spc="-50" dirty="0">
                <a:latin typeface="Calibri"/>
                <a:cs typeface="Calibri"/>
              </a:rPr>
              <a:t> </a:t>
            </a:r>
            <a:r>
              <a:rPr sz="1800" dirty="0">
                <a:latin typeface="Calibri"/>
                <a:cs typeface="Calibri"/>
              </a:rPr>
              <a:t>Materials</a:t>
            </a:r>
            <a:r>
              <a:rPr sz="1800" spc="-55" dirty="0">
                <a:latin typeface="Calibri"/>
                <a:cs typeface="Calibri"/>
              </a:rPr>
              <a:t> </a:t>
            </a:r>
            <a:r>
              <a:rPr sz="1800" dirty="0">
                <a:latin typeface="Calibri"/>
                <a:cs typeface="Calibri"/>
              </a:rPr>
              <a:t>Today:</a:t>
            </a:r>
            <a:r>
              <a:rPr sz="1800" spc="-50" dirty="0">
                <a:latin typeface="Calibri"/>
                <a:cs typeface="Calibri"/>
              </a:rPr>
              <a:t> </a:t>
            </a:r>
            <a:r>
              <a:rPr sz="1800" dirty="0">
                <a:latin typeface="Calibri"/>
                <a:cs typeface="Calibri"/>
              </a:rPr>
              <a:t>Proceedings,</a:t>
            </a:r>
            <a:r>
              <a:rPr sz="1800" spc="-50" dirty="0">
                <a:latin typeface="Calibri"/>
                <a:cs typeface="Calibri"/>
              </a:rPr>
              <a:t> </a:t>
            </a:r>
            <a:r>
              <a:rPr sz="1800" dirty="0">
                <a:latin typeface="Calibri"/>
                <a:cs typeface="Calibri"/>
              </a:rPr>
              <a:t>80,</a:t>
            </a:r>
            <a:r>
              <a:rPr sz="1800" spc="-50" dirty="0">
                <a:latin typeface="Calibri"/>
                <a:cs typeface="Calibri"/>
              </a:rPr>
              <a:t> </a:t>
            </a:r>
            <a:r>
              <a:rPr sz="1800" spc="-10" dirty="0">
                <a:latin typeface="Calibri"/>
                <a:cs typeface="Calibri"/>
              </a:rPr>
              <a:t>1144–1151.</a:t>
            </a:r>
            <a:endParaRPr sz="18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1133" y="2725623"/>
            <a:ext cx="4102735" cy="1031875"/>
          </a:xfrm>
          <a:prstGeom prst="rect">
            <a:avLst/>
          </a:prstGeom>
        </p:spPr>
        <p:txBody>
          <a:bodyPr vert="horz" wrap="square" lIns="0" tIns="12700" rIns="0" bIns="0" rtlCol="0">
            <a:spAutoFit/>
          </a:bodyPr>
          <a:lstStyle/>
          <a:p>
            <a:pPr marL="12700">
              <a:lnSpc>
                <a:spcPct val="100000"/>
              </a:lnSpc>
              <a:spcBef>
                <a:spcPts val="100"/>
              </a:spcBef>
            </a:pPr>
            <a:r>
              <a:rPr sz="6600" b="0" dirty="0">
                <a:latin typeface="Calibri"/>
                <a:cs typeface="Calibri"/>
              </a:rPr>
              <a:t>THANK</a:t>
            </a:r>
            <a:r>
              <a:rPr sz="6600" b="0" spc="-15" dirty="0">
                <a:latin typeface="Calibri"/>
                <a:cs typeface="Calibri"/>
              </a:rPr>
              <a:t> </a:t>
            </a:r>
            <a:r>
              <a:rPr sz="6600" b="0" spc="-25" dirty="0">
                <a:latin typeface="Calibri"/>
                <a:cs typeface="Calibri"/>
              </a:rPr>
              <a:t>YOU</a:t>
            </a:r>
            <a:endParaRPr sz="6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1696</Words>
  <Application>Microsoft Office PowerPoint</Application>
  <PresentationFormat>Widescreen</PresentationFormat>
  <Paragraphs>168</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vt:lpstr>
      <vt:lpstr>Courier New</vt:lpstr>
      <vt:lpstr>Times New Roman</vt:lpstr>
      <vt:lpstr>Wingdings</vt:lpstr>
      <vt:lpstr>Office Theme</vt:lpstr>
      <vt:lpstr>SAVITRIBAI PHULE PUNE UNIVERSITY</vt:lpstr>
      <vt:lpstr>PowerPoint Presentation</vt:lpstr>
      <vt:lpstr>PowerPoint Presentation</vt:lpstr>
      <vt:lpstr>INTRODUCTION</vt:lpstr>
      <vt:lpstr>Literature Review</vt:lpstr>
      <vt:lpstr>PowerPoint Presentation</vt:lpstr>
      <vt:lpstr>PowerPoint Presentation</vt:lpstr>
      <vt:lpstr>MOTIVATION</vt:lpstr>
      <vt:lpstr>Gap Analysis</vt:lpstr>
      <vt:lpstr>Objective</vt:lpstr>
      <vt:lpstr>Architecture Diagram</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samruddhihsabale@outlook.com</dc:creator>
  <cp:lastModifiedBy>samruddhihsabale@outlook.com</cp:lastModifiedBy>
  <cp:revision>2</cp:revision>
  <dcterms:created xsi:type="dcterms:W3CDTF">2025-09-18T13:53:50Z</dcterms:created>
  <dcterms:modified xsi:type="dcterms:W3CDTF">2025-11-06T03:40:39Z</dcterms:modified>
</cp:coreProperties>
</file>