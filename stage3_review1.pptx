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sldIdLst>
    <p:sldId id="257" r:id="rId2"/>
    <p:sldId id="258" r:id="rId3"/>
    <p:sldId id="259" r:id="rId4"/>
    <p:sldId id="269" r:id="rId5"/>
    <p:sldId id="284" r:id="rId6"/>
    <p:sldId id="279" r:id="rId7"/>
    <p:sldId id="260" r:id="rId8"/>
    <p:sldId id="281" r:id="rId9"/>
    <p:sldId id="272" r:id="rId10"/>
    <p:sldId id="270" r:id="rId11"/>
    <p:sldId id="273" r:id="rId12"/>
    <p:sldId id="263" r:id="rId13"/>
    <p:sldId id="282" r:id="rId14"/>
    <p:sldId id="264" r:id="rId15"/>
    <p:sldId id="283" r:id="rId16"/>
    <p:sldId id="275" r:id="rId17"/>
    <p:sldId id="286" r:id="rId18"/>
    <p:sldId id="287" r:id="rId19"/>
    <p:sldId id="276" r:id="rId20"/>
    <p:sldId id="277"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6D66A5-C476-46F4-9133-76B5863B9E35}" v="67" dt="2025-09-19T04:26:48.3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1DC01-9B8D-9504-A738-59E08AF60C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D8F0A4A-C940-A26E-AD02-AC173D2308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FBB6992-63DA-7301-B340-0148AE118562}"/>
              </a:ext>
            </a:extLst>
          </p:cNvPr>
          <p:cNvSpPr>
            <a:spLocks noGrp="1"/>
          </p:cNvSpPr>
          <p:nvPr>
            <p:ph type="dt" sz="half" idx="10"/>
          </p:nvPr>
        </p:nvSpPr>
        <p:spPr/>
        <p:txBody>
          <a:bodyPr/>
          <a:lstStyle/>
          <a:p>
            <a:fld id="{A2A358D8-BD83-477A-B7AE-C7A5055A1886}" type="datetimeFigureOut">
              <a:rPr lang="en-IN" smtClean="0"/>
              <a:t>30-03-2026</a:t>
            </a:fld>
            <a:endParaRPr lang="en-IN"/>
          </a:p>
        </p:txBody>
      </p:sp>
      <p:sp>
        <p:nvSpPr>
          <p:cNvPr id="5" name="Footer Placeholder 4">
            <a:extLst>
              <a:ext uri="{FF2B5EF4-FFF2-40B4-BE49-F238E27FC236}">
                <a16:creationId xmlns:a16="http://schemas.microsoft.com/office/drawing/2014/main" id="{F242A130-A257-2B92-76CC-8517C406A4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09AA16-5065-0263-CF93-E5F392F56C8D}"/>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3879799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BD25F-5FBE-5903-829A-02B9555202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4DFBD8-5EA3-00B3-3FA6-B28C3EC1F4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117461-E92E-53AE-CC24-0873109CAC31}"/>
              </a:ext>
            </a:extLst>
          </p:cNvPr>
          <p:cNvSpPr>
            <a:spLocks noGrp="1"/>
          </p:cNvSpPr>
          <p:nvPr>
            <p:ph type="dt" sz="half" idx="10"/>
          </p:nvPr>
        </p:nvSpPr>
        <p:spPr/>
        <p:txBody>
          <a:bodyPr/>
          <a:lstStyle/>
          <a:p>
            <a:fld id="{A2A358D8-BD83-477A-B7AE-C7A5055A1886}" type="datetimeFigureOut">
              <a:rPr lang="en-IN" smtClean="0"/>
              <a:t>30-03-2026</a:t>
            </a:fld>
            <a:endParaRPr lang="en-IN"/>
          </a:p>
        </p:txBody>
      </p:sp>
      <p:sp>
        <p:nvSpPr>
          <p:cNvPr id="5" name="Footer Placeholder 4">
            <a:extLst>
              <a:ext uri="{FF2B5EF4-FFF2-40B4-BE49-F238E27FC236}">
                <a16:creationId xmlns:a16="http://schemas.microsoft.com/office/drawing/2014/main" id="{FE908DB9-AD6B-C67A-F390-1E3924E3AB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5AD2D8E-B30F-03E6-0F8E-BFC9B6D0B61A}"/>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4091212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C962-16B8-5CD7-9182-3538324445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9AD22C5-38A0-34BC-4B7B-2DD6141D0C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9E7039-952A-A75A-49D1-302848CEE7FA}"/>
              </a:ext>
            </a:extLst>
          </p:cNvPr>
          <p:cNvSpPr>
            <a:spLocks noGrp="1"/>
          </p:cNvSpPr>
          <p:nvPr>
            <p:ph type="dt" sz="half" idx="10"/>
          </p:nvPr>
        </p:nvSpPr>
        <p:spPr/>
        <p:txBody>
          <a:bodyPr/>
          <a:lstStyle/>
          <a:p>
            <a:fld id="{A2A358D8-BD83-477A-B7AE-C7A5055A1886}" type="datetimeFigureOut">
              <a:rPr lang="en-IN" smtClean="0"/>
              <a:t>30-03-2026</a:t>
            </a:fld>
            <a:endParaRPr lang="en-IN"/>
          </a:p>
        </p:txBody>
      </p:sp>
      <p:sp>
        <p:nvSpPr>
          <p:cNvPr id="5" name="Footer Placeholder 4">
            <a:extLst>
              <a:ext uri="{FF2B5EF4-FFF2-40B4-BE49-F238E27FC236}">
                <a16:creationId xmlns:a16="http://schemas.microsoft.com/office/drawing/2014/main" id="{C144F05B-36BB-4017-81F7-30F0D6E54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1743CD-B275-DA3C-BBCC-F63B6AD9ED7F}"/>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2166712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4DD22-D141-B627-5821-732D326ECB8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D14B931-70B4-8F0E-87BA-81031A883F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29FEF6-BE59-6519-3CFD-418EAF076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AD2CE2C-6324-6B91-1B63-4B5672C16064}"/>
              </a:ext>
            </a:extLst>
          </p:cNvPr>
          <p:cNvSpPr>
            <a:spLocks noGrp="1"/>
          </p:cNvSpPr>
          <p:nvPr>
            <p:ph type="dt" sz="half" idx="10"/>
          </p:nvPr>
        </p:nvSpPr>
        <p:spPr/>
        <p:txBody>
          <a:bodyPr/>
          <a:lstStyle/>
          <a:p>
            <a:fld id="{A2A358D8-BD83-477A-B7AE-C7A5055A1886}" type="datetimeFigureOut">
              <a:rPr lang="en-IN" smtClean="0"/>
              <a:t>30-03-2026</a:t>
            </a:fld>
            <a:endParaRPr lang="en-IN"/>
          </a:p>
        </p:txBody>
      </p:sp>
      <p:sp>
        <p:nvSpPr>
          <p:cNvPr id="6" name="Footer Placeholder 5">
            <a:extLst>
              <a:ext uri="{FF2B5EF4-FFF2-40B4-BE49-F238E27FC236}">
                <a16:creationId xmlns:a16="http://schemas.microsoft.com/office/drawing/2014/main" id="{40FDB1BF-AC65-2E66-F417-A64FBAE35E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F7D9CB-749E-49A4-7099-DC4D726CCE14}"/>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2985931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0F95B-93B1-594E-4E98-714F74FF2E5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5CB2B22-DA1B-697C-6DD7-E032ADB656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9F4CAF-C6DF-6661-548C-1445D11DEC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B7B273-48FF-E17F-1099-94B06C652D7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BA9B01-8EA0-00F8-5BE6-1BB434939A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90B7A6-E760-F1E0-4DBC-AB6974D94981}"/>
              </a:ext>
            </a:extLst>
          </p:cNvPr>
          <p:cNvSpPr>
            <a:spLocks noGrp="1"/>
          </p:cNvSpPr>
          <p:nvPr>
            <p:ph type="dt" sz="half" idx="10"/>
          </p:nvPr>
        </p:nvSpPr>
        <p:spPr/>
        <p:txBody>
          <a:bodyPr/>
          <a:lstStyle/>
          <a:p>
            <a:fld id="{A2A358D8-BD83-477A-B7AE-C7A5055A1886}" type="datetimeFigureOut">
              <a:rPr lang="en-IN" smtClean="0"/>
              <a:t>30-03-2026</a:t>
            </a:fld>
            <a:endParaRPr lang="en-IN"/>
          </a:p>
        </p:txBody>
      </p:sp>
      <p:sp>
        <p:nvSpPr>
          <p:cNvPr id="8" name="Footer Placeholder 7">
            <a:extLst>
              <a:ext uri="{FF2B5EF4-FFF2-40B4-BE49-F238E27FC236}">
                <a16:creationId xmlns:a16="http://schemas.microsoft.com/office/drawing/2014/main" id="{305CA6CF-4AB3-8CF7-35F1-F64C2E17445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86B21FD-DA7E-0006-FDB1-31C9E724D822}"/>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207254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B1014-7FC9-25EA-517C-0DE627BAC04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FF2067C-A31E-1B1B-DAA2-BD59B7BE2658}"/>
              </a:ext>
            </a:extLst>
          </p:cNvPr>
          <p:cNvSpPr>
            <a:spLocks noGrp="1"/>
          </p:cNvSpPr>
          <p:nvPr>
            <p:ph type="dt" sz="half" idx="10"/>
          </p:nvPr>
        </p:nvSpPr>
        <p:spPr/>
        <p:txBody>
          <a:bodyPr/>
          <a:lstStyle/>
          <a:p>
            <a:fld id="{A2A358D8-BD83-477A-B7AE-C7A5055A1886}" type="datetimeFigureOut">
              <a:rPr lang="en-IN" smtClean="0"/>
              <a:t>30-03-2026</a:t>
            </a:fld>
            <a:endParaRPr lang="en-IN"/>
          </a:p>
        </p:txBody>
      </p:sp>
      <p:sp>
        <p:nvSpPr>
          <p:cNvPr id="4" name="Footer Placeholder 3">
            <a:extLst>
              <a:ext uri="{FF2B5EF4-FFF2-40B4-BE49-F238E27FC236}">
                <a16:creationId xmlns:a16="http://schemas.microsoft.com/office/drawing/2014/main" id="{F72725CD-A2CA-DA93-1906-26D5020168A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1CB59D9-FF55-CA49-5598-5432C64956E0}"/>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1271484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FFDDA6-9152-361E-F755-10FB0CB23682}"/>
              </a:ext>
            </a:extLst>
          </p:cNvPr>
          <p:cNvSpPr>
            <a:spLocks noGrp="1"/>
          </p:cNvSpPr>
          <p:nvPr>
            <p:ph type="dt" sz="half" idx="10"/>
          </p:nvPr>
        </p:nvSpPr>
        <p:spPr/>
        <p:txBody>
          <a:bodyPr/>
          <a:lstStyle/>
          <a:p>
            <a:fld id="{A2A358D8-BD83-477A-B7AE-C7A5055A1886}" type="datetimeFigureOut">
              <a:rPr lang="en-IN" smtClean="0"/>
              <a:t>30-03-2026</a:t>
            </a:fld>
            <a:endParaRPr lang="en-IN"/>
          </a:p>
        </p:txBody>
      </p:sp>
      <p:sp>
        <p:nvSpPr>
          <p:cNvPr id="3" name="Footer Placeholder 2">
            <a:extLst>
              <a:ext uri="{FF2B5EF4-FFF2-40B4-BE49-F238E27FC236}">
                <a16:creationId xmlns:a16="http://schemas.microsoft.com/office/drawing/2014/main" id="{22907F91-5133-9697-5E45-ADDADE9AF5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2EF70E-9A8B-CF5C-4BF6-A6841439C970}"/>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1896580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7F30D-F6F1-B4B0-4B00-FB94703D5B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E704E54-9FED-C349-624A-44AAC7DEF1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16926BD-F26E-3378-375F-D32D44B947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BB7F99-CD6E-767E-1178-D96293A108E9}"/>
              </a:ext>
            </a:extLst>
          </p:cNvPr>
          <p:cNvSpPr>
            <a:spLocks noGrp="1"/>
          </p:cNvSpPr>
          <p:nvPr>
            <p:ph type="dt" sz="half" idx="10"/>
          </p:nvPr>
        </p:nvSpPr>
        <p:spPr/>
        <p:txBody>
          <a:bodyPr/>
          <a:lstStyle/>
          <a:p>
            <a:fld id="{A2A358D8-BD83-477A-B7AE-C7A5055A1886}" type="datetimeFigureOut">
              <a:rPr lang="en-IN" smtClean="0"/>
              <a:t>30-03-2026</a:t>
            </a:fld>
            <a:endParaRPr lang="en-IN"/>
          </a:p>
        </p:txBody>
      </p:sp>
      <p:sp>
        <p:nvSpPr>
          <p:cNvPr id="6" name="Footer Placeholder 5">
            <a:extLst>
              <a:ext uri="{FF2B5EF4-FFF2-40B4-BE49-F238E27FC236}">
                <a16:creationId xmlns:a16="http://schemas.microsoft.com/office/drawing/2014/main" id="{A4724648-F1F5-83F4-1344-DFD4E81394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D9945E-C778-4DE5-350A-6D253B0688B1}"/>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426861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72BFE-2B1B-E627-A581-F026AA6377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CF84E04-A80F-1EB8-3E36-719B1FC4F13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454A95E-3098-001B-6A5F-6AE56FE947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BFC472-7BD8-2DE7-76A4-16101AB5D1ED}"/>
              </a:ext>
            </a:extLst>
          </p:cNvPr>
          <p:cNvSpPr>
            <a:spLocks noGrp="1"/>
          </p:cNvSpPr>
          <p:nvPr>
            <p:ph type="dt" sz="half" idx="10"/>
          </p:nvPr>
        </p:nvSpPr>
        <p:spPr/>
        <p:txBody>
          <a:bodyPr/>
          <a:lstStyle/>
          <a:p>
            <a:fld id="{A2A358D8-BD83-477A-B7AE-C7A5055A1886}" type="datetimeFigureOut">
              <a:rPr lang="en-IN" smtClean="0"/>
              <a:t>30-03-2026</a:t>
            </a:fld>
            <a:endParaRPr lang="en-IN"/>
          </a:p>
        </p:txBody>
      </p:sp>
      <p:sp>
        <p:nvSpPr>
          <p:cNvPr id="6" name="Footer Placeholder 5">
            <a:extLst>
              <a:ext uri="{FF2B5EF4-FFF2-40B4-BE49-F238E27FC236}">
                <a16:creationId xmlns:a16="http://schemas.microsoft.com/office/drawing/2014/main" id="{E897CA3F-82D2-C017-748C-C351526A2F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E36B42-233C-98C0-9D8B-CC3FAC3A72BC}"/>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3610068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E2DC90-631A-0C95-C20C-1DA3BCE6D9E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9590F4-C42A-70B1-C7F8-595F38FA4B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759BFE-BA37-E097-8842-D3A9D222F0DA}"/>
              </a:ext>
            </a:extLst>
          </p:cNvPr>
          <p:cNvSpPr>
            <a:spLocks noGrp="1"/>
          </p:cNvSpPr>
          <p:nvPr>
            <p:ph type="dt" sz="half" idx="10"/>
          </p:nvPr>
        </p:nvSpPr>
        <p:spPr/>
        <p:txBody>
          <a:bodyPr/>
          <a:lstStyle/>
          <a:p>
            <a:fld id="{A2A358D8-BD83-477A-B7AE-C7A5055A1886}" type="datetimeFigureOut">
              <a:rPr lang="en-IN" smtClean="0"/>
              <a:t>30-03-2026</a:t>
            </a:fld>
            <a:endParaRPr lang="en-IN"/>
          </a:p>
        </p:txBody>
      </p:sp>
      <p:sp>
        <p:nvSpPr>
          <p:cNvPr id="5" name="Footer Placeholder 4">
            <a:extLst>
              <a:ext uri="{FF2B5EF4-FFF2-40B4-BE49-F238E27FC236}">
                <a16:creationId xmlns:a16="http://schemas.microsoft.com/office/drawing/2014/main" id="{F647ACEB-374D-0107-0BDD-D489234FCB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76CD92-5500-3835-A207-9041A1AC2D34}"/>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304615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9A2085-A401-8561-C799-B83BF9E1FC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37ABD94-A8C9-F0D0-F664-3C6F271E6B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7A51DE-C2DE-C599-F413-F1CB3D002F60}"/>
              </a:ext>
            </a:extLst>
          </p:cNvPr>
          <p:cNvSpPr>
            <a:spLocks noGrp="1"/>
          </p:cNvSpPr>
          <p:nvPr>
            <p:ph type="dt" sz="half" idx="10"/>
          </p:nvPr>
        </p:nvSpPr>
        <p:spPr/>
        <p:txBody>
          <a:bodyPr/>
          <a:lstStyle/>
          <a:p>
            <a:fld id="{A2A358D8-BD83-477A-B7AE-C7A5055A1886}" type="datetimeFigureOut">
              <a:rPr lang="en-IN" smtClean="0"/>
              <a:t>30-03-2026</a:t>
            </a:fld>
            <a:endParaRPr lang="en-IN"/>
          </a:p>
        </p:txBody>
      </p:sp>
      <p:sp>
        <p:nvSpPr>
          <p:cNvPr id="5" name="Footer Placeholder 4">
            <a:extLst>
              <a:ext uri="{FF2B5EF4-FFF2-40B4-BE49-F238E27FC236}">
                <a16:creationId xmlns:a16="http://schemas.microsoft.com/office/drawing/2014/main" id="{7F22D4E3-DEE6-6E99-4207-A34D020BF1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7B00CB-B360-C025-8E8F-628653987820}"/>
              </a:ext>
            </a:extLst>
          </p:cNvPr>
          <p:cNvSpPr>
            <a:spLocks noGrp="1"/>
          </p:cNvSpPr>
          <p:nvPr>
            <p:ph type="sldNum" sz="quarter" idx="12"/>
          </p:nvPr>
        </p:nvSpPr>
        <p:spPr/>
        <p:txBody>
          <a:bodyPr/>
          <a:lstStyle/>
          <a:p>
            <a:fld id="{75CEB229-5006-46D5-9D5C-01B7C8D633D9}" type="slidenum">
              <a:rPr lang="en-IN" smtClean="0"/>
              <a:t>‹#›</a:t>
            </a:fld>
            <a:endParaRPr lang="en-IN"/>
          </a:p>
        </p:txBody>
      </p:sp>
    </p:spTree>
    <p:extLst>
      <p:ext uri="{BB962C8B-B14F-4D97-AF65-F5344CB8AC3E}">
        <p14:creationId xmlns:p14="http://schemas.microsoft.com/office/powerpoint/2010/main" val="2122241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26F798-A58D-6413-9946-CF0579DC41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A6E7176-7743-561D-C994-F0D48DDF42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1DBDD3-6EF7-4798-7F1E-F33F1CE7F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A358D8-BD83-477A-B7AE-C7A5055A1886}" type="datetimeFigureOut">
              <a:rPr lang="en-IN" smtClean="0"/>
              <a:t>30-03-2026</a:t>
            </a:fld>
            <a:endParaRPr lang="en-IN"/>
          </a:p>
        </p:txBody>
      </p:sp>
      <p:sp>
        <p:nvSpPr>
          <p:cNvPr id="5" name="Footer Placeholder 4">
            <a:extLst>
              <a:ext uri="{FF2B5EF4-FFF2-40B4-BE49-F238E27FC236}">
                <a16:creationId xmlns:a16="http://schemas.microsoft.com/office/drawing/2014/main" id="{FE1DB158-6B05-B1F2-41E2-A81806C504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A46D8DE-06D5-D635-7059-3DA9481CC7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CEB229-5006-46D5-9D5C-01B7C8D633D9}" type="slidenum">
              <a:rPr lang="en-IN" smtClean="0"/>
              <a:t>‹#›</a:t>
            </a:fld>
            <a:endParaRPr lang="en-IN"/>
          </a:p>
        </p:txBody>
      </p:sp>
    </p:spTree>
    <p:extLst>
      <p:ext uri="{BB962C8B-B14F-4D97-AF65-F5344CB8AC3E}">
        <p14:creationId xmlns:p14="http://schemas.microsoft.com/office/powerpoint/2010/main" val="1507712441"/>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93972" y="237490"/>
            <a:ext cx="426275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FF0000"/>
                </a:solidFill>
                <a:latin typeface="Arial"/>
                <a:cs typeface="Arial"/>
              </a:rPr>
              <a:t>SAVITRIBAI</a:t>
            </a:r>
            <a:r>
              <a:rPr sz="1800" spc="-50" dirty="0">
                <a:solidFill>
                  <a:srgbClr val="FF0000"/>
                </a:solidFill>
                <a:latin typeface="Arial"/>
                <a:cs typeface="Arial"/>
              </a:rPr>
              <a:t> </a:t>
            </a:r>
            <a:r>
              <a:rPr sz="1800" dirty="0">
                <a:solidFill>
                  <a:srgbClr val="FF0000"/>
                </a:solidFill>
                <a:latin typeface="Arial"/>
                <a:cs typeface="Arial"/>
              </a:rPr>
              <a:t>PHULE</a:t>
            </a:r>
            <a:r>
              <a:rPr sz="1800" spc="-100" dirty="0">
                <a:solidFill>
                  <a:srgbClr val="FF0000"/>
                </a:solidFill>
                <a:latin typeface="Arial"/>
                <a:cs typeface="Arial"/>
              </a:rPr>
              <a:t> </a:t>
            </a:r>
            <a:r>
              <a:rPr sz="1800" dirty="0">
                <a:solidFill>
                  <a:srgbClr val="FF0000"/>
                </a:solidFill>
                <a:latin typeface="Arial"/>
                <a:cs typeface="Arial"/>
              </a:rPr>
              <a:t>PUNE</a:t>
            </a:r>
            <a:r>
              <a:rPr sz="1800" spc="-100" dirty="0">
                <a:solidFill>
                  <a:srgbClr val="FF0000"/>
                </a:solidFill>
                <a:latin typeface="Arial"/>
                <a:cs typeface="Arial"/>
              </a:rPr>
              <a:t> </a:t>
            </a:r>
            <a:r>
              <a:rPr sz="1800" spc="-10" dirty="0">
                <a:solidFill>
                  <a:srgbClr val="FF0000"/>
                </a:solidFill>
                <a:latin typeface="Arial"/>
                <a:cs typeface="Arial"/>
              </a:rPr>
              <a:t>UNIVERSITY</a:t>
            </a:r>
            <a:endParaRPr sz="1800" dirty="0">
              <a:latin typeface="Arial"/>
              <a:cs typeface="Arial"/>
            </a:endParaRPr>
          </a:p>
        </p:txBody>
      </p:sp>
      <p:sp>
        <p:nvSpPr>
          <p:cNvPr id="3" name="object 3"/>
          <p:cNvSpPr txBox="1"/>
          <p:nvPr/>
        </p:nvSpPr>
        <p:spPr>
          <a:xfrm>
            <a:off x="398781" y="990600"/>
            <a:ext cx="9050019" cy="5314275"/>
          </a:xfrm>
          <a:prstGeom prst="rect">
            <a:avLst/>
          </a:prstGeom>
        </p:spPr>
        <p:txBody>
          <a:bodyPr vert="horz" wrap="square" lIns="0" tIns="12700" rIns="0" bIns="0" rtlCol="0">
            <a:spAutoFit/>
          </a:bodyPr>
          <a:lstStyle/>
          <a:p>
            <a:pPr marL="2058035">
              <a:lnSpc>
                <a:spcPct val="100000"/>
              </a:lnSpc>
              <a:spcBef>
                <a:spcPts val="100"/>
              </a:spcBef>
            </a:pPr>
            <a:r>
              <a:rPr sz="1800" spc="-20" dirty="0">
                <a:latin typeface="Calibri"/>
                <a:cs typeface="Calibri"/>
              </a:rPr>
              <a:t>JAYAWANTRAO</a:t>
            </a:r>
            <a:r>
              <a:rPr sz="1800" spc="-45" dirty="0">
                <a:latin typeface="Calibri"/>
                <a:cs typeface="Calibri"/>
              </a:rPr>
              <a:t> </a:t>
            </a:r>
            <a:r>
              <a:rPr sz="1800" spc="-20" dirty="0">
                <a:latin typeface="Calibri"/>
                <a:cs typeface="Calibri"/>
              </a:rPr>
              <a:t>SAWANT</a:t>
            </a:r>
            <a:r>
              <a:rPr sz="1800" spc="-50" dirty="0">
                <a:latin typeface="Calibri"/>
                <a:cs typeface="Calibri"/>
              </a:rPr>
              <a:t> </a:t>
            </a:r>
            <a:r>
              <a:rPr sz="1800" spc="-20" dirty="0">
                <a:latin typeface="Calibri"/>
                <a:cs typeface="Calibri"/>
              </a:rPr>
              <a:t>COLLEGE</a:t>
            </a:r>
            <a:r>
              <a:rPr sz="1800" spc="-15" dirty="0">
                <a:latin typeface="Calibri"/>
                <a:cs typeface="Calibri"/>
              </a:rPr>
              <a:t> </a:t>
            </a:r>
            <a:r>
              <a:rPr sz="1800" dirty="0">
                <a:latin typeface="Calibri"/>
                <a:cs typeface="Calibri"/>
              </a:rPr>
              <a:t>OF</a:t>
            </a:r>
            <a:r>
              <a:rPr sz="1800" spc="-75" dirty="0">
                <a:latin typeface="Calibri"/>
                <a:cs typeface="Calibri"/>
              </a:rPr>
              <a:t> </a:t>
            </a:r>
            <a:r>
              <a:rPr sz="1800" spc="-20" dirty="0">
                <a:latin typeface="Calibri"/>
                <a:cs typeface="Calibri"/>
              </a:rPr>
              <a:t>ENGINEERING,</a:t>
            </a:r>
            <a:r>
              <a:rPr sz="1800" spc="-50" dirty="0">
                <a:latin typeface="Calibri"/>
                <a:cs typeface="Calibri"/>
              </a:rPr>
              <a:t> </a:t>
            </a:r>
            <a:r>
              <a:rPr sz="1800" spc="-10" dirty="0">
                <a:latin typeface="Calibri"/>
                <a:cs typeface="Calibri"/>
              </a:rPr>
              <a:t>HADAPSAR,PUNE</a:t>
            </a:r>
            <a:endParaRPr sz="1800" dirty="0">
              <a:latin typeface="Calibri"/>
              <a:cs typeface="Calibri"/>
            </a:endParaRPr>
          </a:p>
          <a:p>
            <a:pPr marL="3804920" marR="1884680" indent="-525145">
              <a:lnSpc>
                <a:spcPct val="100000"/>
              </a:lnSpc>
              <a:spcBef>
                <a:spcPts val="1655"/>
              </a:spcBef>
            </a:pPr>
            <a:r>
              <a:rPr sz="1800" spc="-10" dirty="0">
                <a:latin typeface="Calibri"/>
                <a:cs typeface="Calibri"/>
              </a:rPr>
              <a:t>Department</a:t>
            </a:r>
            <a:r>
              <a:rPr sz="1800" spc="-90" dirty="0">
                <a:latin typeface="Calibri"/>
                <a:cs typeface="Calibri"/>
              </a:rPr>
              <a:t> </a:t>
            </a:r>
            <a:r>
              <a:rPr sz="1800" dirty="0">
                <a:latin typeface="Calibri"/>
                <a:cs typeface="Calibri"/>
              </a:rPr>
              <a:t>of</a:t>
            </a:r>
            <a:r>
              <a:rPr sz="1800" spc="-75" dirty="0">
                <a:latin typeface="Calibri"/>
                <a:cs typeface="Calibri"/>
              </a:rPr>
              <a:t> </a:t>
            </a:r>
            <a:r>
              <a:rPr sz="1800" spc="-10" dirty="0">
                <a:latin typeface="Calibri"/>
                <a:cs typeface="Calibri"/>
              </a:rPr>
              <a:t>Computer</a:t>
            </a:r>
            <a:r>
              <a:rPr sz="1800" spc="-50" dirty="0">
                <a:latin typeface="Calibri"/>
                <a:cs typeface="Calibri"/>
              </a:rPr>
              <a:t> </a:t>
            </a:r>
            <a:r>
              <a:rPr sz="1800" spc="-10" dirty="0">
                <a:latin typeface="Calibri"/>
                <a:cs typeface="Calibri"/>
              </a:rPr>
              <a:t>Engineering </a:t>
            </a:r>
            <a:r>
              <a:rPr sz="1800" dirty="0">
                <a:latin typeface="Calibri"/>
                <a:cs typeface="Calibri"/>
              </a:rPr>
              <a:t>Academic</a:t>
            </a:r>
            <a:r>
              <a:rPr sz="1800" spc="-50" dirty="0">
                <a:latin typeface="Calibri"/>
                <a:cs typeface="Calibri"/>
              </a:rPr>
              <a:t> </a:t>
            </a:r>
            <a:r>
              <a:rPr sz="1800" dirty="0">
                <a:latin typeface="Calibri"/>
                <a:cs typeface="Calibri"/>
              </a:rPr>
              <a:t>Year</a:t>
            </a:r>
            <a:r>
              <a:rPr sz="1800" spc="-45" dirty="0">
                <a:latin typeface="Calibri"/>
                <a:cs typeface="Calibri"/>
              </a:rPr>
              <a:t> </a:t>
            </a:r>
            <a:r>
              <a:rPr sz="1800" spc="-10" dirty="0">
                <a:latin typeface="Calibri"/>
                <a:cs typeface="Calibri"/>
              </a:rPr>
              <a:t>2025-</a:t>
            </a:r>
            <a:r>
              <a:rPr sz="1800" spc="-25" dirty="0">
                <a:latin typeface="Calibri"/>
                <a:cs typeface="Calibri"/>
              </a:rPr>
              <a:t>26</a:t>
            </a:r>
            <a:endParaRPr sz="1800" dirty="0">
              <a:latin typeface="Calibri"/>
              <a:cs typeface="Calibri"/>
            </a:endParaRPr>
          </a:p>
          <a:p>
            <a:pPr marL="4155440">
              <a:tabLst>
                <a:tab pos="5854065" algn="l"/>
              </a:tabLst>
            </a:pPr>
            <a:endParaRPr lang="en-IN" dirty="0">
              <a:latin typeface="Calibri"/>
              <a:cs typeface="Calibri"/>
            </a:endParaRPr>
          </a:p>
          <a:p>
            <a:pPr marL="4155440">
              <a:tabLst>
                <a:tab pos="5854065" algn="l"/>
              </a:tabLst>
            </a:pPr>
            <a:endParaRPr lang="en-IN" sz="2000" b="1" dirty="0">
              <a:latin typeface="Calibri"/>
              <a:cs typeface="Calibri"/>
            </a:endParaRPr>
          </a:p>
          <a:p>
            <a:pPr marL="4155440">
              <a:tabLst>
                <a:tab pos="5854065" algn="l"/>
              </a:tabLst>
            </a:pPr>
            <a:r>
              <a:rPr sz="2000" b="1" dirty="0">
                <a:latin typeface="Calibri"/>
                <a:cs typeface="Calibri"/>
              </a:rPr>
              <a:t>Project</a:t>
            </a:r>
            <a:r>
              <a:rPr sz="2000" b="1" spc="-65" dirty="0">
                <a:latin typeface="Calibri"/>
                <a:cs typeface="Calibri"/>
              </a:rPr>
              <a:t> </a:t>
            </a:r>
            <a:r>
              <a:rPr sz="2000" b="1" spc="-25" dirty="0">
                <a:latin typeface="Calibri"/>
                <a:cs typeface="Calibri"/>
              </a:rPr>
              <a:t>Stage-</a:t>
            </a:r>
            <a:r>
              <a:rPr sz="2000" b="1" spc="-50" dirty="0">
                <a:latin typeface="Calibri"/>
                <a:cs typeface="Calibri"/>
              </a:rPr>
              <a:t>I</a:t>
            </a:r>
            <a:r>
              <a:rPr lang="en-IN" sz="2000" b="1" spc="-50" dirty="0">
                <a:cs typeface="Calibri"/>
              </a:rPr>
              <a:t>II</a:t>
            </a:r>
            <a:r>
              <a:rPr lang="en-IN" sz="2000" dirty="0">
                <a:cs typeface="Calibri"/>
              </a:rPr>
              <a:t>    </a:t>
            </a:r>
            <a:r>
              <a:rPr sz="2000" b="1" spc="-35" dirty="0">
                <a:latin typeface="Calibri"/>
                <a:cs typeface="Calibri"/>
              </a:rPr>
              <a:t>Review-</a:t>
            </a:r>
            <a:r>
              <a:rPr sz="2000" b="1" spc="-50" dirty="0">
                <a:latin typeface="Calibri"/>
                <a:cs typeface="Calibri"/>
              </a:rPr>
              <a:t>I</a:t>
            </a:r>
            <a:endParaRPr sz="2000" dirty="0">
              <a:latin typeface="Calibri"/>
              <a:cs typeface="Calibri"/>
            </a:endParaRPr>
          </a:p>
          <a:p>
            <a:pPr marL="1600200" algn="ctr">
              <a:lnSpc>
                <a:spcPct val="100000"/>
              </a:lnSpc>
              <a:spcBef>
                <a:spcPts val="1645"/>
              </a:spcBef>
            </a:pPr>
            <a:r>
              <a:rPr sz="1800" b="1" spc="-10" dirty="0">
                <a:solidFill>
                  <a:schemeClr val="tx1"/>
                </a:solidFill>
                <a:latin typeface="Calibri"/>
                <a:cs typeface="Calibri"/>
              </a:rPr>
              <a:t>“</a:t>
            </a:r>
            <a:r>
              <a:rPr sz="1800" b="1" spc="-10" dirty="0">
                <a:solidFill>
                  <a:schemeClr val="tx1"/>
                </a:solidFill>
                <a:latin typeface="Arial"/>
                <a:cs typeface="Arial"/>
              </a:rPr>
              <a:t>RareDetect:</a:t>
            </a:r>
            <a:r>
              <a:rPr sz="1800" b="1" spc="-80" dirty="0">
                <a:solidFill>
                  <a:schemeClr val="tx1"/>
                </a:solidFill>
                <a:latin typeface="Arial"/>
                <a:cs typeface="Arial"/>
              </a:rPr>
              <a:t> </a:t>
            </a:r>
            <a:r>
              <a:rPr sz="1800" b="1" dirty="0">
                <a:solidFill>
                  <a:schemeClr val="tx1"/>
                </a:solidFill>
                <a:latin typeface="Arial"/>
                <a:cs typeface="Arial"/>
              </a:rPr>
              <a:t>AI</a:t>
            </a:r>
            <a:r>
              <a:rPr sz="1800" b="1" spc="-70" dirty="0">
                <a:solidFill>
                  <a:schemeClr val="tx1"/>
                </a:solidFill>
                <a:latin typeface="Arial"/>
                <a:cs typeface="Arial"/>
              </a:rPr>
              <a:t> </a:t>
            </a:r>
            <a:r>
              <a:rPr sz="1800" b="1" dirty="0">
                <a:solidFill>
                  <a:schemeClr val="tx1"/>
                </a:solidFill>
                <a:latin typeface="Arial"/>
                <a:cs typeface="Arial"/>
              </a:rPr>
              <a:t>Based</a:t>
            </a:r>
            <a:r>
              <a:rPr sz="1800" b="1" spc="-70" dirty="0">
                <a:solidFill>
                  <a:schemeClr val="tx1"/>
                </a:solidFill>
                <a:latin typeface="Arial"/>
                <a:cs typeface="Arial"/>
              </a:rPr>
              <a:t> </a:t>
            </a:r>
            <a:r>
              <a:rPr sz="1800" b="1" dirty="0">
                <a:solidFill>
                  <a:schemeClr val="tx1"/>
                </a:solidFill>
                <a:latin typeface="Arial"/>
                <a:cs typeface="Arial"/>
              </a:rPr>
              <a:t>System</a:t>
            </a:r>
            <a:r>
              <a:rPr sz="1800" b="1" spc="-65" dirty="0">
                <a:solidFill>
                  <a:schemeClr val="tx1"/>
                </a:solidFill>
                <a:latin typeface="Arial"/>
                <a:cs typeface="Arial"/>
              </a:rPr>
              <a:t> </a:t>
            </a:r>
            <a:r>
              <a:rPr sz="1800" b="1" dirty="0">
                <a:solidFill>
                  <a:schemeClr val="tx1"/>
                </a:solidFill>
                <a:latin typeface="Arial"/>
                <a:cs typeface="Arial"/>
              </a:rPr>
              <a:t>for</a:t>
            </a:r>
            <a:r>
              <a:rPr sz="1800" b="1" spc="-80" dirty="0">
                <a:solidFill>
                  <a:schemeClr val="tx1"/>
                </a:solidFill>
                <a:latin typeface="Arial"/>
                <a:cs typeface="Arial"/>
              </a:rPr>
              <a:t> </a:t>
            </a:r>
            <a:r>
              <a:rPr sz="1800" b="1" spc="-10" dirty="0">
                <a:solidFill>
                  <a:schemeClr val="tx1"/>
                </a:solidFill>
                <a:latin typeface="Arial"/>
                <a:cs typeface="Arial"/>
              </a:rPr>
              <a:t>Identifying</a:t>
            </a:r>
            <a:r>
              <a:rPr sz="1800" b="1" spc="-70" dirty="0">
                <a:solidFill>
                  <a:schemeClr val="tx1"/>
                </a:solidFill>
                <a:latin typeface="Arial"/>
                <a:cs typeface="Arial"/>
              </a:rPr>
              <a:t> </a:t>
            </a:r>
            <a:r>
              <a:rPr sz="1800" b="1" dirty="0">
                <a:solidFill>
                  <a:schemeClr val="tx1"/>
                </a:solidFill>
                <a:latin typeface="Arial"/>
                <a:cs typeface="Arial"/>
              </a:rPr>
              <a:t>Rare</a:t>
            </a:r>
            <a:r>
              <a:rPr sz="1800" b="1" spc="-70" dirty="0">
                <a:solidFill>
                  <a:schemeClr val="tx1"/>
                </a:solidFill>
                <a:latin typeface="Arial"/>
                <a:cs typeface="Arial"/>
              </a:rPr>
              <a:t> </a:t>
            </a:r>
            <a:r>
              <a:rPr sz="1800" b="1" dirty="0">
                <a:solidFill>
                  <a:schemeClr val="tx1"/>
                </a:solidFill>
                <a:latin typeface="Arial"/>
                <a:cs typeface="Arial"/>
              </a:rPr>
              <a:t>Brain</a:t>
            </a:r>
            <a:r>
              <a:rPr sz="1800" b="1" spc="-90" dirty="0">
                <a:solidFill>
                  <a:schemeClr val="tx1"/>
                </a:solidFill>
                <a:latin typeface="Arial"/>
                <a:cs typeface="Arial"/>
              </a:rPr>
              <a:t> </a:t>
            </a:r>
            <a:r>
              <a:rPr sz="1800" b="1" spc="-10" dirty="0">
                <a:solidFill>
                  <a:schemeClr val="tx1"/>
                </a:solidFill>
                <a:latin typeface="Arial"/>
                <a:cs typeface="Arial"/>
              </a:rPr>
              <a:t>Tumors</a:t>
            </a:r>
            <a:r>
              <a:rPr sz="1800" b="1" spc="-10" dirty="0">
                <a:solidFill>
                  <a:schemeClr val="tx1"/>
                </a:solidFill>
                <a:latin typeface="Calibri"/>
                <a:cs typeface="Calibri"/>
              </a:rPr>
              <a:t>”</a:t>
            </a:r>
            <a:endParaRPr sz="1800" dirty="0">
              <a:solidFill>
                <a:schemeClr val="tx1"/>
              </a:solidFill>
              <a:latin typeface="Calibri"/>
              <a:cs typeface="Calibri"/>
            </a:endParaRPr>
          </a:p>
          <a:p>
            <a:pPr>
              <a:lnSpc>
                <a:spcPct val="100000"/>
              </a:lnSpc>
              <a:spcBef>
                <a:spcPts val="445"/>
              </a:spcBef>
            </a:pPr>
            <a:endParaRPr sz="1800" dirty="0">
              <a:latin typeface="Calibri"/>
              <a:cs typeface="Calibri"/>
            </a:endParaRPr>
          </a:p>
          <a:p>
            <a:pPr marL="1642110" algn="ctr">
              <a:lnSpc>
                <a:spcPct val="100000"/>
              </a:lnSpc>
            </a:pPr>
            <a:r>
              <a:rPr sz="1800" b="1" dirty="0">
                <a:latin typeface="Arial"/>
                <a:cs typeface="Arial"/>
              </a:rPr>
              <a:t>Final</a:t>
            </a:r>
            <a:r>
              <a:rPr sz="1800" b="1" spc="-90" dirty="0">
                <a:latin typeface="Arial"/>
                <a:cs typeface="Arial"/>
              </a:rPr>
              <a:t> </a:t>
            </a:r>
            <a:r>
              <a:rPr sz="1800" b="1" dirty="0">
                <a:latin typeface="Arial"/>
                <a:cs typeface="Arial"/>
              </a:rPr>
              <a:t>Year</a:t>
            </a:r>
            <a:r>
              <a:rPr sz="1800" b="1" spc="-40" dirty="0">
                <a:latin typeface="Arial"/>
                <a:cs typeface="Arial"/>
              </a:rPr>
              <a:t> </a:t>
            </a:r>
            <a:r>
              <a:rPr sz="1800" b="1" dirty="0">
                <a:latin typeface="Arial"/>
                <a:cs typeface="Arial"/>
              </a:rPr>
              <a:t>of</a:t>
            </a:r>
            <a:r>
              <a:rPr sz="1800" b="1" spc="-40" dirty="0">
                <a:latin typeface="Arial"/>
                <a:cs typeface="Arial"/>
              </a:rPr>
              <a:t> </a:t>
            </a:r>
            <a:r>
              <a:rPr sz="1800" b="1" dirty="0">
                <a:latin typeface="Arial"/>
                <a:cs typeface="Arial"/>
              </a:rPr>
              <a:t>Computer</a:t>
            </a:r>
            <a:r>
              <a:rPr sz="1800" b="1" spc="-60" dirty="0">
                <a:latin typeface="Arial"/>
                <a:cs typeface="Arial"/>
              </a:rPr>
              <a:t> </a:t>
            </a:r>
            <a:r>
              <a:rPr sz="1800" b="1" spc="-10" dirty="0">
                <a:latin typeface="Arial"/>
                <a:cs typeface="Arial"/>
              </a:rPr>
              <a:t>Engineering</a:t>
            </a:r>
            <a:endParaRPr sz="1800" dirty="0">
              <a:latin typeface="Arial"/>
              <a:cs typeface="Arial"/>
            </a:endParaRPr>
          </a:p>
          <a:p>
            <a:pPr>
              <a:lnSpc>
                <a:spcPct val="100000"/>
              </a:lnSpc>
              <a:spcBef>
                <a:spcPts val="885"/>
              </a:spcBef>
            </a:pPr>
            <a:endParaRPr sz="1800" dirty="0">
              <a:latin typeface="Arial"/>
              <a:cs typeface="Arial"/>
            </a:endParaRPr>
          </a:p>
          <a:p>
            <a:pPr marL="1605280" algn="ctr">
              <a:lnSpc>
                <a:spcPct val="100000"/>
              </a:lnSpc>
            </a:pPr>
            <a:r>
              <a:rPr sz="1800" dirty="0">
                <a:latin typeface="Calibri"/>
                <a:cs typeface="Calibri"/>
              </a:rPr>
              <a:t>PROJECT</a:t>
            </a:r>
            <a:r>
              <a:rPr sz="1800" spc="-60" dirty="0">
                <a:latin typeface="Calibri"/>
                <a:cs typeface="Calibri"/>
              </a:rPr>
              <a:t> </a:t>
            </a:r>
            <a:r>
              <a:rPr sz="1800" spc="-10" dirty="0">
                <a:latin typeface="Calibri"/>
                <a:cs typeface="Calibri"/>
              </a:rPr>
              <a:t>GUIDE:</a:t>
            </a:r>
            <a:r>
              <a:rPr sz="1800" spc="-100" dirty="0">
                <a:latin typeface="Calibri"/>
                <a:cs typeface="Calibri"/>
              </a:rPr>
              <a:t> </a:t>
            </a:r>
            <a:r>
              <a:rPr sz="1800" spc="-10" dirty="0">
                <a:latin typeface="Calibri"/>
                <a:cs typeface="Calibri"/>
              </a:rPr>
              <a:t>Prof.S.C.Patle</a:t>
            </a:r>
            <a:endParaRPr sz="1800" dirty="0">
              <a:latin typeface="Calibri"/>
              <a:cs typeface="Calibri"/>
            </a:endParaRPr>
          </a:p>
          <a:p>
            <a:pPr>
              <a:lnSpc>
                <a:spcPct val="100000"/>
              </a:lnSpc>
              <a:spcBef>
                <a:spcPts val="1689"/>
              </a:spcBef>
            </a:pPr>
            <a:endParaRPr sz="1800" dirty="0">
              <a:latin typeface="Calibri"/>
              <a:cs typeface="Calibri"/>
            </a:endParaRPr>
          </a:p>
          <a:p>
            <a:pPr marL="12700" algn="ctr">
              <a:lnSpc>
                <a:spcPct val="100000"/>
              </a:lnSpc>
            </a:pPr>
            <a:r>
              <a:rPr sz="1800" dirty="0">
                <a:latin typeface="Calibri"/>
                <a:cs typeface="Calibri"/>
              </a:rPr>
              <a:t>Group</a:t>
            </a:r>
            <a:r>
              <a:rPr sz="1800" spc="-65" dirty="0">
                <a:latin typeface="Calibri"/>
                <a:cs typeface="Calibri"/>
              </a:rPr>
              <a:t> </a:t>
            </a:r>
            <a:r>
              <a:rPr sz="1800" spc="-10" dirty="0">
                <a:latin typeface="Calibri"/>
                <a:cs typeface="Calibri"/>
              </a:rPr>
              <a:t>Members:</a:t>
            </a:r>
            <a:r>
              <a:rPr sz="1800" spc="-50" dirty="0">
                <a:latin typeface="Calibri"/>
                <a:cs typeface="Calibri"/>
              </a:rPr>
              <a:t> </a:t>
            </a:r>
            <a:r>
              <a:rPr lang="en-US" sz="1800" spc="-50" dirty="0">
                <a:latin typeface="Calibri"/>
                <a:cs typeface="Calibri"/>
              </a:rPr>
              <a:t>           </a:t>
            </a:r>
            <a:r>
              <a:rPr sz="1800" dirty="0">
                <a:latin typeface="Calibri"/>
                <a:cs typeface="Calibri"/>
              </a:rPr>
              <a:t>1.</a:t>
            </a:r>
            <a:r>
              <a:rPr sz="1800" spc="-55" dirty="0">
                <a:latin typeface="Calibri"/>
                <a:cs typeface="Calibri"/>
              </a:rPr>
              <a:t> </a:t>
            </a:r>
            <a:r>
              <a:rPr sz="1800" dirty="0">
                <a:latin typeface="Calibri"/>
                <a:cs typeface="Calibri"/>
              </a:rPr>
              <a:t>Rushikesh</a:t>
            </a:r>
            <a:r>
              <a:rPr sz="1800" spc="-25" dirty="0">
                <a:latin typeface="Calibri"/>
                <a:cs typeface="Calibri"/>
              </a:rPr>
              <a:t> </a:t>
            </a:r>
            <a:r>
              <a:rPr sz="1800" spc="-10" dirty="0">
                <a:latin typeface="Calibri"/>
                <a:cs typeface="Calibri"/>
              </a:rPr>
              <a:t>Shiraskar</a:t>
            </a:r>
            <a:endParaRPr sz="1800" dirty="0">
              <a:latin typeface="Calibri"/>
              <a:cs typeface="Calibri"/>
            </a:endParaRPr>
          </a:p>
          <a:p>
            <a:pPr marL="1910714" indent="-221615" algn="ctr">
              <a:lnSpc>
                <a:spcPct val="100000"/>
              </a:lnSpc>
              <a:buAutoNum type="arabicPeriod" startAt="2"/>
              <a:tabLst>
                <a:tab pos="1910714" algn="l"/>
              </a:tabLst>
            </a:pPr>
            <a:r>
              <a:rPr sz="1800" dirty="0">
                <a:latin typeface="Calibri"/>
                <a:cs typeface="Calibri"/>
              </a:rPr>
              <a:t>Piyush</a:t>
            </a:r>
            <a:r>
              <a:rPr sz="1800" spc="-55" dirty="0">
                <a:latin typeface="Calibri"/>
                <a:cs typeface="Calibri"/>
              </a:rPr>
              <a:t> </a:t>
            </a:r>
            <a:r>
              <a:rPr sz="1800" spc="-10" dirty="0">
                <a:latin typeface="Calibri"/>
                <a:cs typeface="Calibri"/>
              </a:rPr>
              <a:t>Borade</a:t>
            </a:r>
            <a:endParaRPr sz="1800" dirty="0">
              <a:latin typeface="Calibri"/>
              <a:cs typeface="Calibri"/>
            </a:endParaRPr>
          </a:p>
          <a:p>
            <a:pPr marL="1910714" indent="-221615" algn="ctr">
              <a:lnSpc>
                <a:spcPct val="100000"/>
              </a:lnSpc>
              <a:spcBef>
                <a:spcPts val="5"/>
              </a:spcBef>
              <a:buAutoNum type="arabicPeriod" startAt="2"/>
              <a:tabLst>
                <a:tab pos="1910714" algn="l"/>
              </a:tabLst>
            </a:pPr>
            <a:r>
              <a:rPr sz="1800" dirty="0">
                <a:latin typeface="Calibri"/>
                <a:cs typeface="Calibri"/>
              </a:rPr>
              <a:t>Rutuja</a:t>
            </a:r>
            <a:r>
              <a:rPr sz="1800" spc="-55" dirty="0">
                <a:latin typeface="Calibri"/>
                <a:cs typeface="Calibri"/>
              </a:rPr>
              <a:t> </a:t>
            </a:r>
            <a:r>
              <a:rPr sz="1800" spc="-10" dirty="0">
                <a:latin typeface="Calibri"/>
                <a:cs typeface="Calibri"/>
              </a:rPr>
              <a:t>Londhe</a:t>
            </a:r>
            <a:r>
              <a:rPr lang="en-US" sz="1800" spc="-10" dirty="0">
                <a:latin typeface="Calibri"/>
                <a:cs typeface="Calibri"/>
              </a:rPr>
              <a:t>                                                                                                                                                                                                                                                            </a:t>
            </a:r>
            <a:endParaRPr sz="1800" dirty="0">
              <a:latin typeface="Calibri"/>
              <a:cs typeface="Calibri"/>
            </a:endParaRPr>
          </a:p>
          <a:p>
            <a:pPr marL="1913889" indent="-224790" algn="ctr">
              <a:lnSpc>
                <a:spcPct val="100000"/>
              </a:lnSpc>
              <a:spcBef>
                <a:spcPts val="25"/>
              </a:spcBef>
              <a:buAutoNum type="arabicPeriod" startAt="2"/>
              <a:tabLst>
                <a:tab pos="1913889" algn="l"/>
              </a:tabLst>
            </a:pPr>
            <a:r>
              <a:rPr sz="1800" dirty="0">
                <a:latin typeface="Calibri"/>
                <a:cs typeface="Calibri"/>
              </a:rPr>
              <a:t>Samruddhi</a:t>
            </a:r>
            <a:r>
              <a:rPr sz="1800" spc="-105" dirty="0">
                <a:latin typeface="Calibri"/>
                <a:cs typeface="Calibri"/>
              </a:rPr>
              <a:t> </a:t>
            </a:r>
            <a:r>
              <a:rPr sz="1800" spc="-20" dirty="0">
                <a:latin typeface="Calibri"/>
                <a:cs typeface="Calibri"/>
              </a:rPr>
              <a:t>Sable</a:t>
            </a:r>
            <a:endParaRPr sz="1800" dirty="0">
              <a:latin typeface="Calibri"/>
              <a:cs typeface="Calibri"/>
            </a:endParaRPr>
          </a:p>
        </p:txBody>
      </p:sp>
      <p:pic>
        <p:nvPicPr>
          <p:cNvPr id="4" name="object 4"/>
          <p:cNvPicPr/>
          <p:nvPr/>
        </p:nvPicPr>
        <p:blipFill>
          <a:blip r:embed="rId2" cstate="print"/>
          <a:stretch>
            <a:fillRect/>
          </a:stretch>
        </p:blipFill>
        <p:spPr>
          <a:xfrm>
            <a:off x="198754" y="233679"/>
            <a:ext cx="1304798" cy="1286510"/>
          </a:xfrm>
          <a:prstGeom prst="rect">
            <a:avLst/>
          </a:prstGeom>
        </p:spPr>
      </p:pic>
      <p:pic>
        <p:nvPicPr>
          <p:cNvPr id="5" name="object 5"/>
          <p:cNvPicPr/>
          <p:nvPr/>
        </p:nvPicPr>
        <p:blipFill>
          <a:blip r:embed="rId3" cstate="print"/>
          <a:stretch>
            <a:fillRect/>
          </a:stretch>
        </p:blipFill>
        <p:spPr>
          <a:xfrm>
            <a:off x="10031094" y="224777"/>
            <a:ext cx="1762125" cy="11828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06BF888-8172-E0EF-33CF-7DD427F5F416}"/>
              </a:ext>
            </a:extLst>
          </p:cNvPr>
          <p:cNvSpPr txBox="1">
            <a:spLocks/>
          </p:cNvSpPr>
          <p:nvPr/>
        </p:nvSpPr>
        <p:spPr>
          <a:xfrm>
            <a:off x="1113182" y="349961"/>
            <a:ext cx="2623931" cy="689291"/>
          </a:xfrm>
          <a:prstGeom prst="rect">
            <a:avLst/>
          </a:prstGeom>
        </p:spPr>
        <p:txBody>
          <a:bodyPr vert="horz" wrap="square" lIns="0" tIns="12065"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58495">
              <a:lnSpc>
                <a:spcPct val="100000"/>
              </a:lnSpc>
              <a:spcBef>
                <a:spcPts val="95"/>
              </a:spcBef>
            </a:pPr>
            <a:r>
              <a:rPr lang="en-IN" spc="-10" dirty="0"/>
              <a:t>INDEX</a:t>
            </a:r>
          </a:p>
        </p:txBody>
      </p:sp>
      <p:sp>
        <p:nvSpPr>
          <p:cNvPr id="4" name="TextBox 3">
            <a:extLst>
              <a:ext uri="{FF2B5EF4-FFF2-40B4-BE49-F238E27FC236}">
                <a16:creationId xmlns:a16="http://schemas.microsoft.com/office/drawing/2014/main" id="{2718AA79-2AB4-61CF-C958-D43932256681}"/>
              </a:ext>
            </a:extLst>
          </p:cNvPr>
          <p:cNvSpPr txBox="1"/>
          <p:nvPr/>
        </p:nvSpPr>
        <p:spPr>
          <a:xfrm>
            <a:off x="1113182" y="1267602"/>
            <a:ext cx="6096000" cy="4814138"/>
          </a:xfrm>
          <a:prstGeom prst="rect">
            <a:avLst/>
          </a:prstGeom>
          <a:noFill/>
        </p:spPr>
        <p:txBody>
          <a:bodyPr wrap="square">
            <a:spAutoFit/>
          </a:bodyPr>
          <a:lstStyle/>
          <a:p>
            <a:pPr marL="342900" lvl="0" indent="-342900">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Abstract</a:t>
            </a:r>
            <a:endParaRPr lang="en-US" dirty="0"/>
          </a:p>
          <a:p>
            <a:pPr marL="342900" lvl="0" indent="-342900">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Introduction To Project Domain</a:t>
            </a:r>
          </a:p>
          <a:p>
            <a:pPr marL="342900" indent="-342900">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Application </a:t>
            </a:r>
            <a:endParaRPr lang="en-US" dirty="0"/>
          </a:p>
          <a:p>
            <a:pPr marL="342900" lvl="0" indent="-342900">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Literature Review</a:t>
            </a:r>
          </a:p>
          <a:p>
            <a:pPr marL="342900" lvl="0" indent="-342900">
              <a:buClr>
                <a:schemeClr val="dk1"/>
              </a:buClr>
              <a:buSzPts val="1800"/>
              <a:buFont typeface="Times New Roman"/>
              <a:buChar char="⮚"/>
            </a:pPr>
            <a:r>
              <a:rPr lang="en-US" dirty="0">
                <a:solidFill>
                  <a:schemeClr val="dk1"/>
                </a:solidFill>
                <a:latin typeface="Times New Roman"/>
                <a:ea typeface="Times New Roman"/>
                <a:cs typeface="Times New Roman"/>
                <a:sym typeface="Times New Roman"/>
              </a:rPr>
              <a:t>Problem Statements &amp; Objectives</a:t>
            </a:r>
          </a:p>
          <a:p>
            <a:pPr marL="342900" lvl="0" indent="-342900">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Motivation &amp; Scope Of  Project</a:t>
            </a:r>
          </a:p>
          <a:p>
            <a:pPr marL="285750" lvl="0" indent="-285750">
              <a:buClr>
                <a:schemeClr val="dk1"/>
              </a:buClr>
              <a:buSzPts val="1800"/>
              <a:buFont typeface="Wingdings" pitchFamily="2" charset="2"/>
              <a:buChar char="Ø"/>
            </a:pPr>
            <a:r>
              <a:rPr lang="en-US" dirty="0">
                <a:solidFill>
                  <a:schemeClr val="dk1"/>
                </a:solidFill>
                <a:latin typeface="Times New Roman"/>
                <a:cs typeface="Times New Roman"/>
                <a:sym typeface="Times New Roman"/>
              </a:rPr>
              <a:t>Proposed System</a:t>
            </a:r>
          </a:p>
          <a:p>
            <a:pPr marL="285750" lvl="0" indent="-285750">
              <a:buClr>
                <a:schemeClr val="dk1"/>
              </a:buClr>
              <a:buSzPts val="1800"/>
              <a:buFont typeface="Arial" pitchFamily="34" charset="0"/>
              <a:buChar char="•"/>
            </a:pPr>
            <a:r>
              <a:rPr lang="en-US" dirty="0">
                <a:solidFill>
                  <a:schemeClr val="dk1"/>
                </a:solidFill>
                <a:latin typeface="Times New Roman"/>
                <a:cs typeface="Times New Roman"/>
                <a:sym typeface="Times New Roman"/>
              </a:rPr>
              <a:t>Flow Chart/Block Diagram</a:t>
            </a:r>
          </a:p>
          <a:p>
            <a:pPr marL="285750" lvl="0" indent="-285750">
              <a:buClr>
                <a:schemeClr val="dk1"/>
              </a:buClr>
              <a:buSzPts val="1800"/>
              <a:buFont typeface="Arial" pitchFamily="34" charset="0"/>
              <a:buChar char="•"/>
            </a:pPr>
            <a:r>
              <a:rPr lang="en-US" dirty="0">
                <a:solidFill>
                  <a:schemeClr val="dk1"/>
                </a:solidFill>
                <a:latin typeface="Times New Roman"/>
                <a:cs typeface="Times New Roman"/>
                <a:sym typeface="Times New Roman"/>
              </a:rPr>
              <a:t>Algorithm</a:t>
            </a:r>
            <a:endParaRPr lang="en-US" dirty="0"/>
          </a:p>
          <a:p>
            <a:pPr marL="342900" lvl="0" indent="-342900">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Mathematical  Model</a:t>
            </a:r>
          </a:p>
          <a:p>
            <a:pPr marL="342900" lvl="0" indent="-342900">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Implementation </a:t>
            </a:r>
          </a:p>
          <a:p>
            <a:pPr marL="342900" lvl="0" indent="-342900">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End user / Business Model(Optional)</a:t>
            </a:r>
            <a:endParaRPr lang="en-US" dirty="0"/>
          </a:p>
          <a:p>
            <a:pPr marL="342900" lvl="0" indent="-342900">
              <a:buClr>
                <a:schemeClr val="dk1"/>
              </a:buClr>
              <a:buSzPts val="1800"/>
              <a:buFont typeface="Noto Sans Symbols"/>
              <a:buChar char="⮚"/>
            </a:pPr>
            <a:r>
              <a:rPr lang="en-US" dirty="0">
                <a:latin typeface="Times New Roman" pitchFamily="18" charset="0"/>
                <a:cs typeface="Times New Roman" pitchFamily="18" charset="0"/>
              </a:rPr>
              <a:t>Result Analysis</a:t>
            </a:r>
          </a:p>
          <a:p>
            <a:pPr marL="342900" lvl="0" indent="-342900">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Conclusion</a:t>
            </a:r>
          </a:p>
          <a:p>
            <a:pPr marL="342900" lvl="0" indent="-342900">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References</a:t>
            </a:r>
          </a:p>
          <a:p>
            <a:pPr marL="342900" lvl="0" indent="-342900">
              <a:buClr>
                <a:schemeClr val="dk1"/>
              </a:buClr>
              <a:buSzPts val="1800"/>
              <a:buFont typeface="Noto Sans Symbols"/>
              <a:buChar char="⮚"/>
            </a:pPr>
            <a:r>
              <a:rPr lang="en-US" dirty="0">
                <a:solidFill>
                  <a:schemeClr val="dk1"/>
                </a:solidFill>
                <a:latin typeface="Times New Roman"/>
                <a:ea typeface="Times New Roman"/>
                <a:cs typeface="Times New Roman"/>
                <a:sym typeface="Times New Roman"/>
              </a:rPr>
              <a:t>Outcomes</a:t>
            </a:r>
          </a:p>
          <a:p>
            <a:pPr marL="12700">
              <a:lnSpc>
                <a:spcPct val="100000"/>
              </a:lnSpc>
              <a:spcBef>
                <a:spcPts val="100"/>
              </a:spcBef>
              <a:tabLst>
                <a:tab pos="354965" algn="l"/>
              </a:tabLst>
            </a:pPr>
            <a:endParaRPr lang="en-US" sz="1800" dirty="0">
              <a:latin typeface="Times New Roman"/>
              <a:cs typeface="Times New Roman"/>
            </a:endParaRPr>
          </a:p>
        </p:txBody>
      </p:sp>
    </p:spTree>
    <p:extLst>
      <p:ext uri="{BB962C8B-B14F-4D97-AF65-F5344CB8AC3E}">
        <p14:creationId xmlns:p14="http://schemas.microsoft.com/office/powerpoint/2010/main" val="1306769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EB0ADC73-309D-B8E6-C860-6C777AB06114}"/>
              </a:ext>
            </a:extLst>
          </p:cNvPr>
          <p:cNvSpPr txBox="1">
            <a:spLocks/>
          </p:cNvSpPr>
          <p:nvPr/>
        </p:nvSpPr>
        <p:spPr>
          <a:xfrm>
            <a:off x="838200" y="365125"/>
            <a:ext cx="10515600" cy="1043619"/>
          </a:xfrm>
          <a:prstGeom prst="rect">
            <a:avLst/>
          </a:prstGeom>
        </p:spPr>
        <p:txBody>
          <a:bodyPr vert="horz" wrap="square" lIns="0" tIns="362966"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97865">
              <a:lnSpc>
                <a:spcPct val="100000"/>
              </a:lnSpc>
              <a:spcBef>
                <a:spcPts val="95"/>
              </a:spcBef>
            </a:pPr>
            <a:r>
              <a:rPr lang="en-IN" spc="-10" dirty="0"/>
              <a:t>ABSTRACT</a:t>
            </a:r>
          </a:p>
        </p:txBody>
      </p:sp>
      <p:sp>
        <p:nvSpPr>
          <p:cNvPr id="4" name="TextBox 3">
            <a:extLst>
              <a:ext uri="{FF2B5EF4-FFF2-40B4-BE49-F238E27FC236}">
                <a16:creationId xmlns:a16="http://schemas.microsoft.com/office/drawing/2014/main" id="{ED640BF8-1B3F-0827-B9D9-E082A7C52DAB}"/>
              </a:ext>
            </a:extLst>
          </p:cNvPr>
          <p:cNvSpPr txBox="1"/>
          <p:nvPr/>
        </p:nvSpPr>
        <p:spPr>
          <a:xfrm>
            <a:off x="1013791" y="1550578"/>
            <a:ext cx="10515600" cy="1754326"/>
          </a:xfrm>
          <a:prstGeom prst="rect">
            <a:avLst/>
          </a:prstGeom>
          <a:noFill/>
        </p:spPr>
        <p:txBody>
          <a:bodyPr wrap="square">
            <a:spAutoFit/>
          </a:bodyPr>
          <a:lstStyle/>
          <a:p>
            <a:pPr algn="just"/>
            <a:r>
              <a:rPr lang="en-US" dirty="0"/>
              <a:t>Rare diseases are difficult to detect due to limited and imbalanced data. Existing CNN models like VGG16 and ResNet50 show good performance but face challenges in rare disease classification. To address this, we propose </a:t>
            </a:r>
            <a:r>
              <a:rPr lang="en-US" b="1" dirty="0" err="1"/>
              <a:t>RareDetect</a:t>
            </a:r>
            <a:r>
              <a:rPr lang="en-US" dirty="0"/>
              <a:t>, a custom CNN model designed for accurate detection. The pipeline includes preprocessing, feature extraction, classification, and evaluation using metrics such as accuracy, precision, recall, and F1-score. </a:t>
            </a:r>
            <a:r>
              <a:rPr lang="en-US" dirty="0" err="1"/>
              <a:t>RareNet</a:t>
            </a:r>
            <a:r>
              <a:rPr lang="en-US" dirty="0"/>
              <a:t> provides a reliable AI-based support system for doctors and researchers in diagnosing rare diseases.</a:t>
            </a:r>
            <a:endParaRPr lang="en-IN" dirty="0"/>
          </a:p>
        </p:txBody>
      </p:sp>
    </p:spTree>
    <p:extLst>
      <p:ext uri="{BB962C8B-B14F-4D97-AF65-F5344CB8AC3E}">
        <p14:creationId xmlns:p14="http://schemas.microsoft.com/office/powerpoint/2010/main" val="2571849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62966" rIns="0" bIns="0" rtlCol="0">
            <a:spAutoFit/>
          </a:bodyPr>
          <a:lstStyle/>
          <a:p>
            <a:pPr marL="697865">
              <a:lnSpc>
                <a:spcPct val="100000"/>
              </a:lnSpc>
              <a:spcBef>
                <a:spcPts val="95"/>
              </a:spcBef>
            </a:pPr>
            <a:r>
              <a:rPr spc="-10" dirty="0"/>
              <a:t>INTRODUCTION</a:t>
            </a:r>
          </a:p>
        </p:txBody>
      </p:sp>
      <p:sp>
        <p:nvSpPr>
          <p:cNvPr id="3" name="object 3"/>
          <p:cNvSpPr txBox="1"/>
          <p:nvPr/>
        </p:nvSpPr>
        <p:spPr>
          <a:xfrm>
            <a:off x="688644" y="1804796"/>
            <a:ext cx="10633710" cy="4426853"/>
          </a:xfrm>
          <a:prstGeom prst="rect">
            <a:avLst/>
          </a:prstGeom>
        </p:spPr>
        <p:txBody>
          <a:bodyPr vert="horz" wrap="square" lIns="0" tIns="12700" rIns="0" bIns="0" rtlCol="0">
            <a:spAutoFit/>
          </a:bodyPr>
          <a:lstStyle/>
          <a:p>
            <a:pPr marL="12700" algn="just">
              <a:lnSpc>
                <a:spcPct val="100000"/>
              </a:lnSpc>
              <a:spcBef>
                <a:spcPts val="100"/>
              </a:spcBef>
            </a:pPr>
            <a:r>
              <a:rPr dirty="0">
                <a:latin typeface="Calibri"/>
                <a:cs typeface="Calibri"/>
              </a:rPr>
              <a:t>Artificial</a:t>
            </a:r>
            <a:r>
              <a:rPr spc="270" dirty="0">
                <a:latin typeface="Calibri"/>
                <a:cs typeface="Calibri"/>
              </a:rPr>
              <a:t> </a:t>
            </a:r>
            <a:r>
              <a:rPr dirty="0">
                <a:latin typeface="Calibri"/>
                <a:cs typeface="Calibri"/>
              </a:rPr>
              <a:t>Intelligence</a:t>
            </a:r>
            <a:r>
              <a:rPr spc="265" dirty="0">
                <a:latin typeface="Calibri"/>
                <a:cs typeface="Calibri"/>
              </a:rPr>
              <a:t> </a:t>
            </a:r>
            <a:r>
              <a:rPr dirty="0">
                <a:latin typeface="Calibri"/>
                <a:cs typeface="Calibri"/>
              </a:rPr>
              <a:t>(AI)</a:t>
            </a:r>
            <a:r>
              <a:rPr spc="285" dirty="0">
                <a:latin typeface="Calibri"/>
                <a:cs typeface="Calibri"/>
              </a:rPr>
              <a:t> </a:t>
            </a:r>
            <a:r>
              <a:rPr dirty="0">
                <a:latin typeface="Calibri"/>
                <a:cs typeface="Calibri"/>
              </a:rPr>
              <a:t>and</a:t>
            </a:r>
            <a:r>
              <a:rPr spc="265" dirty="0">
                <a:latin typeface="Calibri"/>
                <a:cs typeface="Calibri"/>
              </a:rPr>
              <a:t> </a:t>
            </a:r>
            <a:r>
              <a:rPr dirty="0">
                <a:latin typeface="Calibri"/>
                <a:cs typeface="Calibri"/>
              </a:rPr>
              <a:t>deep</a:t>
            </a:r>
            <a:r>
              <a:rPr spc="265" dirty="0">
                <a:latin typeface="Calibri"/>
                <a:cs typeface="Calibri"/>
              </a:rPr>
              <a:t> </a:t>
            </a:r>
            <a:r>
              <a:rPr dirty="0">
                <a:latin typeface="Calibri"/>
                <a:cs typeface="Calibri"/>
              </a:rPr>
              <a:t>learning</a:t>
            </a:r>
            <a:r>
              <a:rPr spc="275" dirty="0">
                <a:latin typeface="Calibri"/>
                <a:cs typeface="Calibri"/>
              </a:rPr>
              <a:t> </a:t>
            </a:r>
            <a:r>
              <a:rPr dirty="0">
                <a:latin typeface="Calibri"/>
                <a:cs typeface="Calibri"/>
              </a:rPr>
              <a:t>have</a:t>
            </a:r>
            <a:r>
              <a:rPr spc="265" dirty="0">
                <a:latin typeface="Calibri"/>
                <a:cs typeface="Calibri"/>
              </a:rPr>
              <a:t> </a:t>
            </a:r>
            <a:r>
              <a:rPr dirty="0">
                <a:latin typeface="Calibri"/>
                <a:cs typeface="Calibri"/>
              </a:rPr>
              <a:t>significantly</a:t>
            </a:r>
            <a:r>
              <a:rPr spc="300" dirty="0">
                <a:latin typeface="Calibri"/>
                <a:cs typeface="Calibri"/>
              </a:rPr>
              <a:t> </a:t>
            </a:r>
            <a:r>
              <a:rPr dirty="0">
                <a:latin typeface="Calibri"/>
                <a:cs typeface="Calibri"/>
              </a:rPr>
              <a:t>advanced</a:t>
            </a:r>
            <a:r>
              <a:rPr spc="270" dirty="0">
                <a:latin typeface="Calibri"/>
                <a:cs typeface="Calibri"/>
              </a:rPr>
              <a:t> </a:t>
            </a:r>
            <a:r>
              <a:rPr dirty="0">
                <a:latin typeface="Calibri"/>
                <a:cs typeface="Calibri"/>
              </a:rPr>
              <a:t>medical</a:t>
            </a:r>
            <a:r>
              <a:rPr spc="275" dirty="0">
                <a:latin typeface="Calibri"/>
                <a:cs typeface="Calibri"/>
              </a:rPr>
              <a:t> </a:t>
            </a:r>
            <a:r>
              <a:rPr dirty="0">
                <a:latin typeface="Calibri"/>
                <a:cs typeface="Calibri"/>
              </a:rPr>
              <a:t>imaging,</a:t>
            </a:r>
            <a:r>
              <a:rPr spc="280" dirty="0">
                <a:latin typeface="Calibri"/>
                <a:cs typeface="Calibri"/>
              </a:rPr>
              <a:t> </a:t>
            </a:r>
            <a:r>
              <a:rPr dirty="0">
                <a:latin typeface="Calibri"/>
                <a:cs typeface="Calibri"/>
              </a:rPr>
              <a:t>enabling</a:t>
            </a:r>
            <a:r>
              <a:rPr spc="270" dirty="0">
                <a:latin typeface="Calibri"/>
                <a:cs typeface="Calibri"/>
              </a:rPr>
              <a:t> </a:t>
            </a:r>
            <a:r>
              <a:rPr dirty="0">
                <a:latin typeface="Calibri"/>
                <a:cs typeface="Calibri"/>
              </a:rPr>
              <a:t>faster</a:t>
            </a:r>
            <a:r>
              <a:rPr spc="275" dirty="0">
                <a:latin typeface="Calibri"/>
                <a:cs typeface="Calibri"/>
              </a:rPr>
              <a:t> </a:t>
            </a:r>
            <a:r>
              <a:rPr spc="-25" dirty="0">
                <a:latin typeface="Calibri"/>
                <a:cs typeface="Calibri"/>
              </a:rPr>
              <a:t>and</a:t>
            </a:r>
            <a:endParaRPr dirty="0">
              <a:latin typeface="Calibri"/>
              <a:cs typeface="Calibri"/>
            </a:endParaRPr>
          </a:p>
          <a:p>
            <a:pPr marL="12700" algn="just">
              <a:lnSpc>
                <a:spcPct val="100000"/>
              </a:lnSpc>
              <a:spcBef>
                <a:spcPts val="1465"/>
              </a:spcBef>
            </a:pPr>
            <a:r>
              <a:rPr dirty="0">
                <a:latin typeface="Calibri"/>
                <a:cs typeface="Calibri"/>
              </a:rPr>
              <a:t>more</a:t>
            </a:r>
            <a:r>
              <a:rPr spc="70" dirty="0">
                <a:latin typeface="Calibri"/>
                <a:cs typeface="Calibri"/>
              </a:rPr>
              <a:t>  </a:t>
            </a:r>
            <a:r>
              <a:rPr dirty="0">
                <a:latin typeface="Calibri"/>
                <a:cs typeface="Calibri"/>
              </a:rPr>
              <a:t>accurate</a:t>
            </a:r>
            <a:r>
              <a:rPr spc="70" dirty="0">
                <a:latin typeface="Calibri"/>
                <a:cs typeface="Calibri"/>
              </a:rPr>
              <a:t>  </a:t>
            </a:r>
            <a:r>
              <a:rPr dirty="0">
                <a:latin typeface="Calibri"/>
                <a:cs typeface="Calibri"/>
              </a:rPr>
              <a:t>diagnosis</a:t>
            </a:r>
            <a:r>
              <a:rPr spc="70" dirty="0">
                <a:latin typeface="Calibri"/>
                <a:cs typeface="Calibri"/>
              </a:rPr>
              <a:t>  </a:t>
            </a:r>
            <a:r>
              <a:rPr dirty="0">
                <a:latin typeface="Calibri"/>
                <a:cs typeface="Calibri"/>
              </a:rPr>
              <a:t>of</a:t>
            </a:r>
            <a:r>
              <a:rPr spc="95" dirty="0">
                <a:latin typeface="Calibri"/>
                <a:cs typeface="Calibri"/>
              </a:rPr>
              <a:t>  </a:t>
            </a:r>
            <a:r>
              <a:rPr dirty="0">
                <a:latin typeface="Calibri"/>
                <a:cs typeface="Calibri"/>
              </a:rPr>
              <a:t>diseases.</a:t>
            </a:r>
            <a:r>
              <a:rPr spc="75" dirty="0">
                <a:latin typeface="Calibri"/>
                <a:cs typeface="Calibri"/>
              </a:rPr>
              <a:t>  </a:t>
            </a:r>
            <a:r>
              <a:rPr dirty="0">
                <a:latin typeface="Calibri"/>
                <a:cs typeface="Calibri"/>
              </a:rPr>
              <a:t>Despite</a:t>
            </a:r>
            <a:r>
              <a:rPr spc="85" dirty="0">
                <a:latin typeface="Calibri"/>
                <a:cs typeface="Calibri"/>
              </a:rPr>
              <a:t>  </a:t>
            </a:r>
            <a:r>
              <a:rPr dirty="0">
                <a:latin typeface="Calibri"/>
                <a:cs typeface="Calibri"/>
              </a:rPr>
              <a:t>this</a:t>
            </a:r>
            <a:r>
              <a:rPr spc="70" dirty="0">
                <a:latin typeface="Calibri"/>
                <a:cs typeface="Calibri"/>
              </a:rPr>
              <a:t>  </a:t>
            </a:r>
            <a:r>
              <a:rPr dirty="0">
                <a:latin typeface="Calibri"/>
                <a:cs typeface="Calibri"/>
              </a:rPr>
              <a:t>progress,</a:t>
            </a:r>
            <a:r>
              <a:rPr spc="80" dirty="0">
                <a:latin typeface="Calibri"/>
                <a:cs typeface="Calibri"/>
              </a:rPr>
              <a:t>  </a:t>
            </a:r>
            <a:r>
              <a:rPr dirty="0">
                <a:latin typeface="Calibri"/>
                <a:cs typeface="Calibri"/>
              </a:rPr>
              <a:t>detecting</a:t>
            </a:r>
            <a:r>
              <a:rPr spc="70" dirty="0">
                <a:latin typeface="Calibri"/>
                <a:cs typeface="Calibri"/>
              </a:rPr>
              <a:t>  </a:t>
            </a:r>
            <a:r>
              <a:rPr dirty="0">
                <a:latin typeface="Calibri"/>
                <a:cs typeface="Calibri"/>
              </a:rPr>
              <a:t>rare</a:t>
            </a:r>
            <a:r>
              <a:rPr spc="75" dirty="0">
                <a:latin typeface="Calibri"/>
                <a:cs typeface="Calibri"/>
              </a:rPr>
              <a:t>  </a:t>
            </a:r>
            <a:r>
              <a:rPr dirty="0">
                <a:latin typeface="Calibri"/>
                <a:cs typeface="Calibri"/>
              </a:rPr>
              <a:t>brain</a:t>
            </a:r>
            <a:r>
              <a:rPr spc="70" dirty="0">
                <a:latin typeface="Calibri"/>
                <a:cs typeface="Calibri"/>
              </a:rPr>
              <a:t>  </a:t>
            </a:r>
            <a:r>
              <a:rPr dirty="0">
                <a:latin typeface="Calibri"/>
                <a:cs typeface="Calibri"/>
              </a:rPr>
              <a:t>tumors</a:t>
            </a:r>
            <a:r>
              <a:rPr spc="70" dirty="0">
                <a:latin typeface="Calibri"/>
                <a:cs typeface="Calibri"/>
              </a:rPr>
              <a:t>  </a:t>
            </a:r>
            <a:r>
              <a:rPr dirty="0">
                <a:latin typeface="Calibri"/>
                <a:cs typeface="Calibri"/>
              </a:rPr>
              <a:t>such</a:t>
            </a:r>
            <a:r>
              <a:rPr spc="110" dirty="0">
                <a:latin typeface="Calibri"/>
                <a:cs typeface="Calibri"/>
              </a:rPr>
              <a:t>  </a:t>
            </a:r>
            <a:r>
              <a:rPr dirty="0">
                <a:latin typeface="Calibri"/>
                <a:cs typeface="Calibri"/>
              </a:rPr>
              <a:t>as</a:t>
            </a:r>
            <a:r>
              <a:rPr spc="90" dirty="0">
                <a:latin typeface="Calibri"/>
                <a:cs typeface="Calibri"/>
              </a:rPr>
              <a:t>  </a:t>
            </a:r>
            <a:r>
              <a:rPr spc="-10" dirty="0">
                <a:latin typeface="Calibri"/>
                <a:cs typeface="Calibri"/>
              </a:rPr>
              <a:t>glioma,</a:t>
            </a:r>
            <a:endParaRPr dirty="0">
              <a:latin typeface="Calibri"/>
              <a:cs typeface="Calibri"/>
            </a:endParaRPr>
          </a:p>
          <a:p>
            <a:pPr marL="12700" marR="12065" algn="just">
              <a:lnSpc>
                <a:spcPct val="168400"/>
              </a:lnSpc>
              <a:spcBef>
                <a:spcPts val="15"/>
              </a:spcBef>
            </a:pPr>
            <a:r>
              <a:rPr dirty="0">
                <a:latin typeface="Calibri"/>
                <a:cs typeface="Calibri"/>
              </a:rPr>
              <a:t>meningioma,</a:t>
            </a:r>
            <a:r>
              <a:rPr spc="135" dirty="0">
                <a:latin typeface="Calibri"/>
                <a:cs typeface="Calibri"/>
              </a:rPr>
              <a:t> </a:t>
            </a:r>
            <a:r>
              <a:rPr dirty="0">
                <a:latin typeface="Calibri"/>
                <a:cs typeface="Calibri"/>
              </a:rPr>
              <a:t>and</a:t>
            </a:r>
            <a:r>
              <a:rPr spc="125" dirty="0">
                <a:latin typeface="Calibri"/>
                <a:cs typeface="Calibri"/>
              </a:rPr>
              <a:t> </a:t>
            </a:r>
            <a:r>
              <a:rPr dirty="0">
                <a:latin typeface="Calibri"/>
                <a:cs typeface="Calibri"/>
              </a:rPr>
              <a:t>pituitary</a:t>
            </a:r>
            <a:r>
              <a:rPr spc="135" dirty="0">
                <a:latin typeface="Calibri"/>
                <a:cs typeface="Calibri"/>
              </a:rPr>
              <a:t> </a:t>
            </a:r>
            <a:r>
              <a:rPr dirty="0">
                <a:latin typeface="Calibri"/>
                <a:cs typeface="Calibri"/>
              </a:rPr>
              <a:t>tumors</a:t>
            </a:r>
            <a:r>
              <a:rPr spc="120" dirty="0">
                <a:latin typeface="Calibri"/>
                <a:cs typeface="Calibri"/>
              </a:rPr>
              <a:t> </a:t>
            </a:r>
            <a:r>
              <a:rPr dirty="0">
                <a:latin typeface="Calibri"/>
                <a:cs typeface="Calibri"/>
              </a:rPr>
              <a:t>remains</a:t>
            </a:r>
            <a:r>
              <a:rPr spc="125" dirty="0">
                <a:latin typeface="Calibri"/>
                <a:cs typeface="Calibri"/>
              </a:rPr>
              <a:t> </a:t>
            </a:r>
            <a:r>
              <a:rPr dirty="0">
                <a:latin typeface="Calibri"/>
                <a:cs typeface="Calibri"/>
              </a:rPr>
              <a:t>a</a:t>
            </a:r>
            <a:r>
              <a:rPr spc="135" dirty="0">
                <a:latin typeface="Calibri"/>
                <a:cs typeface="Calibri"/>
              </a:rPr>
              <a:t> </a:t>
            </a:r>
            <a:r>
              <a:rPr dirty="0">
                <a:latin typeface="Calibri"/>
                <a:cs typeface="Calibri"/>
              </a:rPr>
              <a:t>challenge</a:t>
            </a:r>
            <a:r>
              <a:rPr spc="125" dirty="0">
                <a:latin typeface="Calibri"/>
                <a:cs typeface="Calibri"/>
              </a:rPr>
              <a:t> </a:t>
            </a:r>
            <a:r>
              <a:rPr dirty="0">
                <a:latin typeface="Calibri"/>
                <a:cs typeface="Calibri"/>
              </a:rPr>
              <a:t>due</a:t>
            </a:r>
            <a:r>
              <a:rPr spc="125" dirty="0">
                <a:latin typeface="Calibri"/>
                <a:cs typeface="Calibri"/>
              </a:rPr>
              <a:t> </a:t>
            </a:r>
            <a:r>
              <a:rPr dirty="0">
                <a:latin typeface="Calibri"/>
                <a:cs typeface="Calibri"/>
              </a:rPr>
              <a:t>to</a:t>
            </a:r>
            <a:r>
              <a:rPr spc="140" dirty="0">
                <a:latin typeface="Calibri"/>
                <a:cs typeface="Calibri"/>
              </a:rPr>
              <a:t> </a:t>
            </a:r>
            <a:r>
              <a:rPr dirty="0">
                <a:latin typeface="Calibri"/>
                <a:cs typeface="Calibri"/>
              </a:rPr>
              <a:t>limited</a:t>
            </a:r>
            <a:r>
              <a:rPr spc="125" dirty="0">
                <a:latin typeface="Calibri"/>
                <a:cs typeface="Calibri"/>
              </a:rPr>
              <a:t> </a:t>
            </a:r>
            <a:r>
              <a:rPr dirty="0">
                <a:latin typeface="Calibri"/>
                <a:cs typeface="Calibri"/>
              </a:rPr>
              <a:t>data</a:t>
            </a:r>
            <a:r>
              <a:rPr spc="135" dirty="0">
                <a:latin typeface="Calibri"/>
                <a:cs typeface="Calibri"/>
              </a:rPr>
              <a:t> </a:t>
            </a:r>
            <a:r>
              <a:rPr dirty="0">
                <a:latin typeface="Calibri"/>
                <a:cs typeface="Calibri"/>
              </a:rPr>
              <a:t>availability</a:t>
            </a:r>
            <a:r>
              <a:rPr spc="130" dirty="0">
                <a:latin typeface="Calibri"/>
                <a:cs typeface="Calibri"/>
              </a:rPr>
              <a:t> </a:t>
            </a:r>
            <a:r>
              <a:rPr dirty="0">
                <a:latin typeface="Calibri"/>
                <a:cs typeface="Calibri"/>
              </a:rPr>
              <a:t>and</a:t>
            </a:r>
            <a:r>
              <a:rPr spc="125" dirty="0">
                <a:latin typeface="Calibri"/>
                <a:cs typeface="Calibri"/>
              </a:rPr>
              <a:t> </a:t>
            </a:r>
            <a:r>
              <a:rPr dirty="0">
                <a:latin typeface="Calibri"/>
                <a:cs typeface="Calibri"/>
              </a:rPr>
              <a:t>overlapping</a:t>
            </a:r>
            <a:r>
              <a:rPr spc="125" dirty="0">
                <a:latin typeface="Calibri"/>
                <a:cs typeface="Calibri"/>
              </a:rPr>
              <a:t> </a:t>
            </a:r>
            <a:r>
              <a:rPr spc="-10" dirty="0">
                <a:latin typeface="Calibri"/>
                <a:cs typeface="Calibri"/>
              </a:rPr>
              <a:t>imaging </a:t>
            </a:r>
            <a:r>
              <a:rPr dirty="0">
                <a:latin typeface="Calibri"/>
                <a:cs typeface="Calibri"/>
              </a:rPr>
              <a:t>features.</a:t>
            </a:r>
            <a:r>
              <a:rPr spc="175" dirty="0">
                <a:latin typeface="Calibri"/>
                <a:cs typeface="Calibri"/>
              </a:rPr>
              <a:t> </a:t>
            </a:r>
            <a:r>
              <a:rPr dirty="0">
                <a:latin typeface="Calibri"/>
                <a:cs typeface="Calibri"/>
              </a:rPr>
              <a:t>To</a:t>
            </a:r>
            <a:r>
              <a:rPr spc="155" dirty="0">
                <a:latin typeface="Calibri"/>
                <a:cs typeface="Calibri"/>
              </a:rPr>
              <a:t> </a:t>
            </a:r>
            <a:r>
              <a:rPr dirty="0">
                <a:latin typeface="Calibri"/>
                <a:cs typeface="Calibri"/>
              </a:rPr>
              <a:t>address</a:t>
            </a:r>
            <a:r>
              <a:rPr spc="170" dirty="0">
                <a:latin typeface="Calibri"/>
                <a:cs typeface="Calibri"/>
              </a:rPr>
              <a:t> </a:t>
            </a:r>
            <a:r>
              <a:rPr dirty="0">
                <a:latin typeface="Calibri"/>
                <a:cs typeface="Calibri"/>
              </a:rPr>
              <a:t>this</a:t>
            </a:r>
            <a:r>
              <a:rPr spc="145" dirty="0">
                <a:latin typeface="Calibri"/>
                <a:cs typeface="Calibri"/>
              </a:rPr>
              <a:t> </a:t>
            </a:r>
            <a:r>
              <a:rPr dirty="0">
                <a:latin typeface="Calibri"/>
                <a:cs typeface="Calibri"/>
              </a:rPr>
              <a:t>issue,</a:t>
            </a:r>
            <a:r>
              <a:rPr spc="155" dirty="0">
                <a:latin typeface="Calibri"/>
                <a:cs typeface="Calibri"/>
              </a:rPr>
              <a:t> </a:t>
            </a:r>
            <a:r>
              <a:rPr dirty="0">
                <a:latin typeface="Calibri"/>
                <a:cs typeface="Calibri"/>
              </a:rPr>
              <a:t>the</a:t>
            </a:r>
            <a:r>
              <a:rPr spc="170" dirty="0">
                <a:latin typeface="Calibri"/>
                <a:cs typeface="Calibri"/>
              </a:rPr>
              <a:t> </a:t>
            </a:r>
            <a:r>
              <a:rPr dirty="0">
                <a:latin typeface="Calibri"/>
                <a:cs typeface="Calibri"/>
              </a:rPr>
              <a:t>project</a:t>
            </a:r>
            <a:r>
              <a:rPr spc="150" dirty="0">
                <a:latin typeface="Calibri"/>
                <a:cs typeface="Calibri"/>
              </a:rPr>
              <a:t> </a:t>
            </a:r>
            <a:r>
              <a:rPr dirty="0">
                <a:latin typeface="Calibri"/>
                <a:cs typeface="Calibri"/>
              </a:rPr>
              <a:t>titled</a:t>
            </a:r>
            <a:r>
              <a:rPr spc="145" dirty="0">
                <a:latin typeface="Calibri"/>
                <a:cs typeface="Calibri"/>
              </a:rPr>
              <a:t> </a:t>
            </a:r>
            <a:r>
              <a:rPr dirty="0">
                <a:latin typeface="Calibri"/>
                <a:cs typeface="Calibri"/>
              </a:rPr>
              <a:t>RareNet</a:t>
            </a:r>
            <a:r>
              <a:rPr spc="170" dirty="0">
                <a:latin typeface="Calibri"/>
                <a:cs typeface="Calibri"/>
              </a:rPr>
              <a:t> </a:t>
            </a:r>
            <a:r>
              <a:rPr dirty="0">
                <a:latin typeface="Calibri"/>
                <a:cs typeface="Calibri"/>
              </a:rPr>
              <a:t>proposes</a:t>
            </a:r>
            <a:r>
              <a:rPr spc="140" dirty="0">
                <a:latin typeface="Calibri"/>
                <a:cs typeface="Calibri"/>
              </a:rPr>
              <a:t> </a:t>
            </a:r>
            <a:r>
              <a:rPr dirty="0">
                <a:latin typeface="Calibri"/>
                <a:cs typeface="Calibri"/>
              </a:rPr>
              <a:t>a</a:t>
            </a:r>
            <a:r>
              <a:rPr spc="155" dirty="0">
                <a:latin typeface="Calibri"/>
                <a:cs typeface="Calibri"/>
              </a:rPr>
              <a:t> </a:t>
            </a:r>
            <a:r>
              <a:rPr dirty="0">
                <a:latin typeface="Calibri"/>
                <a:cs typeface="Calibri"/>
              </a:rPr>
              <a:t>custom</a:t>
            </a:r>
            <a:r>
              <a:rPr spc="150" dirty="0">
                <a:latin typeface="Calibri"/>
                <a:cs typeface="Calibri"/>
              </a:rPr>
              <a:t> </a:t>
            </a:r>
            <a:r>
              <a:rPr dirty="0">
                <a:latin typeface="Calibri"/>
                <a:cs typeface="Calibri"/>
              </a:rPr>
              <a:t>deep</a:t>
            </a:r>
            <a:r>
              <a:rPr spc="165" dirty="0">
                <a:latin typeface="Calibri"/>
                <a:cs typeface="Calibri"/>
              </a:rPr>
              <a:t> </a:t>
            </a:r>
            <a:r>
              <a:rPr dirty="0">
                <a:latin typeface="Calibri"/>
                <a:cs typeface="Calibri"/>
              </a:rPr>
              <a:t>learning</a:t>
            </a:r>
            <a:r>
              <a:rPr spc="165" dirty="0">
                <a:latin typeface="Calibri"/>
                <a:cs typeface="Calibri"/>
              </a:rPr>
              <a:t> </a:t>
            </a:r>
            <a:r>
              <a:rPr dirty="0">
                <a:latin typeface="Calibri"/>
                <a:cs typeface="Calibri"/>
              </a:rPr>
              <a:t>model</a:t>
            </a:r>
            <a:r>
              <a:rPr spc="145" dirty="0">
                <a:latin typeface="Calibri"/>
                <a:cs typeface="Calibri"/>
              </a:rPr>
              <a:t> </a:t>
            </a:r>
            <a:r>
              <a:rPr dirty="0">
                <a:latin typeface="Calibri"/>
                <a:cs typeface="Calibri"/>
              </a:rPr>
              <a:t>designed</a:t>
            </a:r>
            <a:r>
              <a:rPr spc="145" dirty="0">
                <a:latin typeface="Calibri"/>
                <a:cs typeface="Calibri"/>
              </a:rPr>
              <a:t> </a:t>
            </a:r>
            <a:r>
              <a:rPr spc="-25" dirty="0">
                <a:latin typeface="Calibri"/>
                <a:cs typeface="Calibri"/>
              </a:rPr>
              <a:t>to </a:t>
            </a:r>
            <a:r>
              <a:rPr dirty="0">
                <a:latin typeface="Calibri"/>
                <a:cs typeface="Calibri"/>
              </a:rPr>
              <a:t>classify</a:t>
            </a:r>
            <a:r>
              <a:rPr spc="-30" dirty="0">
                <a:latin typeface="Calibri"/>
                <a:cs typeface="Calibri"/>
              </a:rPr>
              <a:t> </a:t>
            </a:r>
            <a:r>
              <a:rPr dirty="0">
                <a:latin typeface="Calibri"/>
                <a:cs typeface="Calibri"/>
              </a:rPr>
              <a:t>brain</a:t>
            </a:r>
            <a:r>
              <a:rPr spc="-40" dirty="0">
                <a:latin typeface="Calibri"/>
                <a:cs typeface="Calibri"/>
              </a:rPr>
              <a:t> </a:t>
            </a:r>
            <a:r>
              <a:rPr dirty="0">
                <a:latin typeface="Calibri"/>
                <a:cs typeface="Calibri"/>
              </a:rPr>
              <a:t>MRI</a:t>
            </a:r>
            <a:r>
              <a:rPr spc="-20" dirty="0">
                <a:latin typeface="Calibri"/>
                <a:cs typeface="Calibri"/>
              </a:rPr>
              <a:t> </a:t>
            </a:r>
            <a:r>
              <a:rPr dirty="0">
                <a:latin typeface="Calibri"/>
                <a:cs typeface="Calibri"/>
              </a:rPr>
              <a:t>scans</a:t>
            </a:r>
            <a:r>
              <a:rPr spc="-30" dirty="0">
                <a:latin typeface="Calibri"/>
                <a:cs typeface="Calibri"/>
              </a:rPr>
              <a:t> </a:t>
            </a:r>
            <a:r>
              <a:rPr dirty="0">
                <a:latin typeface="Calibri"/>
                <a:cs typeface="Calibri"/>
              </a:rPr>
              <a:t>into</a:t>
            </a:r>
            <a:r>
              <a:rPr spc="-20" dirty="0">
                <a:latin typeface="Calibri"/>
                <a:cs typeface="Calibri"/>
              </a:rPr>
              <a:t> </a:t>
            </a:r>
            <a:r>
              <a:rPr dirty="0">
                <a:latin typeface="Calibri"/>
                <a:cs typeface="Calibri"/>
              </a:rPr>
              <a:t>four</a:t>
            </a:r>
            <a:r>
              <a:rPr spc="-30" dirty="0">
                <a:latin typeface="Calibri"/>
                <a:cs typeface="Calibri"/>
              </a:rPr>
              <a:t> </a:t>
            </a:r>
            <a:r>
              <a:rPr spc="-10" dirty="0">
                <a:latin typeface="Calibri"/>
                <a:cs typeface="Calibri"/>
              </a:rPr>
              <a:t>categories:</a:t>
            </a:r>
            <a:r>
              <a:rPr spc="-30" dirty="0">
                <a:latin typeface="Calibri"/>
                <a:cs typeface="Calibri"/>
              </a:rPr>
              <a:t> </a:t>
            </a:r>
            <a:r>
              <a:rPr dirty="0">
                <a:latin typeface="Calibri"/>
                <a:cs typeface="Calibri"/>
              </a:rPr>
              <a:t>glioma,</a:t>
            </a:r>
            <a:r>
              <a:rPr spc="-20" dirty="0">
                <a:latin typeface="Calibri"/>
                <a:cs typeface="Calibri"/>
              </a:rPr>
              <a:t> </a:t>
            </a:r>
            <a:r>
              <a:rPr spc="-10" dirty="0">
                <a:latin typeface="Calibri"/>
                <a:cs typeface="Calibri"/>
              </a:rPr>
              <a:t>meningioma,</a:t>
            </a:r>
            <a:r>
              <a:rPr spc="-25" dirty="0">
                <a:latin typeface="Calibri"/>
                <a:cs typeface="Calibri"/>
              </a:rPr>
              <a:t> </a:t>
            </a:r>
            <a:r>
              <a:rPr dirty="0">
                <a:latin typeface="Calibri"/>
                <a:cs typeface="Calibri"/>
              </a:rPr>
              <a:t>pituitary</a:t>
            </a:r>
            <a:r>
              <a:rPr spc="-30" dirty="0">
                <a:latin typeface="Calibri"/>
                <a:cs typeface="Calibri"/>
              </a:rPr>
              <a:t> </a:t>
            </a:r>
            <a:r>
              <a:rPr dirty="0">
                <a:latin typeface="Calibri"/>
                <a:cs typeface="Calibri"/>
              </a:rPr>
              <a:t>tumor,</a:t>
            </a:r>
            <a:r>
              <a:rPr spc="-25" dirty="0">
                <a:latin typeface="Calibri"/>
                <a:cs typeface="Calibri"/>
              </a:rPr>
              <a:t> </a:t>
            </a:r>
            <a:r>
              <a:rPr dirty="0">
                <a:latin typeface="Calibri"/>
                <a:cs typeface="Calibri"/>
              </a:rPr>
              <a:t>and</a:t>
            </a:r>
            <a:r>
              <a:rPr spc="-45" dirty="0">
                <a:latin typeface="Calibri"/>
                <a:cs typeface="Calibri"/>
              </a:rPr>
              <a:t> </a:t>
            </a:r>
            <a:r>
              <a:rPr dirty="0">
                <a:latin typeface="Calibri"/>
                <a:cs typeface="Calibri"/>
              </a:rPr>
              <a:t>no</a:t>
            </a:r>
            <a:r>
              <a:rPr spc="-20" dirty="0">
                <a:latin typeface="Calibri"/>
                <a:cs typeface="Calibri"/>
              </a:rPr>
              <a:t> </a:t>
            </a:r>
            <a:r>
              <a:rPr spc="-10" dirty="0">
                <a:latin typeface="Calibri"/>
                <a:cs typeface="Calibri"/>
              </a:rPr>
              <a:t>tumor.</a:t>
            </a:r>
            <a:endParaRPr dirty="0">
              <a:latin typeface="Calibri"/>
              <a:cs typeface="Calibri"/>
            </a:endParaRPr>
          </a:p>
          <a:p>
            <a:pPr marL="12700" marR="5080" algn="just">
              <a:lnSpc>
                <a:spcPct val="168400"/>
              </a:lnSpc>
              <a:spcBef>
                <a:spcPts val="10"/>
              </a:spcBef>
            </a:pPr>
            <a:r>
              <a:rPr dirty="0">
                <a:latin typeface="Calibri"/>
                <a:cs typeface="Calibri"/>
              </a:rPr>
              <a:t>The</a:t>
            </a:r>
            <a:r>
              <a:rPr spc="360" dirty="0">
                <a:latin typeface="Calibri"/>
                <a:cs typeface="Calibri"/>
              </a:rPr>
              <a:t> </a:t>
            </a:r>
            <a:r>
              <a:rPr dirty="0">
                <a:latin typeface="Calibri"/>
                <a:cs typeface="Calibri"/>
              </a:rPr>
              <a:t>system</a:t>
            </a:r>
            <a:r>
              <a:rPr spc="375" dirty="0">
                <a:latin typeface="Calibri"/>
                <a:cs typeface="Calibri"/>
              </a:rPr>
              <a:t> </a:t>
            </a:r>
            <a:r>
              <a:rPr dirty="0">
                <a:latin typeface="Calibri"/>
                <a:cs typeface="Calibri"/>
              </a:rPr>
              <a:t>will</a:t>
            </a:r>
            <a:r>
              <a:rPr spc="390" dirty="0">
                <a:latin typeface="Calibri"/>
                <a:cs typeface="Calibri"/>
              </a:rPr>
              <a:t> </a:t>
            </a:r>
            <a:r>
              <a:rPr dirty="0">
                <a:latin typeface="Calibri"/>
                <a:cs typeface="Calibri"/>
              </a:rPr>
              <a:t>be</a:t>
            </a:r>
            <a:r>
              <a:rPr spc="365" dirty="0">
                <a:latin typeface="Calibri"/>
                <a:cs typeface="Calibri"/>
              </a:rPr>
              <a:t> </a:t>
            </a:r>
            <a:r>
              <a:rPr dirty="0">
                <a:latin typeface="Calibri"/>
                <a:cs typeface="Calibri"/>
              </a:rPr>
              <a:t>trained</a:t>
            </a:r>
            <a:r>
              <a:rPr spc="360" dirty="0">
                <a:latin typeface="Calibri"/>
                <a:cs typeface="Calibri"/>
              </a:rPr>
              <a:t> </a:t>
            </a:r>
            <a:r>
              <a:rPr dirty="0">
                <a:latin typeface="Calibri"/>
                <a:cs typeface="Calibri"/>
              </a:rPr>
              <a:t>using</a:t>
            </a:r>
            <a:r>
              <a:rPr spc="365" dirty="0">
                <a:latin typeface="Calibri"/>
                <a:cs typeface="Calibri"/>
              </a:rPr>
              <a:t> </a:t>
            </a:r>
            <a:r>
              <a:rPr spc="-10" dirty="0">
                <a:latin typeface="Calibri"/>
                <a:cs typeface="Calibri"/>
              </a:rPr>
              <a:t>open-</a:t>
            </a:r>
            <a:r>
              <a:rPr dirty="0">
                <a:latin typeface="Calibri"/>
                <a:cs typeface="Calibri"/>
              </a:rPr>
              <a:t>source</a:t>
            </a:r>
            <a:r>
              <a:rPr spc="390" dirty="0">
                <a:latin typeface="Calibri"/>
                <a:cs typeface="Calibri"/>
              </a:rPr>
              <a:t> </a:t>
            </a:r>
            <a:r>
              <a:rPr dirty="0">
                <a:latin typeface="Calibri"/>
                <a:cs typeface="Calibri"/>
              </a:rPr>
              <a:t>datasets</a:t>
            </a:r>
            <a:r>
              <a:rPr spc="365" dirty="0">
                <a:latin typeface="Calibri"/>
                <a:cs typeface="Calibri"/>
              </a:rPr>
              <a:t> </a:t>
            </a:r>
            <a:r>
              <a:rPr dirty="0">
                <a:latin typeface="Calibri"/>
                <a:cs typeface="Calibri"/>
              </a:rPr>
              <a:t>and</a:t>
            </a:r>
            <a:r>
              <a:rPr spc="360" dirty="0">
                <a:latin typeface="Calibri"/>
                <a:cs typeface="Calibri"/>
              </a:rPr>
              <a:t> </a:t>
            </a:r>
            <a:r>
              <a:rPr dirty="0">
                <a:latin typeface="Calibri"/>
                <a:cs typeface="Calibri"/>
              </a:rPr>
              <a:t>standard</a:t>
            </a:r>
            <a:r>
              <a:rPr spc="385" dirty="0">
                <a:latin typeface="Calibri"/>
                <a:cs typeface="Calibri"/>
              </a:rPr>
              <a:t> </a:t>
            </a:r>
            <a:r>
              <a:rPr dirty="0">
                <a:latin typeface="Calibri"/>
                <a:cs typeface="Calibri"/>
              </a:rPr>
              <a:t>preprocessing</a:t>
            </a:r>
            <a:r>
              <a:rPr spc="360" dirty="0">
                <a:latin typeface="Calibri"/>
                <a:cs typeface="Calibri"/>
              </a:rPr>
              <a:t> </a:t>
            </a:r>
            <a:r>
              <a:rPr dirty="0">
                <a:latin typeface="Calibri"/>
                <a:cs typeface="Calibri"/>
              </a:rPr>
              <a:t>techniques</a:t>
            </a:r>
            <a:r>
              <a:rPr spc="365" dirty="0">
                <a:latin typeface="Calibri"/>
                <a:cs typeface="Calibri"/>
              </a:rPr>
              <a:t> </a:t>
            </a:r>
            <a:r>
              <a:rPr dirty="0">
                <a:latin typeface="Calibri"/>
                <a:cs typeface="Calibri"/>
              </a:rPr>
              <a:t>like</a:t>
            </a:r>
            <a:r>
              <a:rPr spc="380" dirty="0">
                <a:latin typeface="Calibri"/>
                <a:cs typeface="Calibri"/>
              </a:rPr>
              <a:t> </a:t>
            </a:r>
            <a:r>
              <a:rPr spc="-10" dirty="0">
                <a:latin typeface="Calibri"/>
                <a:cs typeface="Calibri"/>
              </a:rPr>
              <a:t>resizing, </a:t>
            </a:r>
            <a:r>
              <a:rPr dirty="0">
                <a:latin typeface="Calibri"/>
                <a:cs typeface="Calibri"/>
              </a:rPr>
              <a:t>normalization,</a:t>
            </a:r>
            <a:r>
              <a:rPr spc="-20" dirty="0">
                <a:latin typeface="Calibri"/>
                <a:cs typeface="Calibri"/>
              </a:rPr>
              <a:t> </a:t>
            </a:r>
            <a:r>
              <a:rPr dirty="0">
                <a:latin typeface="Calibri"/>
                <a:cs typeface="Calibri"/>
              </a:rPr>
              <a:t>and</a:t>
            </a:r>
            <a:r>
              <a:rPr spc="-35" dirty="0">
                <a:latin typeface="Calibri"/>
                <a:cs typeface="Calibri"/>
              </a:rPr>
              <a:t> </a:t>
            </a:r>
            <a:r>
              <a:rPr dirty="0">
                <a:latin typeface="Calibri"/>
                <a:cs typeface="Calibri"/>
              </a:rPr>
              <a:t>augmentation.</a:t>
            </a:r>
            <a:r>
              <a:rPr spc="-20" dirty="0">
                <a:latin typeface="Calibri"/>
                <a:cs typeface="Calibri"/>
              </a:rPr>
              <a:t> </a:t>
            </a:r>
            <a:r>
              <a:rPr dirty="0">
                <a:latin typeface="Calibri"/>
                <a:cs typeface="Calibri"/>
              </a:rPr>
              <a:t>The</a:t>
            </a:r>
            <a:r>
              <a:rPr spc="-30" dirty="0">
                <a:latin typeface="Calibri"/>
                <a:cs typeface="Calibri"/>
              </a:rPr>
              <a:t> </a:t>
            </a:r>
            <a:r>
              <a:rPr spc="-10" dirty="0">
                <a:latin typeface="Calibri"/>
                <a:cs typeface="Calibri"/>
              </a:rPr>
              <a:t>performance</a:t>
            </a:r>
            <a:r>
              <a:rPr spc="-25" dirty="0">
                <a:latin typeface="Calibri"/>
                <a:cs typeface="Calibri"/>
              </a:rPr>
              <a:t> </a:t>
            </a:r>
            <a:r>
              <a:rPr dirty="0">
                <a:latin typeface="Calibri"/>
                <a:cs typeface="Calibri"/>
              </a:rPr>
              <a:t>of</a:t>
            </a:r>
            <a:r>
              <a:rPr spc="-45" dirty="0">
                <a:latin typeface="Calibri"/>
                <a:cs typeface="Calibri"/>
              </a:rPr>
              <a:t> </a:t>
            </a:r>
            <a:r>
              <a:rPr dirty="0">
                <a:latin typeface="Calibri"/>
                <a:cs typeface="Calibri"/>
              </a:rPr>
              <a:t>RareNet</a:t>
            </a:r>
            <a:r>
              <a:rPr spc="-25" dirty="0">
                <a:latin typeface="Calibri"/>
                <a:cs typeface="Calibri"/>
              </a:rPr>
              <a:t> </a:t>
            </a:r>
            <a:r>
              <a:rPr dirty="0">
                <a:latin typeface="Calibri"/>
                <a:cs typeface="Calibri"/>
              </a:rPr>
              <a:t>will</a:t>
            </a:r>
            <a:r>
              <a:rPr spc="-30" dirty="0">
                <a:latin typeface="Calibri"/>
                <a:cs typeface="Calibri"/>
              </a:rPr>
              <a:t> </a:t>
            </a:r>
            <a:r>
              <a:rPr dirty="0">
                <a:latin typeface="Calibri"/>
                <a:cs typeface="Calibri"/>
              </a:rPr>
              <a:t>be</a:t>
            </a:r>
            <a:r>
              <a:rPr spc="-25" dirty="0">
                <a:latin typeface="Calibri"/>
                <a:cs typeface="Calibri"/>
              </a:rPr>
              <a:t> </a:t>
            </a:r>
            <a:r>
              <a:rPr dirty="0">
                <a:latin typeface="Calibri"/>
                <a:cs typeface="Calibri"/>
              </a:rPr>
              <a:t>compared</a:t>
            </a:r>
            <a:r>
              <a:rPr spc="-35" dirty="0">
                <a:latin typeface="Calibri"/>
                <a:cs typeface="Calibri"/>
              </a:rPr>
              <a:t> </a:t>
            </a:r>
            <a:r>
              <a:rPr dirty="0">
                <a:latin typeface="Calibri"/>
                <a:cs typeface="Calibri"/>
              </a:rPr>
              <a:t>with</a:t>
            </a:r>
            <a:r>
              <a:rPr spc="-30" dirty="0">
                <a:latin typeface="Calibri"/>
                <a:cs typeface="Calibri"/>
              </a:rPr>
              <a:t> </a:t>
            </a:r>
            <a:r>
              <a:rPr spc="-10" dirty="0">
                <a:latin typeface="Calibri"/>
                <a:cs typeface="Calibri"/>
              </a:rPr>
              <a:t>well-</a:t>
            </a:r>
            <a:r>
              <a:rPr dirty="0">
                <a:latin typeface="Calibri"/>
                <a:cs typeface="Calibri"/>
              </a:rPr>
              <a:t>known</a:t>
            </a:r>
            <a:r>
              <a:rPr spc="-30" dirty="0">
                <a:latin typeface="Calibri"/>
                <a:cs typeface="Calibri"/>
              </a:rPr>
              <a:t> </a:t>
            </a:r>
            <a:r>
              <a:rPr dirty="0">
                <a:latin typeface="Calibri"/>
                <a:cs typeface="Calibri"/>
              </a:rPr>
              <a:t>models</a:t>
            </a:r>
            <a:r>
              <a:rPr spc="-30" dirty="0">
                <a:latin typeface="Calibri"/>
                <a:cs typeface="Calibri"/>
              </a:rPr>
              <a:t> </a:t>
            </a:r>
            <a:r>
              <a:rPr dirty="0">
                <a:latin typeface="Calibri"/>
                <a:cs typeface="Calibri"/>
              </a:rPr>
              <a:t>such</a:t>
            </a:r>
            <a:r>
              <a:rPr spc="-30" dirty="0">
                <a:latin typeface="Calibri"/>
                <a:cs typeface="Calibri"/>
              </a:rPr>
              <a:t> </a:t>
            </a:r>
            <a:r>
              <a:rPr spc="-25" dirty="0">
                <a:latin typeface="Calibri"/>
                <a:cs typeface="Calibri"/>
              </a:rPr>
              <a:t>as </a:t>
            </a:r>
            <a:r>
              <a:rPr dirty="0">
                <a:latin typeface="Calibri"/>
                <a:cs typeface="Calibri"/>
              </a:rPr>
              <a:t>VGG16</a:t>
            </a:r>
            <a:r>
              <a:rPr spc="-55" dirty="0">
                <a:latin typeface="Calibri"/>
                <a:cs typeface="Calibri"/>
              </a:rPr>
              <a:t> </a:t>
            </a:r>
            <a:r>
              <a:rPr dirty="0">
                <a:latin typeface="Calibri"/>
                <a:cs typeface="Calibri"/>
              </a:rPr>
              <a:t>and</a:t>
            </a:r>
            <a:r>
              <a:rPr spc="-55" dirty="0">
                <a:latin typeface="Calibri"/>
                <a:cs typeface="Calibri"/>
              </a:rPr>
              <a:t> </a:t>
            </a:r>
            <a:r>
              <a:rPr dirty="0">
                <a:latin typeface="Calibri"/>
                <a:cs typeface="Calibri"/>
              </a:rPr>
              <a:t>ResNet50</a:t>
            </a:r>
            <a:r>
              <a:rPr spc="-50" dirty="0">
                <a:latin typeface="Calibri"/>
                <a:cs typeface="Calibri"/>
              </a:rPr>
              <a:t> </a:t>
            </a:r>
            <a:r>
              <a:rPr dirty="0">
                <a:latin typeface="Calibri"/>
                <a:cs typeface="Calibri"/>
              </a:rPr>
              <a:t>using</a:t>
            </a:r>
            <a:r>
              <a:rPr spc="-60" dirty="0">
                <a:latin typeface="Calibri"/>
                <a:cs typeface="Calibri"/>
              </a:rPr>
              <a:t> </a:t>
            </a:r>
            <a:r>
              <a:rPr dirty="0">
                <a:latin typeface="Calibri"/>
                <a:cs typeface="Calibri"/>
              </a:rPr>
              <a:t>evaluation</a:t>
            </a:r>
            <a:r>
              <a:rPr spc="-60" dirty="0">
                <a:latin typeface="Calibri"/>
                <a:cs typeface="Calibri"/>
              </a:rPr>
              <a:t> </a:t>
            </a:r>
            <a:r>
              <a:rPr dirty="0">
                <a:latin typeface="Calibri"/>
                <a:cs typeface="Calibri"/>
              </a:rPr>
              <a:t>metrics</a:t>
            </a:r>
            <a:r>
              <a:rPr spc="-60" dirty="0">
                <a:latin typeface="Calibri"/>
                <a:cs typeface="Calibri"/>
              </a:rPr>
              <a:t> </a:t>
            </a:r>
            <a:r>
              <a:rPr dirty="0">
                <a:latin typeface="Calibri"/>
                <a:cs typeface="Calibri"/>
              </a:rPr>
              <a:t>including</a:t>
            </a:r>
            <a:r>
              <a:rPr spc="-60" dirty="0">
                <a:latin typeface="Calibri"/>
                <a:cs typeface="Calibri"/>
              </a:rPr>
              <a:t> </a:t>
            </a:r>
            <a:r>
              <a:rPr dirty="0">
                <a:latin typeface="Calibri"/>
                <a:cs typeface="Calibri"/>
              </a:rPr>
              <a:t>accuracy,</a:t>
            </a:r>
            <a:r>
              <a:rPr spc="-45" dirty="0">
                <a:latin typeface="Calibri"/>
                <a:cs typeface="Calibri"/>
              </a:rPr>
              <a:t> </a:t>
            </a:r>
            <a:r>
              <a:rPr dirty="0">
                <a:latin typeface="Calibri"/>
                <a:cs typeface="Calibri"/>
              </a:rPr>
              <a:t>precision,</a:t>
            </a:r>
            <a:r>
              <a:rPr spc="-50" dirty="0">
                <a:latin typeface="Calibri"/>
                <a:cs typeface="Calibri"/>
              </a:rPr>
              <a:t> </a:t>
            </a:r>
            <a:r>
              <a:rPr dirty="0">
                <a:latin typeface="Calibri"/>
                <a:cs typeface="Calibri"/>
              </a:rPr>
              <a:t>recall,</a:t>
            </a:r>
            <a:r>
              <a:rPr spc="-50" dirty="0">
                <a:latin typeface="Calibri"/>
                <a:cs typeface="Calibri"/>
              </a:rPr>
              <a:t> </a:t>
            </a:r>
            <a:r>
              <a:rPr dirty="0">
                <a:latin typeface="Calibri"/>
                <a:cs typeface="Calibri"/>
              </a:rPr>
              <a:t>and</a:t>
            </a:r>
            <a:r>
              <a:rPr spc="-60" dirty="0">
                <a:latin typeface="Calibri"/>
                <a:cs typeface="Calibri"/>
              </a:rPr>
              <a:t> </a:t>
            </a:r>
            <a:r>
              <a:rPr dirty="0">
                <a:latin typeface="Calibri"/>
                <a:cs typeface="Calibri"/>
              </a:rPr>
              <a:t>F1-</a:t>
            </a:r>
            <a:r>
              <a:rPr spc="-10" dirty="0">
                <a:latin typeface="Calibri"/>
                <a:cs typeface="Calibri"/>
              </a:rPr>
              <a:t>score.</a:t>
            </a:r>
            <a:endParaRPr lang="en-US" spc="-10" dirty="0">
              <a:latin typeface="Calibri"/>
              <a:cs typeface="Calibri"/>
            </a:endParaRPr>
          </a:p>
          <a:p>
            <a:pPr marL="12700" marR="5080" algn="just">
              <a:lnSpc>
                <a:spcPct val="168400"/>
              </a:lnSpc>
              <a:spcBef>
                <a:spcPts val="10"/>
              </a:spcBef>
            </a:pPr>
            <a:endParaRPr lang="en-IN" spc="-10" dirty="0">
              <a:latin typeface="Calibri"/>
              <a:cs typeface="Calibri"/>
            </a:endParaRPr>
          </a:p>
          <a:p>
            <a:pPr marL="12700" marR="5080" algn="just">
              <a:lnSpc>
                <a:spcPct val="168400"/>
              </a:lnSpc>
              <a:spcBef>
                <a:spcPts val="10"/>
              </a:spcBef>
            </a:pPr>
            <a:endParaRPr lang="en-IN" spc="-1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C3D52-BEEE-8868-1A94-B86BFA5A096C}"/>
              </a:ext>
            </a:extLst>
          </p:cNvPr>
          <p:cNvSpPr>
            <a:spLocks noGrp="1"/>
          </p:cNvSpPr>
          <p:nvPr>
            <p:ph type="title"/>
          </p:nvPr>
        </p:nvSpPr>
        <p:spPr/>
        <p:txBody>
          <a:bodyPr/>
          <a:lstStyle/>
          <a:p>
            <a:r>
              <a:rPr lang="en-IN" dirty="0">
                <a:latin typeface="+mn-lt"/>
              </a:rPr>
              <a:t>Applications</a:t>
            </a:r>
          </a:p>
        </p:txBody>
      </p:sp>
      <p:sp>
        <p:nvSpPr>
          <p:cNvPr id="4" name="Rectangle 1">
            <a:extLst>
              <a:ext uri="{FF2B5EF4-FFF2-40B4-BE49-F238E27FC236}">
                <a16:creationId xmlns:a16="http://schemas.microsoft.com/office/drawing/2014/main" id="{92E8DC91-BBB0-E0BA-BAD6-CA56D2133390}"/>
              </a:ext>
            </a:extLst>
          </p:cNvPr>
          <p:cNvSpPr>
            <a:spLocks noGrp="1" noChangeArrowheads="1"/>
          </p:cNvSpPr>
          <p:nvPr>
            <p:ph idx="1"/>
          </p:nvPr>
        </p:nvSpPr>
        <p:spPr bwMode="auto">
          <a:xfrm>
            <a:off x="838200" y="661455"/>
            <a:ext cx="665477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endParaRPr lang="en-US" altLang="en-US" sz="1800" dirty="0"/>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Assists doctors in early detection of brain tumors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rPr>
              <a:t> </a:t>
            </a:r>
          </a:p>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Supports accurate diagnosis using MRI image analysis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rPr>
              <a:t> </a:t>
            </a:r>
          </a:p>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Useful in hospitals and diagnostic centers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Helps in detecting rare and complex tumor cases</a:t>
            </a:r>
            <a:endParaRPr lang="en-US" altLang="en-US" sz="1800" dirty="0"/>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Can be integrated into telemedicine systems for remote diagnosis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i="0" u="none" strike="noStrike" cap="none" normalizeH="0" baseline="0" dirty="0">
                <a:ln>
                  <a:noFill/>
                </a:ln>
                <a:solidFill>
                  <a:schemeClr val="tx1"/>
                </a:solidFill>
                <a:effectLst/>
              </a:rPr>
              <a:t> </a:t>
            </a:r>
          </a:p>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Reduces manual effort and speeds up decision-making</a:t>
            </a:r>
            <a:endParaRPr lang="en-US" altLang="en-US" sz="1800" dirty="0"/>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rPr>
              <a:t>Can be extended to detect other diseases using medical im</a:t>
            </a:r>
            <a:r>
              <a:rPr lang="en-US" altLang="en-US" sz="1800" dirty="0"/>
              <a:t>aging</a:t>
            </a:r>
            <a:endParaRPr kumimoji="0" lang="en-US" altLang="en-US" sz="180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653416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1009" y="1193990"/>
            <a:ext cx="8237855" cy="689291"/>
          </a:xfrm>
          <a:prstGeom prst="rect">
            <a:avLst/>
          </a:prstGeom>
        </p:spPr>
        <p:txBody>
          <a:bodyPr vert="horz" wrap="square" lIns="0" tIns="12065" rIns="0" bIns="0" rtlCol="0">
            <a:spAutoFit/>
          </a:bodyPr>
          <a:lstStyle/>
          <a:p>
            <a:pPr marL="12700">
              <a:lnSpc>
                <a:spcPct val="100000"/>
              </a:lnSpc>
              <a:spcBef>
                <a:spcPts val="95"/>
              </a:spcBef>
              <a:tabLst>
                <a:tab pos="8097520" algn="l"/>
              </a:tabLst>
            </a:pPr>
            <a:r>
              <a:rPr spc="-20" dirty="0"/>
              <a:t>Literature</a:t>
            </a:r>
            <a:r>
              <a:rPr spc="-140" dirty="0"/>
              <a:t> </a:t>
            </a:r>
            <a:r>
              <a:rPr lang="en-IN" spc="-10" dirty="0"/>
              <a:t>Review</a:t>
            </a:r>
            <a:endParaRPr spc="-50" dirty="0"/>
          </a:p>
        </p:txBody>
      </p:sp>
      <p:graphicFrame>
        <p:nvGraphicFramePr>
          <p:cNvPr id="3" name="object 3"/>
          <p:cNvGraphicFramePr>
            <a:graphicFrameLocks noGrp="1"/>
          </p:cNvGraphicFramePr>
          <p:nvPr/>
        </p:nvGraphicFramePr>
        <p:xfrm>
          <a:off x="899464" y="2607259"/>
          <a:ext cx="10649583" cy="3188335"/>
        </p:xfrm>
        <a:graphic>
          <a:graphicData uri="http://schemas.openxmlformats.org/drawingml/2006/table">
            <a:tbl>
              <a:tblPr firstRow="1" bandRow="1">
                <a:tableStyleId>{2D5ABB26-0587-4C30-8999-92F81FD0307C}</a:tableStyleId>
              </a:tblPr>
              <a:tblGrid>
                <a:gridCol w="452755">
                  <a:extLst>
                    <a:ext uri="{9D8B030D-6E8A-4147-A177-3AD203B41FA5}">
                      <a16:colId xmlns:a16="http://schemas.microsoft.com/office/drawing/2014/main" val="20000"/>
                    </a:ext>
                  </a:extLst>
                </a:gridCol>
                <a:gridCol w="2251710">
                  <a:extLst>
                    <a:ext uri="{9D8B030D-6E8A-4147-A177-3AD203B41FA5}">
                      <a16:colId xmlns:a16="http://schemas.microsoft.com/office/drawing/2014/main" val="20001"/>
                    </a:ext>
                  </a:extLst>
                </a:gridCol>
                <a:gridCol w="671194">
                  <a:extLst>
                    <a:ext uri="{9D8B030D-6E8A-4147-A177-3AD203B41FA5}">
                      <a16:colId xmlns:a16="http://schemas.microsoft.com/office/drawing/2014/main" val="20002"/>
                    </a:ext>
                  </a:extLst>
                </a:gridCol>
                <a:gridCol w="2079625">
                  <a:extLst>
                    <a:ext uri="{9D8B030D-6E8A-4147-A177-3AD203B41FA5}">
                      <a16:colId xmlns:a16="http://schemas.microsoft.com/office/drawing/2014/main" val="20003"/>
                    </a:ext>
                  </a:extLst>
                </a:gridCol>
                <a:gridCol w="2696210">
                  <a:extLst>
                    <a:ext uri="{9D8B030D-6E8A-4147-A177-3AD203B41FA5}">
                      <a16:colId xmlns:a16="http://schemas.microsoft.com/office/drawing/2014/main" val="20004"/>
                    </a:ext>
                  </a:extLst>
                </a:gridCol>
                <a:gridCol w="2498089">
                  <a:extLst>
                    <a:ext uri="{9D8B030D-6E8A-4147-A177-3AD203B41FA5}">
                      <a16:colId xmlns:a16="http://schemas.microsoft.com/office/drawing/2014/main" val="20005"/>
                    </a:ext>
                  </a:extLst>
                </a:gridCol>
              </a:tblGrid>
              <a:tr h="633730">
                <a:tc>
                  <a:txBody>
                    <a:bodyPr/>
                    <a:lstStyle/>
                    <a:p>
                      <a:pPr marL="91440">
                        <a:lnSpc>
                          <a:spcPct val="100000"/>
                        </a:lnSpc>
                        <a:spcBef>
                          <a:spcPts val="240"/>
                        </a:spcBef>
                      </a:pPr>
                      <a:r>
                        <a:rPr sz="1800" b="1" spc="-25" dirty="0">
                          <a:solidFill>
                            <a:srgbClr val="FFFFFF"/>
                          </a:solidFill>
                          <a:latin typeface="Calibri"/>
                          <a:cs typeface="Calibri"/>
                        </a:rPr>
                        <a:t>Sr.</a:t>
                      </a:r>
                      <a:endParaRPr sz="1800">
                        <a:latin typeface="Calibri"/>
                        <a:cs typeface="Calibri"/>
                      </a:endParaRPr>
                    </a:p>
                    <a:p>
                      <a:pPr marL="91440">
                        <a:lnSpc>
                          <a:spcPct val="100000"/>
                        </a:lnSpc>
                        <a:spcBef>
                          <a:spcPts val="25"/>
                        </a:spcBef>
                      </a:pPr>
                      <a:r>
                        <a:rPr sz="1800" b="1" spc="-25" dirty="0">
                          <a:solidFill>
                            <a:srgbClr val="FFFFFF"/>
                          </a:solidFill>
                          <a:latin typeface="Calibri"/>
                          <a:cs typeface="Calibri"/>
                        </a:rPr>
                        <a:t>No.</a:t>
                      </a:r>
                      <a:endParaRPr sz="1800">
                        <a:latin typeface="Calibri"/>
                        <a:cs typeface="Calibri"/>
                      </a:endParaRPr>
                    </a:p>
                  </a:txBody>
                  <a:tcPr marL="0" marR="0" marT="30480" marB="0">
                    <a:lnR w="19050">
                      <a:solidFill>
                        <a:srgbClr val="FFFFFF"/>
                      </a:solidFill>
                      <a:prstDash val="solid"/>
                    </a:lnR>
                    <a:lnB w="38100">
                      <a:solidFill>
                        <a:srgbClr val="FFFFFF"/>
                      </a:solidFill>
                      <a:prstDash val="solid"/>
                    </a:lnB>
                    <a:solidFill>
                      <a:srgbClr val="4F81BB"/>
                    </a:solidFill>
                  </a:tcPr>
                </a:tc>
                <a:tc>
                  <a:txBody>
                    <a:bodyPr/>
                    <a:lstStyle/>
                    <a:p>
                      <a:pPr marL="98425">
                        <a:lnSpc>
                          <a:spcPct val="100000"/>
                        </a:lnSpc>
                        <a:spcBef>
                          <a:spcPts val="190"/>
                        </a:spcBef>
                      </a:pPr>
                      <a:r>
                        <a:rPr sz="1800" b="1" spc="-10" dirty="0">
                          <a:solidFill>
                            <a:srgbClr val="FFFFFF"/>
                          </a:solidFill>
                          <a:latin typeface="Calibri"/>
                          <a:cs typeface="Calibri"/>
                        </a:rPr>
                        <a:t>Title</a:t>
                      </a:r>
                      <a:endParaRPr sz="1800">
                        <a:latin typeface="Calibri"/>
                        <a:cs typeface="Calibri"/>
                      </a:endParaRPr>
                    </a:p>
                  </a:txBody>
                  <a:tcPr marL="0" marR="0" marT="24130" marB="0">
                    <a:lnL w="19050">
                      <a:solidFill>
                        <a:srgbClr val="FFFFFF"/>
                      </a:solidFill>
                      <a:prstDash val="solid"/>
                    </a:lnL>
                    <a:lnR w="12700">
                      <a:solidFill>
                        <a:srgbClr val="FFFFFF"/>
                      </a:solidFill>
                      <a:prstDash val="solid"/>
                    </a:lnR>
                    <a:lnB w="38100">
                      <a:solidFill>
                        <a:srgbClr val="FFFFFF"/>
                      </a:solidFill>
                      <a:prstDash val="solid"/>
                    </a:lnB>
                    <a:solidFill>
                      <a:srgbClr val="4F81BB"/>
                    </a:solidFill>
                  </a:tcPr>
                </a:tc>
                <a:tc>
                  <a:txBody>
                    <a:bodyPr/>
                    <a:lstStyle/>
                    <a:p>
                      <a:pPr marL="97155">
                        <a:lnSpc>
                          <a:spcPct val="100000"/>
                        </a:lnSpc>
                        <a:spcBef>
                          <a:spcPts val="190"/>
                        </a:spcBef>
                      </a:pPr>
                      <a:r>
                        <a:rPr sz="1800" b="1" spc="-20" dirty="0">
                          <a:solidFill>
                            <a:srgbClr val="FFFFFF"/>
                          </a:solidFill>
                          <a:latin typeface="Calibri"/>
                          <a:cs typeface="Calibri"/>
                        </a:rPr>
                        <a:t>Year</a:t>
                      </a:r>
                      <a:endParaRPr sz="1800">
                        <a:latin typeface="Calibri"/>
                        <a:cs typeface="Calibri"/>
                      </a:endParaRPr>
                    </a:p>
                  </a:txBody>
                  <a:tcPr marL="0" marR="0" marT="24130" marB="0">
                    <a:lnL w="12700">
                      <a:solidFill>
                        <a:srgbClr val="FFFFFF"/>
                      </a:solidFill>
                      <a:prstDash val="solid"/>
                    </a:lnL>
                    <a:lnR w="12700">
                      <a:solidFill>
                        <a:srgbClr val="FFFFFF"/>
                      </a:solidFill>
                      <a:prstDash val="solid"/>
                    </a:lnR>
                    <a:lnB w="38100">
                      <a:solidFill>
                        <a:srgbClr val="FFFFFF"/>
                      </a:solidFill>
                      <a:prstDash val="solid"/>
                    </a:lnB>
                    <a:solidFill>
                      <a:srgbClr val="4F81BB"/>
                    </a:solidFill>
                  </a:tcPr>
                </a:tc>
                <a:tc>
                  <a:txBody>
                    <a:bodyPr/>
                    <a:lstStyle/>
                    <a:p>
                      <a:pPr marL="97155">
                        <a:lnSpc>
                          <a:spcPct val="100000"/>
                        </a:lnSpc>
                        <a:spcBef>
                          <a:spcPts val="190"/>
                        </a:spcBef>
                      </a:pPr>
                      <a:r>
                        <a:rPr sz="1800" b="1" spc="-10" dirty="0">
                          <a:solidFill>
                            <a:srgbClr val="FFFFFF"/>
                          </a:solidFill>
                          <a:latin typeface="Calibri"/>
                          <a:cs typeface="Calibri"/>
                        </a:rPr>
                        <a:t>Author</a:t>
                      </a:r>
                      <a:endParaRPr sz="1800">
                        <a:latin typeface="Calibri"/>
                        <a:cs typeface="Calibri"/>
                      </a:endParaRPr>
                    </a:p>
                  </a:txBody>
                  <a:tcPr marL="0" marR="0" marT="24130" marB="0">
                    <a:lnL w="12700">
                      <a:solidFill>
                        <a:srgbClr val="FFFFFF"/>
                      </a:solidFill>
                      <a:prstDash val="solid"/>
                    </a:lnL>
                    <a:lnR w="12700">
                      <a:solidFill>
                        <a:srgbClr val="FFFFFF"/>
                      </a:solidFill>
                      <a:prstDash val="solid"/>
                    </a:lnR>
                    <a:lnB w="38100">
                      <a:solidFill>
                        <a:srgbClr val="FFFFFF"/>
                      </a:solidFill>
                      <a:prstDash val="solid"/>
                    </a:lnB>
                    <a:solidFill>
                      <a:srgbClr val="4F81BB"/>
                    </a:solidFill>
                  </a:tcPr>
                </a:tc>
                <a:tc>
                  <a:txBody>
                    <a:bodyPr/>
                    <a:lstStyle/>
                    <a:p>
                      <a:pPr marL="97790">
                        <a:lnSpc>
                          <a:spcPct val="100000"/>
                        </a:lnSpc>
                        <a:spcBef>
                          <a:spcPts val="190"/>
                        </a:spcBef>
                      </a:pPr>
                      <a:r>
                        <a:rPr sz="1800" b="1" spc="-10" dirty="0">
                          <a:solidFill>
                            <a:srgbClr val="FFFFFF"/>
                          </a:solidFill>
                          <a:latin typeface="Calibri"/>
                          <a:cs typeface="Calibri"/>
                        </a:rPr>
                        <a:t>Remark</a:t>
                      </a:r>
                      <a:endParaRPr sz="1800">
                        <a:latin typeface="Calibri"/>
                        <a:cs typeface="Calibri"/>
                      </a:endParaRPr>
                    </a:p>
                  </a:txBody>
                  <a:tcPr marL="0" marR="0" marT="24130" marB="0">
                    <a:lnL w="12700">
                      <a:solidFill>
                        <a:srgbClr val="FFFFFF"/>
                      </a:solidFill>
                      <a:prstDash val="solid"/>
                    </a:lnL>
                    <a:lnR w="12700">
                      <a:solidFill>
                        <a:srgbClr val="FFFFFF"/>
                      </a:solidFill>
                      <a:prstDash val="solid"/>
                    </a:lnR>
                    <a:lnB w="38100">
                      <a:solidFill>
                        <a:srgbClr val="FFFFFF"/>
                      </a:solidFill>
                      <a:prstDash val="solid"/>
                    </a:lnB>
                    <a:solidFill>
                      <a:srgbClr val="4F81BB"/>
                    </a:solidFill>
                  </a:tcPr>
                </a:tc>
                <a:tc>
                  <a:txBody>
                    <a:bodyPr/>
                    <a:lstStyle/>
                    <a:p>
                      <a:pPr marL="100330">
                        <a:lnSpc>
                          <a:spcPct val="100000"/>
                        </a:lnSpc>
                        <a:spcBef>
                          <a:spcPts val="190"/>
                        </a:spcBef>
                      </a:pPr>
                      <a:r>
                        <a:rPr sz="1800" b="1" dirty="0">
                          <a:solidFill>
                            <a:srgbClr val="FFFFFF"/>
                          </a:solidFill>
                          <a:latin typeface="Calibri"/>
                          <a:cs typeface="Calibri"/>
                        </a:rPr>
                        <a:t>Gap</a:t>
                      </a:r>
                      <a:r>
                        <a:rPr sz="1800" b="1" spc="-5" dirty="0">
                          <a:solidFill>
                            <a:srgbClr val="FFFFFF"/>
                          </a:solidFill>
                          <a:latin typeface="Calibri"/>
                          <a:cs typeface="Calibri"/>
                        </a:rPr>
                        <a:t> </a:t>
                      </a:r>
                      <a:r>
                        <a:rPr sz="1800" b="1" spc="-10" dirty="0">
                          <a:solidFill>
                            <a:srgbClr val="FFFFFF"/>
                          </a:solidFill>
                          <a:latin typeface="Calibri"/>
                          <a:cs typeface="Calibri"/>
                        </a:rPr>
                        <a:t>Analysis</a:t>
                      </a:r>
                      <a:endParaRPr sz="1800">
                        <a:latin typeface="Calibri"/>
                        <a:cs typeface="Calibri"/>
                      </a:endParaRPr>
                    </a:p>
                  </a:txBody>
                  <a:tcPr marL="0" marR="0" marT="24130" marB="0">
                    <a:lnL w="12700">
                      <a:solidFill>
                        <a:srgbClr val="FFFFFF"/>
                      </a:solidFill>
                      <a:prstDash val="solid"/>
                    </a:lnL>
                    <a:lnB w="38100">
                      <a:solidFill>
                        <a:srgbClr val="FFFFFF"/>
                      </a:solidFill>
                      <a:prstDash val="solid"/>
                    </a:lnB>
                    <a:solidFill>
                      <a:srgbClr val="4F81BB"/>
                    </a:solidFill>
                  </a:tcPr>
                </a:tc>
                <a:extLst>
                  <a:ext uri="{0D108BD9-81ED-4DB2-BD59-A6C34878D82A}">
                    <a16:rowId xmlns:a16="http://schemas.microsoft.com/office/drawing/2014/main" val="10000"/>
                  </a:ext>
                </a:extLst>
              </a:tr>
              <a:tr h="1341120">
                <a:tc>
                  <a:txBody>
                    <a:bodyPr/>
                    <a:lstStyle/>
                    <a:p>
                      <a:pPr marL="91440">
                        <a:lnSpc>
                          <a:spcPct val="100000"/>
                        </a:lnSpc>
                        <a:spcBef>
                          <a:spcPts val="240"/>
                        </a:spcBef>
                      </a:pPr>
                      <a:r>
                        <a:rPr sz="1800" spc="-50" dirty="0">
                          <a:latin typeface="Calibri"/>
                          <a:cs typeface="Calibri"/>
                        </a:rPr>
                        <a:t>1</a:t>
                      </a:r>
                      <a:endParaRPr sz="1800">
                        <a:latin typeface="Calibri"/>
                        <a:cs typeface="Calibri"/>
                      </a:endParaRPr>
                    </a:p>
                  </a:txBody>
                  <a:tcPr marL="0" marR="0" marT="30480" marB="0">
                    <a:lnR w="1905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6985" marR="105410">
                        <a:lnSpc>
                          <a:spcPct val="96200"/>
                        </a:lnSpc>
                        <a:spcBef>
                          <a:spcPts val="55"/>
                        </a:spcBef>
                      </a:pPr>
                      <a:r>
                        <a:rPr sz="1800" dirty="0">
                          <a:latin typeface="Times New Roman"/>
                          <a:cs typeface="Times New Roman"/>
                        </a:rPr>
                        <a:t>Brain</a:t>
                      </a:r>
                      <a:r>
                        <a:rPr sz="1800" spc="-30" dirty="0">
                          <a:latin typeface="Times New Roman"/>
                          <a:cs typeface="Times New Roman"/>
                        </a:rPr>
                        <a:t> </a:t>
                      </a:r>
                      <a:r>
                        <a:rPr sz="1800" dirty="0">
                          <a:latin typeface="Times New Roman"/>
                          <a:cs typeface="Times New Roman"/>
                        </a:rPr>
                        <a:t>Tumor</a:t>
                      </a:r>
                      <a:r>
                        <a:rPr sz="1800" spc="-40" dirty="0">
                          <a:latin typeface="Times New Roman"/>
                          <a:cs typeface="Times New Roman"/>
                        </a:rPr>
                        <a:t> </a:t>
                      </a:r>
                      <a:r>
                        <a:rPr sz="1800" spc="-10" dirty="0">
                          <a:latin typeface="Times New Roman"/>
                          <a:cs typeface="Times New Roman"/>
                        </a:rPr>
                        <a:t>Detection </a:t>
                      </a:r>
                      <a:r>
                        <a:rPr sz="1800" dirty="0">
                          <a:latin typeface="Times New Roman"/>
                          <a:cs typeface="Times New Roman"/>
                        </a:rPr>
                        <a:t>using</a:t>
                      </a:r>
                      <a:r>
                        <a:rPr sz="1800" spc="-30" dirty="0">
                          <a:latin typeface="Times New Roman"/>
                          <a:cs typeface="Times New Roman"/>
                        </a:rPr>
                        <a:t> </a:t>
                      </a:r>
                      <a:r>
                        <a:rPr sz="1800" dirty="0">
                          <a:latin typeface="Times New Roman"/>
                          <a:cs typeface="Times New Roman"/>
                        </a:rPr>
                        <a:t>Deep</a:t>
                      </a:r>
                      <a:r>
                        <a:rPr sz="1800" spc="-10" dirty="0">
                          <a:latin typeface="Times New Roman"/>
                          <a:cs typeface="Times New Roman"/>
                        </a:rPr>
                        <a:t> Neural Networks</a:t>
                      </a:r>
                      <a:endParaRPr sz="1800" dirty="0">
                        <a:latin typeface="Times New Roman"/>
                        <a:cs typeface="Times New Roman"/>
                      </a:endParaRPr>
                    </a:p>
                  </a:txBody>
                  <a:tcPr marL="0" marR="0" marT="6985" marB="0">
                    <a:lnL w="1905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5715">
                        <a:lnSpc>
                          <a:spcPts val="2135"/>
                        </a:lnSpc>
                      </a:pPr>
                      <a:r>
                        <a:rPr sz="1800" spc="-20" dirty="0">
                          <a:latin typeface="Times New Roman"/>
                          <a:cs typeface="Times New Roman"/>
                        </a:rPr>
                        <a:t>2021</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5715" marR="302895">
                        <a:lnSpc>
                          <a:spcPct val="95900"/>
                        </a:lnSpc>
                        <a:spcBef>
                          <a:spcPts val="65"/>
                        </a:spcBef>
                      </a:pPr>
                      <a:r>
                        <a:rPr sz="1800" dirty="0">
                          <a:latin typeface="Times New Roman"/>
                          <a:cs typeface="Times New Roman"/>
                        </a:rPr>
                        <a:t>Yakub</a:t>
                      </a:r>
                      <a:r>
                        <a:rPr sz="1800" spc="-35" dirty="0">
                          <a:latin typeface="Times New Roman"/>
                          <a:cs typeface="Times New Roman"/>
                        </a:rPr>
                        <a:t> </a:t>
                      </a:r>
                      <a:r>
                        <a:rPr sz="1800" spc="-10" dirty="0">
                          <a:latin typeface="Times New Roman"/>
                          <a:cs typeface="Times New Roman"/>
                        </a:rPr>
                        <a:t>Bhanothu, Anandhanarayanan </a:t>
                      </a:r>
                      <a:r>
                        <a:rPr sz="1800" dirty="0">
                          <a:latin typeface="Times New Roman"/>
                          <a:cs typeface="Times New Roman"/>
                        </a:rPr>
                        <a:t>Kamalakannan</a:t>
                      </a:r>
                      <a:r>
                        <a:rPr sz="1800" spc="-85" dirty="0">
                          <a:latin typeface="Times New Roman"/>
                          <a:cs typeface="Times New Roman"/>
                        </a:rPr>
                        <a:t> </a:t>
                      </a:r>
                      <a:r>
                        <a:rPr sz="1800" spc="-60" dirty="0">
                          <a:latin typeface="Times New Roman"/>
                          <a:cs typeface="Times New Roman"/>
                        </a:rPr>
                        <a:t>&amp; </a:t>
                      </a:r>
                      <a:r>
                        <a:rPr sz="1800" spc="-10" dirty="0">
                          <a:latin typeface="Times New Roman"/>
                          <a:cs typeface="Times New Roman"/>
                        </a:rPr>
                        <a:t>Govindaraj Rajamanickam</a:t>
                      </a:r>
                      <a:endParaRPr sz="1800">
                        <a:latin typeface="Times New Roman"/>
                        <a:cs typeface="Times New Roman"/>
                      </a:endParaRPr>
                    </a:p>
                  </a:txBody>
                  <a:tcPr marL="0" marR="0" marT="82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5715" marR="208279">
                        <a:lnSpc>
                          <a:spcPct val="96000"/>
                        </a:lnSpc>
                        <a:spcBef>
                          <a:spcPts val="60"/>
                        </a:spcBef>
                      </a:pPr>
                      <a:r>
                        <a:rPr sz="1800" dirty="0">
                          <a:latin typeface="Times New Roman"/>
                          <a:cs typeface="Times New Roman"/>
                        </a:rPr>
                        <a:t>Proposes</a:t>
                      </a:r>
                      <a:r>
                        <a:rPr sz="1800" spc="-20" dirty="0">
                          <a:latin typeface="Times New Roman"/>
                          <a:cs typeface="Times New Roman"/>
                        </a:rPr>
                        <a:t> </a:t>
                      </a:r>
                      <a:r>
                        <a:rPr sz="1800" dirty="0">
                          <a:latin typeface="Times New Roman"/>
                          <a:cs typeface="Times New Roman"/>
                        </a:rPr>
                        <a:t>a</a:t>
                      </a:r>
                      <a:r>
                        <a:rPr sz="1800" spc="-25" dirty="0">
                          <a:latin typeface="Times New Roman"/>
                          <a:cs typeface="Times New Roman"/>
                        </a:rPr>
                        <a:t> </a:t>
                      </a:r>
                      <a:r>
                        <a:rPr sz="1800" dirty="0">
                          <a:latin typeface="Times New Roman"/>
                          <a:cs typeface="Times New Roman"/>
                        </a:rPr>
                        <a:t>CNN</a:t>
                      </a:r>
                      <a:r>
                        <a:rPr sz="1800" spc="-20" dirty="0">
                          <a:latin typeface="Times New Roman"/>
                          <a:cs typeface="Times New Roman"/>
                        </a:rPr>
                        <a:t> </a:t>
                      </a:r>
                      <a:r>
                        <a:rPr sz="1800" dirty="0">
                          <a:latin typeface="Times New Roman"/>
                          <a:cs typeface="Times New Roman"/>
                        </a:rPr>
                        <a:t>model</a:t>
                      </a:r>
                      <a:r>
                        <a:rPr sz="1800" spc="-15" dirty="0">
                          <a:latin typeface="Times New Roman"/>
                          <a:cs typeface="Times New Roman"/>
                        </a:rPr>
                        <a:t> </a:t>
                      </a:r>
                      <a:r>
                        <a:rPr sz="1800" spc="-25" dirty="0">
                          <a:latin typeface="Times New Roman"/>
                          <a:cs typeface="Times New Roman"/>
                        </a:rPr>
                        <a:t>for </a:t>
                      </a:r>
                      <a:r>
                        <a:rPr sz="1800" dirty="0">
                          <a:latin typeface="Times New Roman"/>
                          <a:cs typeface="Times New Roman"/>
                        </a:rPr>
                        <a:t>MRI</a:t>
                      </a:r>
                      <a:r>
                        <a:rPr sz="1800" spc="-10" dirty="0">
                          <a:latin typeface="Times New Roman"/>
                          <a:cs typeface="Times New Roman"/>
                        </a:rPr>
                        <a:t> </a:t>
                      </a:r>
                      <a:r>
                        <a:rPr sz="1800" dirty="0">
                          <a:latin typeface="Times New Roman"/>
                          <a:cs typeface="Times New Roman"/>
                        </a:rPr>
                        <a:t>tumor</a:t>
                      </a:r>
                      <a:r>
                        <a:rPr sz="1800" spc="-5" dirty="0">
                          <a:latin typeface="Times New Roman"/>
                          <a:cs typeface="Times New Roman"/>
                        </a:rPr>
                        <a:t> </a:t>
                      </a:r>
                      <a:r>
                        <a:rPr sz="1800" spc="-10" dirty="0">
                          <a:latin typeface="Times New Roman"/>
                          <a:cs typeface="Times New Roman"/>
                        </a:rPr>
                        <a:t>classification </a:t>
                      </a:r>
                      <a:r>
                        <a:rPr sz="1800" dirty="0">
                          <a:latin typeface="Times New Roman"/>
                          <a:cs typeface="Times New Roman"/>
                        </a:rPr>
                        <a:t>achieving</a:t>
                      </a:r>
                      <a:r>
                        <a:rPr sz="1800" spc="-40" dirty="0">
                          <a:latin typeface="Times New Roman"/>
                          <a:cs typeface="Times New Roman"/>
                        </a:rPr>
                        <a:t> </a:t>
                      </a:r>
                      <a:r>
                        <a:rPr sz="1800" dirty="0">
                          <a:latin typeface="Times New Roman"/>
                          <a:cs typeface="Times New Roman"/>
                        </a:rPr>
                        <a:t>high</a:t>
                      </a:r>
                      <a:r>
                        <a:rPr sz="1800" spc="-20" dirty="0">
                          <a:latin typeface="Times New Roman"/>
                          <a:cs typeface="Times New Roman"/>
                        </a:rPr>
                        <a:t> </a:t>
                      </a:r>
                      <a:r>
                        <a:rPr sz="1800" spc="-10" dirty="0">
                          <a:latin typeface="Times New Roman"/>
                          <a:cs typeface="Times New Roman"/>
                        </a:rPr>
                        <a:t>accuracy </a:t>
                      </a:r>
                      <a:r>
                        <a:rPr sz="1800" dirty="0">
                          <a:latin typeface="Times New Roman"/>
                          <a:cs typeface="Times New Roman"/>
                        </a:rPr>
                        <a:t>using</a:t>
                      </a:r>
                      <a:r>
                        <a:rPr sz="1800" spc="-15" dirty="0">
                          <a:latin typeface="Times New Roman"/>
                          <a:cs typeface="Times New Roman"/>
                        </a:rPr>
                        <a:t> </a:t>
                      </a:r>
                      <a:r>
                        <a:rPr sz="1800" dirty="0">
                          <a:latin typeface="Times New Roman"/>
                          <a:cs typeface="Times New Roman"/>
                        </a:rPr>
                        <a:t>data</a:t>
                      </a:r>
                      <a:r>
                        <a:rPr sz="1800" spc="-5" dirty="0">
                          <a:latin typeface="Times New Roman"/>
                          <a:cs typeface="Times New Roman"/>
                        </a:rPr>
                        <a:t> </a:t>
                      </a:r>
                      <a:r>
                        <a:rPr sz="1800" spc="-10" dirty="0">
                          <a:latin typeface="Times New Roman"/>
                          <a:cs typeface="Times New Roman"/>
                        </a:rPr>
                        <a:t>augmentation.</a:t>
                      </a:r>
                      <a:endParaRPr sz="1800">
                        <a:latin typeface="Times New Roman"/>
                        <a:cs typeface="Times New Roman"/>
                      </a:endParaRPr>
                    </a:p>
                  </a:txBody>
                  <a:tcPr marL="0" marR="0" marT="76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6E8"/>
                    </a:solidFill>
                  </a:tcPr>
                </a:tc>
                <a:tc>
                  <a:txBody>
                    <a:bodyPr/>
                    <a:lstStyle/>
                    <a:p>
                      <a:pPr marL="5715" marR="139065">
                        <a:lnSpc>
                          <a:spcPct val="96000"/>
                        </a:lnSpc>
                        <a:spcBef>
                          <a:spcPts val="60"/>
                        </a:spcBef>
                      </a:pPr>
                      <a:r>
                        <a:rPr sz="1800" dirty="0">
                          <a:latin typeface="Times New Roman"/>
                          <a:cs typeface="Times New Roman"/>
                        </a:rPr>
                        <a:t>Uses</a:t>
                      </a:r>
                      <a:r>
                        <a:rPr sz="1800" spc="-10" dirty="0">
                          <a:latin typeface="Times New Roman"/>
                          <a:cs typeface="Times New Roman"/>
                        </a:rPr>
                        <a:t> </a:t>
                      </a:r>
                      <a:r>
                        <a:rPr sz="1800" dirty="0">
                          <a:latin typeface="Times New Roman"/>
                          <a:cs typeface="Times New Roman"/>
                        </a:rPr>
                        <a:t>only</a:t>
                      </a:r>
                      <a:r>
                        <a:rPr sz="1800" spc="-35" dirty="0">
                          <a:latin typeface="Times New Roman"/>
                          <a:cs typeface="Times New Roman"/>
                        </a:rPr>
                        <a:t> </a:t>
                      </a:r>
                      <a:r>
                        <a:rPr sz="1800" dirty="0">
                          <a:latin typeface="Times New Roman"/>
                          <a:cs typeface="Times New Roman"/>
                        </a:rPr>
                        <a:t>one</a:t>
                      </a:r>
                      <a:r>
                        <a:rPr sz="1800" spc="-15" dirty="0">
                          <a:latin typeface="Times New Roman"/>
                          <a:cs typeface="Times New Roman"/>
                        </a:rPr>
                        <a:t> </a:t>
                      </a:r>
                      <a:r>
                        <a:rPr sz="1800" dirty="0">
                          <a:latin typeface="Times New Roman"/>
                          <a:cs typeface="Times New Roman"/>
                        </a:rPr>
                        <a:t>model,</a:t>
                      </a:r>
                      <a:r>
                        <a:rPr sz="1800" spc="5" dirty="0">
                          <a:latin typeface="Times New Roman"/>
                          <a:cs typeface="Times New Roman"/>
                        </a:rPr>
                        <a:t> </a:t>
                      </a:r>
                      <a:r>
                        <a:rPr sz="1800" spc="-25" dirty="0">
                          <a:latin typeface="Times New Roman"/>
                          <a:cs typeface="Times New Roman"/>
                        </a:rPr>
                        <a:t>no </a:t>
                      </a:r>
                      <a:r>
                        <a:rPr sz="1800" dirty="0">
                          <a:latin typeface="Times New Roman"/>
                          <a:cs typeface="Times New Roman"/>
                        </a:rPr>
                        <a:t>comparison</a:t>
                      </a:r>
                      <a:r>
                        <a:rPr sz="1800" spc="-35" dirty="0">
                          <a:latin typeface="Times New Roman"/>
                          <a:cs typeface="Times New Roman"/>
                        </a:rPr>
                        <a:t> </a:t>
                      </a:r>
                      <a:r>
                        <a:rPr sz="1800" spc="-10" dirty="0">
                          <a:latin typeface="Times New Roman"/>
                          <a:cs typeface="Times New Roman"/>
                        </a:rPr>
                        <a:t>between </a:t>
                      </a:r>
                      <a:r>
                        <a:rPr sz="1800" dirty="0">
                          <a:latin typeface="Times New Roman"/>
                          <a:cs typeface="Times New Roman"/>
                        </a:rPr>
                        <a:t>architectures</a:t>
                      </a:r>
                      <a:r>
                        <a:rPr sz="1800" spc="-50" dirty="0">
                          <a:latin typeface="Times New Roman"/>
                          <a:cs typeface="Times New Roman"/>
                        </a:rPr>
                        <a:t> </a:t>
                      </a:r>
                      <a:r>
                        <a:rPr sz="1800" dirty="0">
                          <a:latin typeface="Times New Roman"/>
                          <a:cs typeface="Times New Roman"/>
                        </a:rPr>
                        <a:t>like</a:t>
                      </a:r>
                      <a:r>
                        <a:rPr sz="1800" spc="-50" dirty="0">
                          <a:latin typeface="Times New Roman"/>
                          <a:cs typeface="Times New Roman"/>
                        </a:rPr>
                        <a:t> </a:t>
                      </a:r>
                      <a:r>
                        <a:rPr sz="1800" spc="-10" dirty="0">
                          <a:latin typeface="Times New Roman"/>
                          <a:cs typeface="Times New Roman"/>
                        </a:rPr>
                        <a:t>VGG16 </a:t>
                      </a:r>
                      <a:r>
                        <a:rPr sz="1800" dirty="0">
                          <a:latin typeface="Times New Roman"/>
                          <a:cs typeface="Times New Roman"/>
                        </a:rPr>
                        <a:t>&amp;</a:t>
                      </a:r>
                      <a:r>
                        <a:rPr sz="1800" spc="-10" dirty="0">
                          <a:latin typeface="Times New Roman"/>
                          <a:cs typeface="Times New Roman"/>
                        </a:rPr>
                        <a:t> ResNet50.</a:t>
                      </a:r>
                      <a:endParaRPr sz="1800">
                        <a:latin typeface="Times New Roman"/>
                        <a:cs typeface="Times New Roman"/>
                      </a:endParaRPr>
                    </a:p>
                  </a:txBody>
                  <a:tcPr marL="0" marR="0" marT="7620" marB="0">
                    <a:lnL w="12700">
                      <a:solidFill>
                        <a:srgbClr val="FFFFFF"/>
                      </a:solidFill>
                      <a:prstDash val="solid"/>
                    </a:lnL>
                    <a:lnT w="38100">
                      <a:solidFill>
                        <a:srgbClr val="FFFFFF"/>
                      </a:solidFill>
                      <a:prstDash val="solid"/>
                    </a:lnT>
                    <a:lnB w="12700">
                      <a:solidFill>
                        <a:srgbClr val="FFFFFF"/>
                      </a:solidFill>
                      <a:prstDash val="solid"/>
                    </a:lnB>
                    <a:solidFill>
                      <a:srgbClr val="D0D6E8"/>
                    </a:solidFill>
                  </a:tcPr>
                </a:tc>
                <a:extLst>
                  <a:ext uri="{0D108BD9-81ED-4DB2-BD59-A6C34878D82A}">
                    <a16:rowId xmlns:a16="http://schemas.microsoft.com/office/drawing/2014/main" val="10001"/>
                  </a:ext>
                </a:extLst>
              </a:tr>
              <a:tr h="1213485">
                <a:tc>
                  <a:txBody>
                    <a:bodyPr/>
                    <a:lstStyle/>
                    <a:p>
                      <a:pPr marL="91440">
                        <a:lnSpc>
                          <a:spcPct val="100000"/>
                        </a:lnSpc>
                        <a:spcBef>
                          <a:spcPts val="240"/>
                        </a:spcBef>
                      </a:pPr>
                      <a:r>
                        <a:rPr sz="1800" spc="-50" dirty="0">
                          <a:latin typeface="Calibri"/>
                          <a:cs typeface="Calibri"/>
                        </a:rPr>
                        <a:t>2</a:t>
                      </a:r>
                      <a:endParaRPr sz="1800">
                        <a:latin typeface="Calibri"/>
                        <a:cs typeface="Calibri"/>
                      </a:endParaRPr>
                    </a:p>
                  </a:txBody>
                  <a:tcPr marL="0" marR="0" marT="30480" marB="0">
                    <a:lnR w="19050">
                      <a:solidFill>
                        <a:srgbClr val="FFFFFF"/>
                      </a:solidFill>
                      <a:prstDash val="solid"/>
                    </a:lnR>
                    <a:lnT w="12700">
                      <a:solidFill>
                        <a:srgbClr val="FFFFFF"/>
                      </a:solidFill>
                      <a:prstDash val="solid"/>
                    </a:lnT>
                    <a:solidFill>
                      <a:srgbClr val="E9EBF4"/>
                    </a:solidFill>
                  </a:tcPr>
                </a:tc>
                <a:tc>
                  <a:txBody>
                    <a:bodyPr/>
                    <a:lstStyle/>
                    <a:p>
                      <a:pPr marL="6985">
                        <a:lnSpc>
                          <a:spcPts val="1995"/>
                        </a:lnSpc>
                      </a:pPr>
                      <a:r>
                        <a:rPr sz="1800" dirty="0">
                          <a:latin typeface="Times New Roman"/>
                          <a:cs typeface="Times New Roman"/>
                        </a:rPr>
                        <a:t>Comparative</a:t>
                      </a:r>
                      <a:r>
                        <a:rPr sz="1800" spc="-60" dirty="0">
                          <a:latin typeface="Times New Roman"/>
                          <a:cs typeface="Times New Roman"/>
                        </a:rPr>
                        <a:t> </a:t>
                      </a:r>
                      <a:r>
                        <a:rPr sz="1800" spc="-10" dirty="0">
                          <a:latin typeface="Times New Roman"/>
                          <a:cs typeface="Times New Roman"/>
                        </a:rPr>
                        <a:t>Analysis</a:t>
                      </a:r>
                      <a:endParaRPr sz="1800">
                        <a:latin typeface="Times New Roman"/>
                        <a:cs typeface="Times New Roman"/>
                      </a:endParaRPr>
                    </a:p>
                    <a:p>
                      <a:pPr marL="6985" marR="446405">
                        <a:lnSpc>
                          <a:spcPct val="95600"/>
                        </a:lnSpc>
                        <a:spcBef>
                          <a:spcPts val="45"/>
                        </a:spcBef>
                      </a:pPr>
                      <a:r>
                        <a:rPr sz="1800" dirty="0">
                          <a:latin typeface="Times New Roman"/>
                          <a:cs typeface="Times New Roman"/>
                        </a:rPr>
                        <a:t>of</a:t>
                      </a:r>
                      <a:r>
                        <a:rPr sz="1800" spc="-25" dirty="0">
                          <a:latin typeface="Times New Roman"/>
                          <a:cs typeface="Times New Roman"/>
                        </a:rPr>
                        <a:t> </a:t>
                      </a:r>
                      <a:r>
                        <a:rPr sz="1800" dirty="0">
                          <a:latin typeface="Times New Roman"/>
                          <a:cs typeface="Times New Roman"/>
                        </a:rPr>
                        <a:t>VGG16</a:t>
                      </a:r>
                      <a:r>
                        <a:rPr sz="1800" spc="5" dirty="0">
                          <a:latin typeface="Times New Roman"/>
                          <a:cs typeface="Times New Roman"/>
                        </a:rPr>
                        <a:t> </a:t>
                      </a:r>
                      <a:r>
                        <a:rPr sz="1800" spc="-25" dirty="0">
                          <a:latin typeface="Times New Roman"/>
                          <a:cs typeface="Times New Roman"/>
                        </a:rPr>
                        <a:t>and </a:t>
                      </a:r>
                      <a:r>
                        <a:rPr sz="1800" dirty="0">
                          <a:latin typeface="Times New Roman"/>
                          <a:cs typeface="Times New Roman"/>
                        </a:rPr>
                        <a:t>ResNet50</a:t>
                      </a:r>
                      <a:r>
                        <a:rPr sz="1800" spc="-40" dirty="0">
                          <a:latin typeface="Times New Roman"/>
                          <a:cs typeface="Times New Roman"/>
                        </a:rPr>
                        <a:t> </a:t>
                      </a:r>
                      <a:r>
                        <a:rPr sz="1800" dirty="0">
                          <a:latin typeface="Times New Roman"/>
                          <a:cs typeface="Times New Roman"/>
                        </a:rPr>
                        <a:t>for</a:t>
                      </a:r>
                      <a:r>
                        <a:rPr sz="1800" spc="-30" dirty="0">
                          <a:latin typeface="Times New Roman"/>
                          <a:cs typeface="Times New Roman"/>
                        </a:rPr>
                        <a:t> </a:t>
                      </a:r>
                      <a:r>
                        <a:rPr sz="1800" spc="-10" dirty="0">
                          <a:latin typeface="Times New Roman"/>
                          <a:cs typeface="Times New Roman"/>
                        </a:rPr>
                        <a:t>Brain </a:t>
                      </a:r>
                      <a:r>
                        <a:rPr sz="1800" dirty="0">
                          <a:latin typeface="Times New Roman"/>
                          <a:cs typeface="Times New Roman"/>
                        </a:rPr>
                        <a:t>MRI</a:t>
                      </a:r>
                      <a:r>
                        <a:rPr sz="1800" spc="5" dirty="0">
                          <a:latin typeface="Times New Roman"/>
                          <a:cs typeface="Times New Roman"/>
                        </a:rPr>
                        <a:t> </a:t>
                      </a:r>
                      <a:r>
                        <a:rPr sz="1800" spc="-10" dirty="0">
                          <a:latin typeface="Times New Roman"/>
                          <a:cs typeface="Times New Roman"/>
                        </a:rPr>
                        <a:t>Classification</a:t>
                      </a:r>
                      <a:endParaRPr sz="1800">
                        <a:latin typeface="Times New Roman"/>
                        <a:cs typeface="Times New Roman"/>
                      </a:endParaRPr>
                    </a:p>
                  </a:txBody>
                  <a:tcPr marL="0" marR="0" marT="0" marB="0">
                    <a:lnL w="19050">
                      <a:solidFill>
                        <a:srgbClr val="FFFFFF"/>
                      </a:solidFill>
                      <a:prstDash val="solid"/>
                    </a:lnL>
                    <a:lnR w="12700">
                      <a:solidFill>
                        <a:srgbClr val="FFFFFF"/>
                      </a:solidFill>
                      <a:prstDash val="solid"/>
                    </a:lnR>
                    <a:lnT w="12700">
                      <a:solidFill>
                        <a:srgbClr val="FFFFFF"/>
                      </a:solidFill>
                      <a:prstDash val="solid"/>
                    </a:lnT>
                    <a:solidFill>
                      <a:srgbClr val="E9EBF4"/>
                    </a:solidFill>
                  </a:tcPr>
                </a:tc>
                <a:tc>
                  <a:txBody>
                    <a:bodyPr/>
                    <a:lstStyle/>
                    <a:p>
                      <a:pPr marL="5715">
                        <a:lnSpc>
                          <a:spcPts val="2039"/>
                        </a:lnSpc>
                      </a:pPr>
                      <a:r>
                        <a:rPr sz="1800" spc="-20" dirty="0">
                          <a:latin typeface="Times New Roman"/>
                          <a:cs typeface="Times New Roman"/>
                        </a:rPr>
                        <a:t>2022</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E9EBF4"/>
                    </a:solidFill>
                  </a:tcPr>
                </a:tc>
                <a:tc>
                  <a:txBody>
                    <a:bodyPr/>
                    <a:lstStyle/>
                    <a:p>
                      <a:pPr marL="5715">
                        <a:lnSpc>
                          <a:spcPts val="1995"/>
                        </a:lnSpc>
                      </a:pPr>
                      <a:r>
                        <a:rPr sz="1800" dirty="0">
                          <a:latin typeface="Times New Roman"/>
                          <a:cs typeface="Times New Roman"/>
                        </a:rPr>
                        <a:t>Md</a:t>
                      </a:r>
                      <a:r>
                        <a:rPr sz="1800" spc="-25" dirty="0">
                          <a:latin typeface="Times New Roman"/>
                          <a:cs typeface="Times New Roman"/>
                        </a:rPr>
                        <a:t> </a:t>
                      </a:r>
                      <a:r>
                        <a:rPr sz="1800" dirty="0">
                          <a:latin typeface="Times New Roman"/>
                          <a:cs typeface="Times New Roman"/>
                        </a:rPr>
                        <a:t>Ishtyaq</a:t>
                      </a:r>
                      <a:r>
                        <a:rPr sz="1800" spc="-25" dirty="0">
                          <a:latin typeface="Times New Roman"/>
                          <a:cs typeface="Times New Roman"/>
                        </a:rPr>
                        <a:t> </a:t>
                      </a:r>
                      <a:r>
                        <a:rPr sz="1800" spc="-10" dirty="0">
                          <a:latin typeface="Times New Roman"/>
                          <a:cs typeface="Times New Roman"/>
                        </a:rPr>
                        <a:t>Mahmud,</a:t>
                      </a:r>
                      <a:endParaRPr sz="1800">
                        <a:latin typeface="Times New Roman"/>
                        <a:cs typeface="Times New Roman"/>
                      </a:endParaRPr>
                    </a:p>
                    <a:p>
                      <a:pPr marL="5715" marR="184150">
                        <a:lnSpc>
                          <a:spcPts val="2060"/>
                        </a:lnSpc>
                        <a:spcBef>
                          <a:spcPts val="105"/>
                        </a:spcBef>
                      </a:pPr>
                      <a:r>
                        <a:rPr sz="1800" dirty="0">
                          <a:latin typeface="Times New Roman"/>
                          <a:cs typeface="Times New Roman"/>
                        </a:rPr>
                        <a:t>Muntasir</a:t>
                      </a:r>
                      <a:r>
                        <a:rPr sz="1800" spc="-35" dirty="0">
                          <a:latin typeface="Times New Roman"/>
                          <a:cs typeface="Times New Roman"/>
                        </a:rPr>
                        <a:t> </a:t>
                      </a:r>
                      <a:r>
                        <a:rPr sz="1800" dirty="0">
                          <a:latin typeface="Times New Roman"/>
                          <a:cs typeface="Times New Roman"/>
                        </a:rPr>
                        <a:t>Mamun</a:t>
                      </a:r>
                      <a:r>
                        <a:rPr sz="1800" spc="-30" dirty="0">
                          <a:latin typeface="Times New Roman"/>
                          <a:cs typeface="Times New Roman"/>
                        </a:rPr>
                        <a:t> </a:t>
                      </a:r>
                      <a:r>
                        <a:rPr sz="1800" spc="-50" dirty="0">
                          <a:latin typeface="Times New Roman"/>
                          <a:cs typeface="Times New Roman"/>
                        </a:rPr>
                        <a:t>&amp; </a:t>
                      </a:r>
                      <a:r>
                        <a:rPr sz="1800" dirty="0">
                          <a:latin typeface="Times New Roman"/>
                          <a:cs typeface="Times New Roman"/>
                        </a:rPr>
                        <a:t>Ahmed</a:t>
                      </a:r>
                      <a:r>
                        <a:rPr sz="1800" spc="-40" dirty="0">
                          <a:latin typeface="Times New Roman"/>
                          <a:cs typeface="Times New Roman"/>
                        </a:rPr>
                        <a:t> </a:t>
                      </a:r>
                      <a:r>
                        <a:rPr sz="1800" spc="-10" dirty="0">
                          <a:latin typeface="Times New Roman"/>
                          <a:cs typeface="Times New Roman"/>
                        </a:rPr>
                        <a:t>Abdelgawad</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E9EBF4"/>
                    </a:solidFill>
                  </a:tcPr>
                </a:tc>
                <a:tc>
                  <a:txBody>
                    <a:bodyPr/>
                    <a:lstStyle/>
                    <a:p>
                      <a:pPr marL="5715">
                        <a:lnSpc>
                          <a:spcPts val="1995"/>
                        </a:lnSpc>
                      </a:pPr>
                      <a:r>
                        <a:rPr sz="1800" dirty="0">
                          <a:latin typeface="Times New Roman"/>
                          <a:cs typeface="Times New Roman"/>
                        </a:rPr>
                        <a:t>Benchmarks</a:t>
                      </a:r>
                      <a:r>
                        <a:rPr sz="1800" spc="-50" dirty="0">
                          <a:latin typeface="Times New Roman"/>
                          <a:cs typeface="Times New Roman"/>
                        </a:rPr>
                        <a:t> </a:t>
                      </a:r>
                      <a:r>
                        <a:rPr sz="1800" dirty="0">
                          <a:latin typeface="Times New Roman"/>
                          <a:cs typeface="Times New Roman"/>
                        </a:rPr>
                        <a:t>VGG16</a:t>
                      </a:r>
                      <a:r>
                        <a:rPr sz="1800" spc="-35" dirty="0">
                          <a:latin typeface="Times New Roman"/>
                          <a:cs typeface="Times New Roman"/>
                        </a:rPr>
                        <a:t> </a:t>
                      </a:r>
                      <a:r>
                        <a:rPr sz="1800" spc="-25" dirty="0">
                          <a:latin typeface="Times New Roman"/>
                          <a:cs typeface="Times New Roman"/>
                        </a:rPr>
                        <a:t>and</a:t>
                      </a:r>
                      <a:endParaRPr sz="1800" dirty="0">
                        <a:latin typeface="Times New Roman"/>
                        <a:cs typeface="Times New Roman"/>
                      </a:endParaRPr>
                    </a:p>
                    <a:p>
                      <a:pPr marL="5715" marR="70485">
                        <a:lnSpc>
                          <a:spcPct val="95600"/>
                        </a:lnSpc>
                        <a:spcBef>
                          <a:spcPts val="45"/>
                        </a:spcBef>
                      </a:pPr>
                      <a:r>
                        <a:rPr sz="1800" dirty="0">
                          <a:latin typeface="Times New Roman"/>
                          <a:cs typeface="Times New Roman"/>
                        </a:rPr>
                        <a:t>ResNet50</a:t>
                      </a:r>
                      <a:r>
                        <a:rPr sz="1800" spc="-10" dirty="0">
                          <a:latin typeface="Times New Roman"/>
                          <a:cs typeface="Times New Roman"/>
                        </a:rPr>
                        <a:t> </a:t>
                      </a:r>
                      <a:r>
                        <a:rPr sz="1800" dirty="0">
                          <a:latin typeface="Times New Roman"/>
                          <a:cs typeface="Times New Roman"/>
                        </a:rPr>
                        <a:t>on</a:t>
                      </a:r>
                      <a:r>
                        <a:rPr sz="1800" spc="-10" dirty="0">
                          <a:latin typeface="Times New Roman"/>
                          <a:cs typeface="Times New Roman"/>
                        </a:rPr>
                        <a:t> </a:t>
                      </a:r>
                      <a:r>
                        <a:rPr sz="1800" dirty="0">
                          <a:latin typeface="Times New Roman"/>
                          <a:cs typeface="Times New Roman"/>
                        </a:rPr>
                        <a:t>MRI</a:t>
                      </a:r>
                      <a:r>
                        <a:rPr sz="1800" spc="-40" dirty="0">
                          <a:latin typeface="Times New Roman"/>
                          <a:cs typeface="Times New Roman"/>
                        </a:rPr>
                        <a:t> </a:t>
                      </a:r>
                      <a:r>
                        <a:rPr sz="1800" spc="-10" dirty="0">
                          <a:latin typeface="Times New Roman"/>
                          <a:cs typeface="Times New Roman"/>
                        </a:rPr>
                        <a:t>datasets, </a:t>
                      </a:r>
                      <a:r>
                        <a:rPr sz="1800" dirty="0">
                          <a:latin typeface="Times New Roman"/>
                          <a:cs typeface="Times New Roman"/>
                        </a:rPr>
                        <a:t>showing</a:t>
                      </a:r>
                      <a:r>
                        <a:rPr sz="1800" spc="-40" dirty="0">
                          <a:latin typeface="Times New Roman"/>
                          <a:cs typeface="Times New Roman"/>
                        </a:rPr>
                        <a:t> </a:t>
                      </a:r>
                      <a:r>
                        <a:rPr sz="1800" dirty="0">
                          <a:latin typeface="Times New Roman"/>
                          <a:cs typeface="Times New Roman"/>
                        </a:rPr>
                        <a:t>ResNet50</a:t>
                      </a:r>
                      <a:r>
                        <a:rPr sz="1800" spc="-15" dirty="0">
                          <a:latin typeface="Times New Roman"/>
                          <a:cs typeface="Times New Roman"/>
                        </a:rPr>
                        <a:t> </a:t>
                      </a:r>
                      <a:r>
                        <a:rPr sz="1800" spc="-10" dirty="0">
                          <a:latin typeface="Times New Roman"/>
                          <a:cs typeface="Times New Roman"/>
                        </a:rPr>
                        <a:t>performs better.</a:t>
                      </a:r>
                      <a:endParaRPr sz="18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E9EBF4"/>
                    </a:solidFill>
                  </a:tcPr>
                </a:tc>
                <a:tc>
                  <a:txBody>
                    <a:bodyPr/>
                    <a:lstStyle/>
                    <a:p>
                      <a:pPr marL="5715" marR="128270">
                        <a:lnSpc>
                          <a:spcPts val="2070"/>
                        </a:lnSpc>
                        <a:spcBef>
                          <a:spcPts val="25"/>
                        </a:spcBef>
                      </a:pPr>
                      <a:r>
                        <a:rPr sz="1800" dirty="0">
                          <a:latin typeface="Times New Roman"/>
                          <a:cs typeface="Times New Roman"/>
                        </a:rPr>
                        <a:t>Does</a:t>
                      </a:r>
                      <a:r>
                        <a:rPr sz="1800" spc="-15" dirty="0">
                          <a:latin typeface="Times New Roman"/>
                          <a:cs typeface="Times New Roman"/>
                        </a:rPr>
                        <a:t> </a:t>
                      </a:r>
                      <a:r>
                        <a:rPr sz="1800" dirty="0">
                          <a:latin typeface="Times New Roman"/>
                          <a:cs typeface="Times New Roman"/>
                        </a:rPr>
                        <a:t>not</a:t>
                      </a:r>
                      <a:r>
                        <a:rPr sz="1800" spc="-35" dirty="0">
                          <a:latin typeface="Times New Roman"/>
                          <a:cs typeface="Times New Roman"/>
                        </a:rPr>
                        <a:t> </a:t>
                      </a:r>
                      <a:r>
                        <a:rPr sz="1800" dirty="0">
                          <a:latin typeface="Times New Roman"/>
                          <a:cs typeface="Times New Roman"/>
                        </a:rPr>
                        <a:t>propose</a:t>
                      </a:r>
                      <a:r>
                        <a:rPr sz="1800" spc="-25" dirty="0">
                          <a:latin typeface="Times New Roman"/>
                          <a:cs typeface="Times New Roman"/>
                        </a:rPr>
                        <a:t> </a:t>
                      </a:r>
                      <a:r>
                        <a:rPr sz="1800" dirty="0">
                          <a:latin typeface="Times New Roman"/>
                          <a:cs typeface="Times New Roman"/>
                        </a:rPr>
                        <a:t>a</a:t>
                      </a:r>
                      <a:r>
                        <a:rPr sz="1800" spc="-15" dirty="0">
                          <a:latin typeface="Times New Roman"/>
                          <a:cs typeface="Times New Roman"/>
                        </a:rPr>
                        <a:t> </a:t>
                      </a:r>
                      <a:r>
                        <a:rPr sz="1800" spc="-25" dirty="0">
                          <a:latin typeface="Times New Roman"/>
                          <a:cs typeface="Times New Roman"/>
                        </a:rPr>
                        <a:t>new </a:t>
                      </a:r>
                      <a:r>
                        <a:rPr sz="1800" dirty="0">
                          <a:latin typeface="Times New Roman"/>
                          <a:cs typeface="Times New Roman"/>
                        </a:rPr>
                        <a:t>model</a:t>
                      </a:r>
                      <a:r>
                        <a:rPr sz="1800" spc="-30" dirty="0">
                          <a:latin typeface="Times New Roman"/>
                          <a:cs typeface="Times New Roman"/>
                        </a:rPr>
                        <a:t> </a:t>
                      </a:r>
                      <a:r>
                        <a:rPr sz="1800" dirty="0">
                          <a:latin typeface="Times New Roman"/>
                          <a:cs typeface="Times New Roman"/>
                        </a:rPr>
                        <a:t>to</a:t>
                      </a:r>
                      <a:r>
                        <a:rPr sz="1800" spc="-15" dirty="0">
                          <a:latin typeface="Times New Roman"/>
                          <a:cs typeface="Times New Roman"/>
                        </a:rPr>
                        <a:t> </a:t>
                      </a:r>
                      <a:r>
                        <a:rPr sz="1800" dirty="0">
                          <a:latin typeface="Times New Roman"/>
                          <a:cs typeface="Times New Roman"/>
                        </a:rPr>
                        <a:t>outperform</a:t>
                      </a:r>
                      <a:r>
                        <a:rPr sz="1800" spc="-60" dirty="0">
                          <a:latin typeface="Times New Roman"/>
                          <a:cs typeface="Times New Roman"/>
                        </a:rPr>
                        <a:t> </a:t>
                      </a:r>
                      <a:r>
                        <a:rPr sz="1800" spc="-20" dirty="0">
                          <a:latin typeface="Times New Roman"/>
                          <a:cs typeface="Times New Roman"/>
                        </a:rPr>
                        <a:t>both</a:t>
                      </a:r>
                      <a:endParaRPr sz="1800" dirty="0">
                        <a:latin typeface="Times New Roman"/>
                        <a:cs typeface="Times New Roman"/>
                      </a:endParaRPr>
                    </a:p>
                    <a:p>
                      <a:pPr marL="5715">
                        <a:lnSpc>
                          <a:spcPts val="2100"/>
                        </a:lnSpc>
                      </a:pPr>
                      <a:r>
                        <a:rPr sz="1800" dirty="0">
                          <a:latin typeface="Calibri"/>
                          <a:cs typeface="Calibri"/>
                        </a:rPr>
                        <a:t>—</a:t>
                      </a:r>
                      <a:r>
                        <a:rPr sz="1800" spc="45" dirty="0">
                          <a:latin typeface="Calibri"/>
                          <a:cs typeface="Calibri"/>
                        </a:rPr>
                        <a:t> </a:t>
                      </a:r>
                      <a:r>
                        <a:rPr sz="1800" dirty="0">
                          <a:latin typeface="Times New Roman"/>
                          <a:cs typeface="Times New Roman"/>
                        </a:rPr>
                        <a:t>stops at</a:t>
                      </a:r>
                      <a:r>
                        <a:rPr sz="1800" spc="-20" dirty="0">
                          <a:latin typeface="Times New Roman"/>
                          <a:cs typeface="Times New Roman"/>
                        </a:rPr>
                        <a:t> </a:t>
                      </a:r>
                      <a:r>
                        <a:rPr sz="1800" spc="-10" dirty="0">
                          <a:latin typeface="Times New Roman"/>
                          <a:cs typeface="Times New Roman"/>
                        </a:rPr>
                        <a:t>comparison.</a:t>
                      </a:r>
                      <a:endParaRPr sz="1800" dirty="0">
                        <a:latin typeface="Times New Roman"/>
                        <a:cs typeface="Times New Roman"/>
                      </a:endParaRPr>
                    </a:p>
                  </a:txBody>
                  <a:tcPr marL="0" marR="0" marT="3175" marB="0">
                    <a:lnL w="12700">
                      <a:solidFill>
                        <a:srgbClr val="FFFFFF"/>
                      </a:solidFill>
                      <a:prstDash val="solid"/>
                    </a:lnL>
                    <a:lnT w="12700">
                      <a:solidFill>
                        <a:srgbClr val="FFFFFF"/>
                      </a:solidFill>
                      <a:prstDash val="solid"/>
                    </a:lnT>
                    <a:solidFill>
                      <a:srgbClr val="E9EBF4"/>
                    </a:solidFill>
                  </a:tcPr>
                </a:tc>
                <a:extLst>
                  <a:ext uri="{0D108BD9-81ED-4DB2-BD59-A6C34878D82A}">
                    <a16:rowId xmlns:a16="http://schemas.microsoft.com/office/drawing/2014/main" val="10002"/>
                  </a:ext>
                </a:extLst>
              </a:tr>
            </a:tbl>
          </a:graphicData>
        </a:graphic>
      </p:graphicFrame>
      <p:sp>
        <p:nvSpPr>
          <p:cNvPr id="5" name="TextBox 4">
            <a:extLst>
              <a:ext uri="{FF2B5EF4-FFF2-40B4-BE49-F238E27FC236}">
                <a16:creationId xmlns:a16="http://schemas.microsoft.com/office/drawing/2014/main" id="{860C5F9A-EBDA-10C1-BF2F-5211F9152A51}"/>
              </a:ext>
            </a:extLst>
          </p:cNvPr>
          <p:cNvSpPr txBox="1"/>
          <p:nvPr/>
        </p:nvSpPr>
        <p:spPr>
          <a:xfrm>
            <a:off x="838200" y="5815049"/>
            <a:ext cx="6094378" cy="502317"/>
          </a:xfrm>
          <a:prstGeom prst="rect">
            <a:avLst/>
          </a:prstGeom>
          <a:noFill/>
        </p:spPr>
        <p:txBody>
          <a:bodyPr wrap="square">
            <a:spAutoFit/>
          </a:bodyPr>
          <a:lstStyle/>
          <a:p>
            <a:pPr marL="12700" marR="5080" algn="just">
              <a:lnSpc>
                <a:spcPct val="168400"/>
              </a:lnSpc>
              <a:spcBef>
                <a:spcPts val="10"/>
              </a:spcBef>
            </a:pPr>
            <a:r>
              <a:rPr lang="en-IN" sz="1800" spc="-10" dirty="0" err="1">
                <a:latin typeface="Calibri"/>
                <a:cs typeface="Calibri"/>
              </a:rPr>
              <a:t>i</a:t>
            </a:r>
            <a:endParaRPr lang="en-IN" sz="1800" spc="-10" dirty="0">
              <a:latin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899464" y="762254"/>
          <a:ext cx="10646408" cy="2204720"/>
        </p:xfrm>
        <a:graphic>
          <a:graphicData uri="http://schemas.openxmlformats.org/drawingml/2006/table">
            <a:tbl>
              <a:tblPr firstRow="1" bandRow="1">
                <a:tableStyleId>{2D5ABB26-0587-4C30-8999-92F81FD0307C}</a:tableStyleId>
              </a:tblPr>
              <a:tblGrid>
                <a:gridCol w="452755">
                  <a:extLst>
                    <a:ext uri="{9D8B030D-6E8A-4147-A177-3AD203B41FA5}">
                      <a16:colId xmlns:a16="http://schemas.microsoft.com/office/drawing/2014/main" val="20000"/>
                    </a:ext>
                  </a:extLst>
                </a:gridCol>
                <a:gridCol w="2251710">
                  <a:extLst>
                    <a:ext uri="{9D8B030D-6E8A-4147-A177-3AD203B41FA5}">
                      <a16:colId xmlns:a16="http://schemas.microsoft.com/office/drawing/2014/main" val="20001"/>
                    </a:ext>
                  </a:extLst>
                </a:gridCol>
                <a:gridCol w="671194">
                  <a:extLst>
                    <a:ext uri="{9D8B030D-6E8A-4147-A177-3AD203B41FA5}">
                      <a16:colId xmlns:a16="http://schemas.microsoft.com/office/drawing/2014/main" val="20002"/>
                    </a:ext>
                  </a:extLst>
                </a:gridCol>
                <a:gridCol w="2079625">
                  <a:extLst>
                    <a:ext uri="{9D8B030D-6E8A-4147-A177-3AD203B41FA5}">
                      <a16:colId xmlns:a16="http://schemas.microsoft.com/office/drawing/2014/main" val="20003"/>
                    </a:ext>
                  </a:extLst>
                </a:gridCol>
                <a:gridCol w="2696210">
                  <a:extLst>
                    <a:ext uri="{9D8B030D-6E8A-4147-A177-3AD203B41FA5}">
                      <a16:colId xmlns:a16="http://schemas.microsoft.com/office/drawing/2014/main" val="20004"/>
                    </a:ext>
                  </a:extLst>
                </a:gridCol>
                <a:gridCol w="2494914">
                  <a:extLst>
                    <a:ext uri="{9D8B030D-6E8A-4147-A177-3AD203B41FA5}">
                      <a16:colId xmlns:a16="http://schemas.microsoft.com/office/drawing/2014/main" val="20005"/>
                    </a:ext>
                  </a:extLst>
                </a:gridCol>
              </a:tblGrid>
              <a:tr h="2204720">
                <a:tc>
                  <a:txBody>
                    <a:bodyPr/>
                    <a:lstStyle/>
                    <a:p>
                      <a:pPr>
                        <a:lnSpc>
                          <a:spcPct val="100000"/>
                        </a:lnSpc>
                      </a:pPr>
                      <a:endParaRPr sz="1800">
                        <a:latin typeface="Times New Roman"/>
                        <a:cs typeface="Times New Roman"/>
                      </a:endParaRPr>
                    </a:p>
                    <a:p>
                      <a:pPr>
                        <a:lnSpc>
                          <a:spcPct val="100000"/>
                        </a:lnSpc>
                        <a:spcBef>
                          <a:spcPts val="1000"/>
                        </a:spcBef>
                      </a:pPr>
                      <a:endParaRPr sz="1800">
                        <a:latin typeface="Times New Roman"/>
                        <a:cs typeface="Times New Roman"/>
                      </a:endParaRPr>
                    </a:p>
                    <a:p>
                      <a:pPr marL="91440">
                        <a:lnSpc>
                          <a:spcPct val="100000"/>
                        </a:lnSpc>
                      </a:pPr>
                      <a:r>
                        <a:rPr sz="1800" spc="-50" dirty="0">
                          <a:latin typeface="Calibri"/>
                          <a:cs typeface="Calibri"/>
                        </a:rPr>
                        <a:t>3</a:t>
                      </a:r>
                      <a:endParaRPr sz="1800">
                        <a:latin typeface="Calibri"/>
                        <a:cs typeface="Calibri"/>
                      </a:endParaRPr>
                    </a:p>
                  </a:txBody>
                  <a:tcPr marL="0" marR="0" marT="0" marB="0">
                    <a:lnR w="19050">
                      <a:solidFill>
                        <a:srgbClr val="FFFFFF"/>
                      </a:solidFill>
                      <a:prstDash val="solid"/>
                    </a:lnR>
                    <a:solidFill>
                      <a:srgbClr val="E9EBF4"/>
                    </a:solidFill>
                  </a:tcPr>
                </a:tc>
                <a:tc>
                  <a:txBody>
                    <a:bodyPr/>
                    <a:lstStyle/>
                    <a:p>
                      <a:pPr marL="6985">
                        <a:lnSpc>
                          <a:spcPts val="1945"/>
                        </a:lnSpc>
                      </a:pPr>
                      <a:r>
                        <a:rPr sz="1800" dirty="0">
                          <a:latin typeface="Times New Roman"/>
                          <a:cs typeface="Times New Roman"/>
                        </a:rPr>
                        <a:t>Custom</a:t>
                      </a:r>
                      <a:r>
                        <a:rPr sz="1800" spc="-20" dirty="0">
                          <a:latin typeface="Times New Roman"/>
                          <a:cs typeface="Times New Roman"/>
                        </a:rPr>
                        <a:t> </a:t>
                      </a:r>
                      <a:r>
                        <a:rPr sz="1800" spc="-25" dirty="0">
                          <a:latin typeface="Times New Roman"/>
                          <a:cs typeface="Times New Roman"/>
                        </a:rPr>
                        <a:t>CNN</a:t>
                      </a:r>
                      <a:endParaRPr sz="1800">
                        <a:latin typeface="Times New Roman"/>
                        <a:cs typeface="Times New Roman"/>
                      </a:endParaRPr>
                    </a:p>
                    <a:p>
                      <a:pPr marL="6985" marR="105410">
                        <a:lnSpc>
                          <a:spcPts val="2060"/>
                        </a:lnSpc>
                        <a:spcBef>
                          <a:spcPts val="105"/>
                        </a:spcBef>
                      </a:pPr>
                      <a:r>
                        <a:rPr sz="1800" dirty="0">
                          <a:latin typeface="Times New Roman"/>
                          <a:cs typeface="Times New Roman"/>
                        </a:rPr>
                        <a:t>Architecture</a:t>
                      </a:r>
                      <a:r>
                        <a:rPr sz="1800" spc="-65" dirty="0">
                          <a:latin typeface="Times New Roman"/>
                          <a:cs typeface="Times New Roman"/>
                        </a:rPr>
                        <a:t> </a:t>
                      </a:r>
                      <a:r>
                        <a:rPr sz="1800" dirty="0">
                          <a:latin typeface="Times New Roman"/>
                          <a:cs typeface="Times New Roman"/>
                        </a:rPr>
                        <a:t>for</a:t>
                      </a:r>
                      <a:r>
                        <a:rPr sz="1800" spc="-55" dirty="0">
                          <a:latin typeface="Times New Roman"/>
                          <a:cs typeface="Times New Roman"/>
                        </a:rPr>
                        <a:t> </a:t>
                      </a:r>
                      <a:r>
                        <a:rPr sz="1800" spc="-20" dirty="0">
                          <a:latin typeface="Times New Roman"/>
                          <a:cs typeface="Times New Roman"/>
                        </a:rPr>
                        <a:t>Rare </a:t>
                      </a:r>
                      <a:r>
                        <a:rPr sz="1800" dirty="0">
                          <a:latin typeface="Times New Roman"/>
                          <a:cs typeface="Times New Roman"/>
                        </a:rPr>
                        <a:t>Brain</a:t>
                      </a:r>
                      <a:r>
                        <a:rPr sz="1800" spc="-30" dirty="0">
                          <a:latin typeface="Times New Roman"/>
                          <a:cs typeface="Times New Roman"/>
                        </a:rPr>
                        <a:t> </a:t>
                      </a:r>
                      <a:r>
                        <a:rPr sz="1800" dirty="0">
                          <a:latin typeface="Times New Roman"/>
                          <a:cs typeface="Times New Roman"/>
                        </a:rPr>
                        <a:t>Tumor</a:t>
                      </a:r>
                      <a:r>
                        <a:rPr sz="1800" spc="-40" dirty="0">
                          <a:latin typeface="Times New Roman"/>
                          <a:cs typeface="Times New Roman"/>
                        </a:rPr>
                        <a:t> </a:t>
                      </a:r>
                      <a:r>
                        <a:rPr sz="1800" spc="-10" dirty="0">
                          <a:latin typeface="Times New Roman"/>
                          <a:cs typeface="Times New Roman"/>
                        </a:rPr>
                        <a:t>Detection</a:t>
                      </a:r>
                      <a:endParaRPr sz="1800">
                        <a:latin typeface="Times New Roman"/>
                        <a:cs typeface="Times New Roman"/>
                      </a:endParaRPr>
                    </a:p>
                  </a:txBody>
                  <a:tcPr marL="0" marR="0" marT="0" marB="0">
                    <a:lnL w="19050">
                      <a:solidFill>
                        <a:srgbClr val="FFFFFF"/>
                      </a:solidFill>
                      <a:prstDash val="solid"/>
                    </a:lnL>
                    <a:lnR w="12700">
                      <a:solidFill>
                        <a:srgbClr val="FFFFFF"/>
                      </a:solidFill>
                      <a:prstDash val="solid"/>
                    </a:lnR>
                    <a:solidFill>
                      <a:srgbClr val="E9EBF4"/>
                    </a:solidFill>
                  </a:tcPr>
                </a:tc>
                <a:tc>
                  <a:txBody>
                    <a:bodyPr/>
                    <a:lstStyle/>
                    <a:p>
                      <a:pPr marL="5715">
                        <a:lnSpc>
                          <a:spcPts val="1995"/>
                        </a:lnSpc>
                      </a:pPr>
                      <a:r>
                        <a:rPr sz="1800" spc="-20" dirty="0">
                          <a:latin typeface="Times New Roman"/>
                          <a:cs typeface="Times New Roman"/>
                        </a:rPr>
                        <a:t>2020</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E9EBF4"/>
                    </a:solidFill>
                  </a:tcPr>
                </a:tc>
                <a:tc>
                  <a:txBody>
                    <a:bodyPr/>
                    <a:lstStyle/>
                    <a:p>
                      <a:pPr marL="5715">
                        <a:lnSpc>
                          <a:spcPts val="1945"/>
                        </a:lnSpc>
                      </a:pPr>
                      <a:r>
                        <a:rPr sz="1800" dirty="0">
                          <a:latin typeface="Times New Roman"/>
                          <a:cs typeface="Times New Roman"/>
                        </a:rPr>
                        <a:t>N.</a:t>
                      </a:r>
                      <a:r>
                        <a:rPr sz="1800" spc="5" dirty="0">
                          <a:latin typeface="Times New Roman"/>
                          <a:cs typeface="Times New Roman"/>
                        </a:rPr>
                        <a:t> </a:t>
                      </a:r>
                      <a:r>
                        <a:rPr sz="1800" dirty="0">
                          <a:latin typeface="Times New Roman"/>
                          <a:cs typeface="Times New Roman"/>
                        </a:rPr>
                        <a:t>Jeenath</a:t>
                      </a:r>
                      <a:r>
                        <a:rPr sz="1800" spc="-20" dirty="0">
                          <a:latin typeface="Times New Roman"/>
                          <a:cs typeface="Times New Roman"/>
                        </a:rPr>
                        <a:t> </a:t>
                      </a:r>
                      <a:r>
                        <a:rPr sz="1800" spc="-10" dirty="0">
                          <a:latin typeface="Times New Roman"/>
                          <a:cs typeface="Times New Roman"/>
                        </a:rPr>
                        <a:t>Shafana</a:t>
                      </a:r>
                      <a:endParaRPr sz="1800">
                        <a:latin typeface="Times New Roman"/>
                        <a:cs typeface="Times New Roman"/>
                      </a:endParaRPr>
                    </a:p>
                    <a:p>
                      <a:pPr marL="5715">
                        <a:lnSpc>
                          <a:spcPts val="2065"/>
                        </a:lnSpc>
                      </a:pPr>
                      <a:r>
                        <a:rPr sz="1800" dirty="0">
                          <a:latin typeface="Times New Roman"/>
                          <a:cs typeface="Times New Roman"/>
                        </a:rPr>
                        <a:t>O.</a:t>
                      </a:r>
                      <a:r>
                        <a:rPr sz="1800" spc="480" dirty="0">
                          <a:latin typeface="Times New Roman"/>
                          <a:cs typeface="Times New Roman"/>
                        </a:rPr>
                        <a:t> </a:t>
                      </a:r>
                      <a:r>
                        <a:rPr sz="1800" spc="-50" dirty="0">
                          <a:latin typeface="Times New Roman"/>
                          <a:cs typeface="Times New Roman"/>
                        </a:rPr>
                        <a:t>&amp;</a:t>
                      </a:r>
                      <a:endParaRPr sz="1800">
                        <a:latin typeface="Times New Roman"/>
                        <a:cs typeface="Times New Roman"/>
                      </a:endParaRPr>
                    </a:p>
                    <a:p>
                      <a:pPr marL="5715">
                        <a:lnSpc>
                          <a:spcPts val="2110"/>
                        </a:lnSpc>
                      </a:pPr>
                      <a:r>
                        <a:rPr sz="1800" dirty="0">
                          <a:latin typeface="Times New Roman"/>
                          <a:cs typeface="Times New Roman"/>
                        </a:rPr>
                        <a:t>P.</a:t>
                      </a:r>
                      <a:r>
                        <a:rPr sz="1800" spc="480" dirty="0">
                          <a:latin typeface="Times New Roman"/>
                          <a:cs typeface="Times New Roman"/>
                        </a:rPr>
                        <a:t> </a:t>
                      </a:r>
                      <a:r>
                        <a:rPr sz="1800" dirty="0">
                          <a:latin typeface="Times New Roman"/>
                          <a:cs typeface="Times New Roman"/>
                        </a:rPr>
                        <a:t>A. Senthil</a:t>
                      </a:r>
                      <a:r>
                        <a:rPr sz="1800" spc="-20" dirty="0">
                          <a:latin typeface="Times New Roman"/>
                          <a:cs typeface="Times New Roman"/>
                        </a:rPr>
                        <a:t> </a:t>
                      </a:r>
                      <a:r>
                        <a:rPr sz="1800" spc="-10" dirty="0">
                          <a:latin typeface="Times New Roman"/>
                          <a:cs typeface="Times New Roman"/>
                        </a:rPr>
                        <a:t>Selvi</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E9EBF4"/>
                    </a:solidFill>
                  </a:tcPr>
                </a:tc>
                <a:tc>
                  <a:txBody>
                    <a:bodyPr/>
                    <a:lstStyle/>
                    <a:p>
                      <a:pPr marL="5715">
                        <a:lnSpc>
                          <a:spcPts val="1945"/>
                        </a:lnSpc>
                      </a:pPr>
                      <a:r>
                        <a:rPr sz="1800" dirty="0">
                          <a:latin typeface="Times New Roman"/>
                          <a:cs typeface="Times New Roman"/>
                        </a:rPr>
                        <a:t>Designs</a:t>
                      </a:r>
                      <a:r>
                        <a:rPr sz="1800" spc="-25" dirty="0">
                          <a:latin typeface="Times New Roman"/>
                          <a:cs typeface="Times New Roman"/>
                        </a:rPr>
                        <a:t> </a:t>
                      </a:r>
                      <a:r>
                        <a:rPr sz="1800" dirty="0">
                          <a:latin typeface="Times New Roman"/>
                          <a:cs typeface="Times New Roman"/>
                        </a:rPr>
                        <a:t>a</a:t>
                      </a:r>
                      <a:r>
                        <a:rPr sz="1800" spc="-30" dirty="0">
                          <a:latin typeface="Times New Roman"/>
                          <a:cs typeface="Times New Roman"/>
                        </a:rPr>
                        <a:t> </a:t>
                      </a:r>
                      <a:r>
                        <a:rPr sz="1800" dirty="0">
                          <a:latin typeface="Times New Roman"/>
                          <a:cs typeface="Times New Roman"/>
                        </a:rPr>
                        <a:t>lightweight</a:t>
                      </a:r>
                      <a:r>
                        <a:rPr sz="1800" spc="-20" dirty="0">
                          <a:latin typeface="Times New Roman"/>
                          <a:cs typeface="Times New Roman"/>
                        </a:rPr>
                        <a:t> </a:t>
                      </a:r>
                      <a:r>
                        <a:rPr sz="1800" spc="-25" dirty="0">
                          <a:latin typeface="Times New Roman"/>
                          <a:cs typeface="Times New Roman"/>
                        </a:rPr>
                        <a:t>CNN</a:t>
                      </a:r>
                      <a:endParaRPr sz="1800">
                        <a:latin typeface="Times New Roman"/>
                        <a:cs typeface="Times New Roman"/>
                      </a:endParaRPr>
                    </a:p>
                    <a:p>
                      <a:pPr marL="5715" marR="273050">
                        <a:lnSpc>
                          <a:spcPct val="96200"/>
                        </a:lnSpc>
                        <a:spcBef>
                          <a:spcPts val="35"/>
                        </a:spcBef>
                      </a:pPr>
                      <a:r>
                        <a:rPr sz="1800" dirty="0">
                          <a:latin typeface="Times New Roman"/>
                          <a:cs typeface="Times New Roman"/>
                        </a:rPr>
                        <a:t>tailored</a:t>
                      </a:r>
                      <a:r>
                        <a:rPr sz="1800" spc="-35" dirty="0">
                          <a:latin typeface="Times New Roman"/>
                          <a:cs typeface="Times New Roman"/>
                        </a:rPr>
                        <a:t> </a:t>
                      </a:r>
                      <a:r>
                        <a:rPr sz="1800" dirty="0">
                          <a:latin typeface="Times New Roman"/>
                          <a:cs typeface="Times New Roman"/>
                        </a:rPr>
                        <a:t>for</a:t>
                      </a:r>
                      <a:r>
                        <a:rPr sz="1800" spc="-40" dirty="0">
                          <a:latin typeface="Times New Roman"/>
                          <a:cs typeface="Times New Roman"/>
                        </a:rPr>
                        <a:t> </a:t>
                      </a:r>
                      <a:r>
                        <a:rPr sz="1800" dirty="0">
                          <a:latin typeface="Times New Roman"/>
                          <a:cs typeface="Times New Roman"/>
                        </a:rPr>
                        <a:t>small</a:t>
                      </a:r>
                      <a:r>
                        <a:rPr sz="1800" spc="-40" dirty="0">
                          <a:latin typeface="Times New Roman"/>
                          <a:cs typeface="Times New Roman"/>
                        </a:rPr>
                        <a:t> </a:t>
                      </a:r>
                      <a:r>
                        <a:rPr sz="1800" spc="-10" dirty="0">
                          <a:latin typeface="Times New Roman"/>
                          <a:cs typeface="Times New Roman"/>
                        </a:rPr>
                        <a:t>datasets, </a:t>
                      </a:r>
                      <a:r>
                        <a:rPr sz="1800" dirty="0">
                          <a:latin typeface="Times New Roman"/>
                          <a:cs typeface="Times New Roman"/>
                        </a:rPr>
                        <a:t>achieving</a:t>
                      </a:r>
                      <a:r>
                        <a:rPr sz="1800" spc="-40" dirty="0">
                          <a:latin typeface="Times New Roman"/>
                          <a:cs typeface="Times New Roman"/>
                        </a:rPr>
                        <a:t> </a:t>
                      </a:r>
                      <a:r>
                        <a:rPr sz="1800" dirty="0">
                          <a:latin typeface="Times New Roman"/>
                          <a:cs typeface="Times New Roman"/>
                        </a:rPr>
                        <a:t>high</a:t>
                      </a:r>
                      <a:r>
                        <a:rPr sz="1800" spc="-20" dirty="0">
                          <a:latin typeface="Times New Roman"/>
                          <a:cs typeface="Times New Roman"/>
                        </a:rPr>
                        <a:t> </a:t>
                      </a:r>
                      <a:r>
                        <a:rPr sz="1800" spc="-10" dirty="0">
                          <a:latin typeface="Times New Roman"/>
                          <a:cs typeface="Times New Roman"/>
                        </a:rPr>
                        <a:t>accuracy </a:t>
                      </a:r>
                      <a:r>
                        <a:rPr sz="1800" dirty="0">
                          <a:latin typeface="Times New Roman"/>
                          <a:cs typeface="Times New Roman"/>
                        </a:rPr>
                        <a:t>without</a:t>
                      </a:r>
                      <a:r>
                        <a:rPr sz="1800" spc="-10" dirty="0">
                          <a:latin typeface="Times New Roman"/>
                          <a:cs typeface="Times New Roman"/>
                        </a:rPr>
                        <a:t> overfitting.</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E9EBF4"/>
                    </a:solidFill>
                  </a:tcPr>
                </a:tc>
                <a:tc>
                  <a:txBody>
                    <a:bodyPr/>
                    <a:lstStyle/>
                    <a:p>
                      <a:pPr marL="5715" algn="just">
                        <a:lnSpc>
                          <a:spcPts val="1945"/>
                        </a:lnSpc>
                      </a:pPr>
                      <a:r>
                        <a:rPr sz="1800" dirty="0">
                          <a:latin typeface="Times New Roman"/>
                          <a:cs typeface="Times New Roman"/>
                        </a:rPr>
                        <a:t>No</a:t>
                      </a:r>
                      <a:r>
                        <a:rPr sz="1800" spc="-50" dirty="0">
                          <a:latin typeface="Times New Roman"/>
                          <a:cs typeface="Times New Roman"/>
                        </a:rPr>
                        <a:t> </a:t>
                      </a:r>
                      <a:r>
                        <a:rPr sz="1800" dirty="0">
                          <a:latin typeface="Times New Roman"/>
                          <a:cs typeface="Times New Roman"/>
                        </a:rPr>
                        <a:t>benchmark</a:t>
                      </a:r>
                      <a:r>
                        <a:rPr sz="1800" spc="-60" dirty="0">
                          <a:latin typeface="Times New Roman"/>
                          <a:cs typeface="Times New Roman"/>
                        </a:rPr>
                        <a:t> </a:t>
                      </a:r>
                      <a:r>
                        <a:rPr sz="1800" spc="-10" dirty="0">
                          <a:latin typeface="Times New Roman"/>
                          <a:cs typeface="Times New Roman"/>
                        </a:rPr>
                        <a:t>comparison</a:t>
                      </a:r>
                      <a:endParaRPr sz="1800">
                        <a:latin typeface="Times New Roman"/>
                        <a:cs typeface="Times New Roman"/>
                      </a:endParaRPr>
                    </a:p>
                    <a:p>
                      <a:pPr marL="5715" marR="441325" algn="just">
                        <a:lnSpc>
                          <a:spcPct val="96200"/>
                        </a:lnSpc>
                        <a:spcBef>
                          <a:spcPts val="35"/>
                        </a:spcBef>
                      </a:pPr>
                      <a:r>
                        <a:rPr sz="1800" dirty="0">
                          <a:latin typeface="Times New Roman"/>
                          <a:cs typeface="Times New Roman"/>
                        </a:rPr>
                        <a:t>with</a:t>
                      </a:r>
                      <a:r>
                        <a:rPr sz="1800" spc="-10" dirty="0">
                          <a:latin typeface="Times New Roman"/>
                          <a:cs typeface="Times New Roman"/>
                        </a:rPr>
                        <a:t> </a:t>
                      </a:r>
                      <a:r>
                        <a:rPr sz="1800" dirty="0">
                          <a:latin typeface="Times New Roman"/>
                          <a:cs typeface="Times New Roman"/>
                        </a:rPr>
                        <a:t>both</a:t>
                      </a:r>
                      <a:r>
                        <a:rPr sz="1800" spc="-25" dirty="0">
                          <a:latin typeface="Times New Roman"/>
                          <a:cs typeface="Times New Roman"/>
                        </a:rPr>
                        <a:t> </a:t>
                      </a:r>
                      <a:r>
                        <a:rPr sz="1800" dirty="0">
                          <a:latin typeface="Times New Roman"/>
                          <a:cs typeface="Times New Roman"/>
                        </a:rPr>
                        <a:t>VGG16</a:t>
                      </a:r>
                      <a:r>
                        <a:rPr sz="1800" spc="-5" dirty="0">
                          <a:latin typeface="Times New Roman"/>
                          <a:cs typeface="Times New Roman"/>
                        </a:rPr>
                        <a:t> </a:t>
                      </a:r>
                      <a:r>
                        <a:rPr sz="1800" spc="-25" dirty="0">
                          <a:latin typeface="Times New Roman"/>
                          <a:cs typeface="Times New Roman"/>
                        </a:rPr>
                        <a:t>and </a:t>
                      </a:r>
                      <a:r>
                        <a:rPr sz="1800" dirty="0">
                          <a:latin typeface="Times New Roman"/>
                          <a:cs typeface="Times New Roman"/>
                        </a:rPr>
                        <a:t>ResNet50</a:t>
                      </a:r>
                      <a:r>
                        <a:rPr sz="1800" spc="-10" dirty="0">
                          <a:latin typeface="Times New Roman"/>
                          <a:cs typeface="Times New Roman"/>
                        </a:rPr>
                        <a:t> </a:t>
                      </a:r>
                      <a:r>
                        <a:rPr sz="1800" dirty="0">
                          <a:latin typeface="Times New Roman"/>
                          <a:cs typeface="Times New Roman"/>
                        </a:rPr>
                        <a:t>in</a:t>
                      </a:r>
                      <a:r>
                        <a:rPr sz="1800" spc="-20" dirty="0">
                          <a:latin typeface="Times New Roman"/>
                          <a:cs typeface="Times New Roman"/>
                        </a:rPr>
                        <a:t> </a:t>
                      </a:r>
                      <a:r>
                        <a:rPr sz="1800" dirty="0">
                          <a:latin typeface="Times New Roman"/>
                          <a:cs typeface="Times New Roman"/>
                        </a:rPr>
                        <a:t>the</a:t>
                      </a:r>
                      <a:r>
                        <a:rPr sz="1800" spc="-20" dirty="0">
                          <a:latin typeface="Times New Roman"/>
                          <a:cs typeface="Times New Roman"/>
                        </a:rPr>
                        <a:t> same </a:t>
                      </a:r>
                      <a:r>
                        <a:rPr sz="1800" spc="-10" dirty="0">
                          <a:latin typeface="Times New Roman"/>
                          <a:cs typeface="Times New Roman"/>
                        </a:rPr>
                        <a:t>study.</a:t>
                      </a:r>
                      <a:endParaRPr sz="1800">
                        <a:latin typeface="Times New Roman"/>
                        <a:cs typeface="Times New Roman"/>
                      </a:endParaRPr>
                    </a:p>
                  </a:txBody>
                  <a:tcPr marL="0" marR="0" marT="0" marB="0">
                    <a:lnL w="12700">
                      <a:solidFill>
                        <a:srgbClr val="FFFFFF"/>
                      </a:solidFill>
                      <a:prstDash val="solid"/>
                    </a:lnL>
                    <a:solidFill>
                      <a:srgbClr val="E9EBF4"/>
                    </a:solidFill>
                  </a:tcPr>
                </a:tc>
                <a:extLst>
                  <a:ext uri="{0D108BD9-81ED-4DB2-BD59-A6C34878D82A}">
                    <a16:rowId xmlns:a16="http://schemas.microsoft.com/office/drawing/2014/main" val="10000"/>
                  </a:ext>
                </a:extLst>
              </a:tr>
            </a:tbl>
          </a:graphicData>
        </a:graphic>
      </p:graphicFrame>
      <p:graphicFrame>
        <p:nvGraphicFramePr>
          <p:cNvPr id="3" name="object 3"/>
          <p:cNvGraphicFramePr>
            <a:graphicFrameLocks noGrp="1"/>
          </p:cNvGraphicFramePr>
          <p:nvPr/>
        </p:nvGraphicFramePr>
        <p:xfrm>
          <a:off x="954328" y="3073907"/>
          <a:ext cx="10623549" cy="1313815"/>
        </p:xfrm>
        <a:graphic>
          <a:graphicData uri="http://schemas.openxmlformats.org/drawingml/2006/table">
            <a:tbl>
              <a:tblPr firstRow="1" bandRow="1">
                <a:tableStyleId>{2D5ABB26-0587-4C30-8999-92F81FD0307C}</a:tableStyleId>
              </a:tblPr>
              <a:tblGrid>
                <a:gridCol w="536575">
                  <a:extLst>
                    <a:ext uri="{9D8B030D-6E8A-4147-A177-3AD203B41FA5}">
                      <a16:colId xmlns:a16="http://schemas.microsoft.com/office/drawing/2014/main" val="20000"/>
                    </a:ext>
                  </a:extLst>
                </a:gridCol>
                <a:gridCol w="2167890">
                  <a:extLst>
                    <a:ext uri="{9D8B030D-6E8A-4147-A177-3AD203B41FA5}">
                      <a16:colId xmlns:a16="http://schemas.microsoft.com/office/drawing/2014/main" val="20001"/>
                    </a:ext>
                  </a:extLst>
                </a:gridCol>
                <a:gridCol w="671195">
                  <a:extLst>
                    <a:ext uri="{9D8B030D-6E8A-4147-A177-3AD203B41FA5}">
                      <a16:colId xmlns:a16="http://schemas.microsoft.com/office/drawing/2014/main" val="20002"/>
                    </a:ext>
                  </a:extLst>
                </a:gridCol>
                <a:gridCol w="2027555">
                  <a:extLst>
                    <a:ext uri="{9D8B030D-6E8A-4147-A177-3AD203B41FA5}">
                      <a16:colId xmlns:a16="http://schemas.microsoft.com/office/drawing/2014/main" val="20003"/>
                    </a:ext>
                  </a:extLst>
                </a:gridCol>
                <a:gridCol w="2759709">
                  <a:extLst>
                    <a:ext uri="{9D8B030D-6E8A-4147-A177-3AD203B41FA5}">
                      <a16:colId xmlns:a16="http://schemas.microsoft.com/office/drawing/2014/main" val="20004"/>
                    </a:ext>
                  </a:extLst>
                </a:gridCol>
                <a:gridCol w="2460625">
                  <a:extLst>
                    <a:ext uri="{9D8B030D-6E8A-4147-A177-3AD203B41FA5}">
                      <a16:colId xmlns:a16="http://schemas.microsoft.com/office/drawing/2014/main" val="20005"/>
                    </a:ext>
                  </a:extLst>
                </a:gridCol>
              </a:tblGrid>
              <a:tr h="1313815">
                <a:tc>
                  <a:txBody>
                    <a:bodyPr/>
                    <a:lstStyle/>
                    <a:p>
                      <a:pPr marL="90805">
                        <a:lnSpc>
                          <a:spcPct val="100000"/>
                        </a:lnSpc>
                        <a:spcBef>
                          <a:spcPts val="190"/>
                        </a:spcBef>
                      </a:pPr>
                      <a:r>
                        <a:rPr sz="1800" spc="-50" dirty="0">
                          <a:latin typeface="Calibri"/>
                          <a:cs typeface="Calibri"/>
                        </a:rPr>
                        <a:t>4</a:t>
                      </a:r>
                      <a:endParaRPr sz="1800">
                        <a:latin typeface="Calibri"/>
                        <a:cs typeface="Calibri"/>
                      </a:endParaRPr>
                    </a:p>
                  </a:txBody>
                  <a:tcPr marL="0" marR="0" marT="24130" marB="0">
                    <a:lnR w="12700">
                      <a:solidFill>
                        <a:srgbClr val="FFFFFF"/>
                      </a:solidFill>
                      <a:prstDash val="solid"/>
                    </a:lnR>
                    <a:solidFill>
                      <a:srgbClr val="E9EBF4"/>
                    </a:solidFill>
                  </a:tcPr>
                </a:tc>
                <a:tc>
                  <a:txBody>
                    <a:bodyPr/>
                    <a:lstStyle/>
                    <a:p>
                      <a:pPr marL="2540">
                        <a:lnSpc>
                          <a:spcPts val="1945"/>
                        </a:lnSpc>
                      </a:pPr>
                      <a:r>
                        <a:rPr sz="1800" dirty="0">
                          <a:latin typeface="Times New Roman"/>
                          <a:cs typeface="Times New Roman"/>
                        </a:rPr>
                        <a:t>An</a:t>
                      </a:r>
                      <a:r>
                        <a:rPr sz="1800" spc="-15" dirty="0">
                          <a:latin typeface="Times New Roman"/>
                          <a:cs typeface="Times New Roman"/>
                        </a:rPr>
                        <a:t> </a:t>
                      </a:r>
                      <a:r>
                        <a:rPr sz="1800" dirty="0">
                          <a:latin typeface="Times New Roman"/>
                          <a:cs typeface="Times New Roman"/>
                        </a:rPr>
                        <a:t>Analysis</a:t>
                      </a:r>
                      <a:r>
                        <a:rPr sz="1800" spc="-40" dirty="0">
                          <a:latin typeface="Times New Roman"/>
                          <a:cs typeface="Times New Roman"/>
                        </a:rPr>
                        <a:t> </a:t>
                      </a:r>
                      <a:r>
                        <a:rPr sz="1800" dirty="0">
                          <a:latin typeface="Times New Roman"/>
                          <a:cs typeface="Times New Roman"/>
                        </a:rPr>
                        <a:t>of</a:t>
                      </a:r>
                      <a:r>
                        <a:rPr sz="1800" spc="-60" dirty="0">
                          <a:latin typeface="Times New Roman"/>
                          <a:cs typeface="Times New Roman"/>
                        </a:rPr>
                        <a:t> </a:t>
                      </a:r>
                      <a:r>
                        <a:rPr sz="1800" spc="-10" dirty="0">
                          <a:latin typeface="Times New Roman"/>
                          <a:cs typeface="Times New Roman"/>
                        </a:rPr>
                        <a:t>Image</a:t>
                      </a:r>
                      <a:endParaRPr sz="1800">
                        <a:latin typeface="Times New Roman"/>
                        <a:cs typeface="Times New Roman"/>
                      </a:endParaRPr>
                    </a:p>
                    <a:p>
                      <a:pPr marL="2540" marR="43180">
                        <a:lnSpc>
                          <a:spcPct val="95600"/>
                        </a:lnSpc>
                        <a:spcBef>
                          <a:spcPts val="45"/>
                        </a:spcBef>
                      </a:pPr>
                      <a:r>
                        <a:rPr sz="1800" dirty="0">
                          <a:latin typeface="Times New Roman"/>
                          <a:cs typeface="Times New Roman"/>
                        </a:rPr>
                        <a:t>Segmentation</a:t>
                      </a:r>
                      <a:r>
                        <a:rPr sz="1800" spc="-60" dirty="0">
                          <a:latin typeface="Times New Roman"/>
                          <a:cs typeface="Times New Roman"/>
                        </a:rPr>
                        <a:t> </a:t>
                      </a:r>
                      <a:r>
                        <a:rPr sz="1800" spc="-10" dirty="0">
                          <a:latin typeface="Times New Roman"/>
                          <a:cs typeface="Times New Roman"/>
                        </a:rPr>
                        <a:t>Methods </a:t>
                      </a:r>
                      <a:r>
                        <a:rPr sz="1800" dirty="0">
                          <a:latin typeface="Times New Roman"/>
                          <a:cs typeface="Times New Roman"/>
                        </a:rPr>
                        <a:t>for</a:t>
                      </a:r>
                      <a:r>
                        <a:rPr sz="1800" spc="-30" dirty="0">
                          <a:latin typeface="Times New Roman"/>
                          <a:cs typeface="Times New Roman"/>
                        </a:rPr>
                        <a:t> </a:t>
                      </a:r>
                      <a:r>
                        <a:rPr sz="1800" dirty="0">
                          <a:latin typeface="Times New Roman"/>
                          <a:cs typeface="Times New Roman"/>
                        </a:rPr>
                        <a:t>Brain</a:t>
                      </a:r>
                      <a:r>
                        <a:rPr sz="1800" spc="-15" dirty="0">
                          <a:latin typeface="Times New Roman"/>
                          <a:cs typeface="Times New Roman"/>
                        </a:rPr>
                        <a:t> </a:t>
                      </a:r>
                      <a:r>
                        <a:rPr sz="1800" spc="-10" dirty="0">
                          <a:latin typeface="Times New Roman"/>
                          <a:cs typeface="Times New Roman"/>
                        </a:rPr>
                        <a:t>Tumour Detection</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E9EBF4"/>
                    </a:solidFill>
                  </a:tcPr>
                </a:tc>
                <a:tc>
                  <a:txBody>
                    <a:bodyPr/>
                    <a:lstStyle/>
                    <a:p>
                      <a:pPr marL="5715">
                        <a:lnSpc>
                          <a:spcPts val="1989"/>
                        </a:lnSpc>
                      </a:pPr>
                      <a:r>
                        <a:rPr sz="1800" spc="-20" dirty="0">
                          <a:latin typeface="Times New Roman"/>
                          <a:cs typeface="Times New Roman"/>
                        </a:rPr>
                        <a:t>2020</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E9EBF4"/>
                    </a:solidFill>
                  </a:tcPr>
                </a:tc>
                <a:tc>
                  <a:txBody>
                    <a:bodyPr/>
                    <a:lstStyle/>
                    <a:p>
                      <a:pPr marL="5715">
                        <a:lnSpc>
                          <a:spcPts val="1945"/>
                        </a:lnSpc>
                      </a:pPr>
                      <a:r>
                        <a:rPr sz="1800" dirty="0">
                          <a:latin typeface="Times New Roman"/>
                          <a:cs typeface="Times New Roman"/>
                        </a:rPr>
                        <a:t>Anurag</a:t>
                      </a:r>
                      <a:r>
                        <a:rPr sz="1800" spc="-50" dirty="0">
                          <a:latin typeface="Times New Roman"/>
                          <a:cs typeface="Times New Roman"/>
                        </a:rPr>
                        <a:t> </a:t>
                      </a:r>
                      <a:r>
                        <a:rPr sz="1800" spc="-10" dirty="0">
                          <a:latin typeface="Times New Roman"/>
                          <a:cs typeface="Times New Roman"/>
                        </a:rPr>
                        <a:t>Goswami</a:t>
                      </a:r>
                      <a:endParaRPr sz="1800">
                        <a:latin typeface="Times New Roman"/>
                        <a:cs typeface="Times New Roman"/>
                      </a:endParaRPr>
                    </a:p>
                    <a:p>
                      <a:pPr marL="63500">
                        <a:lnSpc>
                          <a:spcPts val="2110"/>
                        </a:lnSpc>
                      </a:pPr>
                      <a:r>
                        <a:rPr sz="1800" dirty="0">
                          <a:latin typeface="Times New Roman"/>
                          <a:cs typeface="Times New Roman"/>
                        </a:rPr>
                        <a:t>&amp;</a:t>
                      </a:r>
                      <a:r>
                        <a:rPr sz="1800" spc="-15" dirty="0">
                          <a:latin typeface="Times New Roman"/>
                          <a:cs typeface="Times New Roman"/>
                        </a:rPr>
                        <a:t> </a:t>
                      </a:r>
                      <a:r>
                        <a:rPr sz="1800" dirty="0">
                          <a:latin typeface="Times New Roman"/>
                          <a:cs typeface="Times New Roman"/>
                        </a:rPr>
                        <a:t>Manish</a:t>
                      </a:r>
                      <a:r>
                        <a:rPr sz="1800" spc="10" dirty="0">
                          <a:latin typeface="Times New Roman"/>
                          <a:cs typeface="Times New Roman"/>
                        </a:rPr>
                        <a:t> </a:t>
                      </a:r>
                      <a:r>
                        <a:rPr sz="1800" spc="-10" dirty="0">
                          <a:latin typeface="Times New Roman"/>
                          <a:cs typeface="Times New Roman"/>
                        </a:rPr>
                        <a:t>Dixit</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E9EBF4"/>
                    </a:solidFill>
                  </a:tcPr>
                </a:tc>
                <a:tc>
                  <a:txBody>
                    <a:bodyPr/>
                    <a:lstStyle/>
                    <a:p>
                      <a:pPr marL="2540">
                        <a:lnSpc>
                          <a:spcPts val="1945"/>
                        </a:lnSpc>
                      </a:pPr>
                      <a:r>
                        <a:rPr sz="1800" dirty="0">
                          <a:latin typeface="Times New Roman"/>
                          <a:cs typeface="Times New Roman"/>
                        </a:rPr>
                        <a:t>Reviews</a:t>
                      </a:r>
                      <a:r>
                        <a:rPr sz="1800" spc="-45" dirty="0">
                          <a:latin typeface="Times New Roman"/>
                          <a:cs typeface="Times New Roman"/>
                        </a:rPr>
                        <a:t> </a:t>
                      </a:r>
                      <a:r>
                        <a:rPr sz="1800" dirty="0">
                          <a:latin typeface="Times New Roman"/>
                          <a:cs typeface="Times New Roman"/>
                        </a:rPr>
                        <a:t>MRI</a:t>
                      </a:r>
                      <a:r>
                        <a:rPr sz="1800" spc="-40" dirty="0">
                          <a:latin typeface="Times New Roman"/>
                          <a:cs typeface="Times New Roman"/>
                        </a:rPr>
                        <a:t> </a:t>
                      </a:r>
                      <a:r>
                        <a:rPr sz="1800" spc="-10" dirty="0">
                          <a:latin typeface="Times New Roman"/>
                          <a:cs typeface="Times New Roman"/>
                        </a:rPr>
                        <a:t>segmentation</a:t>
                      </a:r>
                      <a:endParaRPr sz="1800">
                        <a:latin typeface="Times New Roman"/>
                        <a:cs typeface="Times New Roman"/>
                      </a:endParaRPr>
                    </a:p>
                    <a:p>
                      <a:pPr marL="2540" marR="318135">
                        <a:lnSpc>
                          <a:spcPct val="95600"/>
                        </a:lnSpc>
                        <a:spcBef>
                          <a:spcPts val="45"/>
                        </a:spcBef>
                      </a:pPr>
                      <a:r>
                        <a:rPr sz="1800" dirty="0">
                          <a:latin typeface="Times New Roman"/>
                          <a:cs typeface="Times New Roman"/>
                        </a:rPr>
                        <a:t>methods</a:t>
                      </a:r>
                      <a:r>
                        <a:rPr sz="1800" spc="-25" dirty="0">
                          <a:latin typeface="Times New Roman"/>
                          <a:cs typeface="Times New Roman"/>
                        </a:rPr>
                        <a:t> </a:t>
                      </a:r>
                      <a:r>
                        <a:rPr sz="1800" dirty="0">
                          <a:latin typeface="Times New Roman"/>
                          <a:cs typeface="Times New Roman"/>
                        </a:rPr>
                        <a:t>to</a:t>
                      </a:r>
                      <a:r>
                        <a:rPr sz="1800" spc="-10" dirty="0">
                          <a:latin typeface="Times New Roman"/>
                          <a:cs typeface="Times New Roman"/>
                        </a:rPr>
                        <a:t> </a:t>
                      </a:r>
                      <a:r>
                        <a:rPr sz="1800" dirty="0">
                          <a:latin typeface="Times New Roman"/>
                          <a:cs typeface="Times New Roman"/>
                        </a:rPr>
                        <a:t>improve</a:t>
                      </a:r>
                      <a:r>
                        <a:rPr sz="1800" spc="-30" dirty="0">
                          <a:latin typeface="Times New Roman"/>
                          <a:cs typeface="Times New Roman"/>
                        </a:rPr>
                        <a:t> </a:t>
                      </a:r>
                      <a:r>
                        <a:rPr sz="1800" spc="-20" dirty="0">
                          <a:latin typeface="Times New Roman"/>
                          <a:cs typeface="Times New Roman"/>
                        </a:rPr>
                        <a:t>tumor </a:t>
                      </a:r>
                      <a:r>
                        <a:rPr sz="1800" dirty="0">
                          <a:latin typeface="Times New Roman"/>
                          <a:cs typeface="Times New Roman"/>
                        </a:rPr>
                        <a:t>region</a:t>
                      </a:r>
                      <a:r>
                        <a:rPr sz="1800" spc="-35" dirty="0">
                          <a:latin typeface="Times New Roman"/>
                          <a:cs typeface="Times New Roman"/>
                        </a:rPr>
                        <a:t> </a:t>
                      </a:r>
                      <a:r>
                        <a:rPr sz="1800" dirty="0">
                          <a:latin typeface="Times New Roman"/>
                          <a:cs typeface="Times New Roman"/>
                        </a:rPr>
                        <a:t>detection</a:t>
                      </a:r>
                      <a:r>
                        <a:rPr sz="1800" spc="-50" dirty="0">
                          <a:latin typeface="Times New Roman"/>
                          <a:cs typeface="Times New Roman"/>
                        </a:rPr>
                        <a:t> </a:t>
                      </a:r>
                      <a:r>
                        <a:rPr sz="1800" spc="-10" dirty="0">
                          <a:latin typeface="Times New Roman"/>
                          <a:cs typeface="Times New Roman"/>
                        </a:rPr>
                        <a:t>before classification.</a:t>
                      </a:r>
                      <a:endParaRPr sz="1800">
                        <a:latin typeface="Times New Roman"/>
                        <a:cs typeface="Times New Roman"/>
                      </a:endParaRPr>
                    </a:p>
                  </a:txBody>
                  <a:tcPr marL="0" marR="0" marT="0" marB="0">
                    <a:lnL w="12700">
                      <a:solidFill>
                        <a:srgbClr val="FFFFFF"/>
                      </a:solidFill>
                      <a:prstDash val="solid"/>
                    </a:lnL>
                    <a:lnR w="12700">
                      <a:solidFill>
                        <a:srgbClr val="FFFFFF"/>
                      </a:solidFill>
                      <a:prstDash val="solid"/>
                    </a:lnR>
                    <a:solidFill>
                      <a:srgbClr val="E9EBF4"/>
                    </a:solidFill>
                  </a:tcPr>
                </a:tc>
                <a:tc>
                  <a:txBody>
                    <a:bodyPr/>
                    <a:lstStyle/>
                    <a:p>
                      <a:pPr marL="2540">
                        <a:lnSpc>
                          <a:spcPts val="1945"/>
                        </a:lnSpc>
                      </a:pPr>
                      <a:r>
                        <a:rPr sz="1800" dirty="0">
                          <a:latin typeface="Times New Roman"/>
                          <a:cs typeface="Times New Roman"/>
                        </a:rPr>
                        <a:t>.Focuses</a:t>
                      </a:r>
                      <a:r>
                        <a:rPr sz="1800" spc="-25" dirty="0">
                          <a:latin typeface="Times New Roman"/>
                          <a:cs typeface="Times New Roman"/>
                        </a:rPr>
                        <a:t> on</a:t>
                      </a:r>
                      <a:endParaRPr sz="1800">
                        <a:latin typeface="Times New Roman"/>
                        <a:cs typeface="Times New Roman"/>
                      </a:endParaRPr>
                    </a:p>
                    <a:p>
                      <a:pPr marL="2540">
                        <a:lnSpc>
                          <a:spcPct val="96000"/>
                        </a:lnSpc>
                        <a:spcBef>
                          <a:spcPts val="10"/>
                        </a:spcBef>
                      </a:pPr>
                      <a:r>
                        <a:rPr sz="1800" dirty="0">
                          <a:latin typeface="Times New Roman"/>
                          <a:cs typeface="Times New Roman"/>
                        </a:rPr>
                        <a:t>preprocessing,</a:t>
                      </a:r>
                      <a:r>
                        <a:rPr sz="1800" spc="-75" dirty="0">
                          <a:latin typeface="Times New Roman"/>
                          <a:cs typeface="Times New Roman"/>
                        </a:rPr>
                        <a:t> </a:t>
                      </a:r>
                      <a:r>
                        <a:rPr sz="1800" spc="-25" dirty="0">
                          <a:latin typeface="Times New Roman"/>
                          <a:cs typeface="Times New Roman"/>
                        </a:rPr>
                        <a:t>not </a:t>
                      </a:r>
                      <a:r>
                        <a:rPr sz="1800" dirty="0">
                          <a:latin typeface="Times New Roman"/>
                          <a:cs typeface="Times New Roman"/>
                        </a:rPr>
                        <a:t>architecture</a:t>
                      </a:r>
                      <a:r>
                        <a:rPr sz="1800" spc="-60" dirty="0">
                          <a:latin typeface="Times New Roman"/>
                          <a:cs typeface="Times New Roman"/>
                        </a:rPr>
                        <a:t> </a:t>
                      </a:r>
                      <a:r>
                        <a:rPr sz="1800" dirty="0">
                          <a:latin typeface="Times New Roman"/>
                          <a:cs typeface="Times New Roman"/>
                        </a:rPr>
                        <a:t>comparison</a:t>
                      </a:r>
                      <a:r>
                        <a:rPr sz="1800" spc="-45" dirty="0">
                          <a:latin typeface="Times New Roman"/>
                          <a:cs typeface="Times New Roman"/>
                        </a:rPr>
                        <a:t> </a:t>
                      </a:r>
                      <a:r>
                        <a:rPr sz="1800" spc="-25" dirty="0">
                          <a:latin typeface="Times New Roman"/>
                          <a:cs typeface="Times New Roman"/>
                        </a:rPr>
                        <a:t>or </a:t>
                      </a:r>
                      <a:r>
                        <a:rPr sz="1800" dirty="0">
                          <a:latin typeface="Times New Roman"/>
                          <a:cs typeface="Times New Roman"/>
                        </a:rPr>
                        <a:t>custom</a:t>
                      </a:r>
                      <a:r>
                        <a:rPr sz="1800" spc="-10" dirty="0">
                          <a:latin typeface="Times New Roman"/>
                          <a:cs typeface="Times New Roman"/>
                        </a:rPr>
                        <a:t> model development.</a:t>
                      </a:r>
                      <a:endParaRPr sz="1800">
                        <a:latin typeface="Times New Roman"/>
                        <a:cs typeface="Times New Roman"/>
                      </a:endParaRPr>
                    </a:p>
                  </a:txBody>
                  <a:tcPr marL="0" marR="0" marT="0" marB="0">
                    <a:lnL w="12700">
                      <a:solidFill>
                        <a:srgbClr val="FFFFFF"/>
                      </a:solidFill>
                      <a:prstDash val="solid"/>
                    </a:lnL>
                    <a:solidFill>
                      <a:srgbClr val="E9EBF4"/>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E460E4-8DA8-2F11-F523-A5105AF61523}"/>
              </a:ext>
            </a:extLst>
          </p:cNvPr>
          <p:cNvSpPr txBox="1"/>
          <p:nvPr/>
        </p:nvSpPr>
        <p:spPr>
          <a:xfrm>
            <a:off x="805543" y="1055523"/>
            <a:ext cx="10613571" cy="2746906"/>
          </a:xfrm>
          <a:prstGeom prst="rect">
            <a:avLst/>
          </a:prstGeom>
          <a:noFill/>
        </p:spPr>
        <p:txBody>
          <a:bodyPr wrap="square" rtlCol="0">
            <a:spAutoFit/>
          </a:bodyPr>
          <a:lstStyle/>
          <a:p>
            <a:pPr marL="12700">
              <a:lnSpc>
                <a:spcPct val="100000"/>
              </a:lnSpc>
              <a:spcBef>
                <a:spcPts val="95"/>
              </a:spcBef>
              <a:tabLst>
                <a:tab pos="8097520" algn="l"/>
              </a:tabLst>
            </a:pPr>
            <a:r>
              <a:rPr lang="en-IN" sz="4400" spc="-20" dirty="0"/>
              <a:t>Problem Statement</a:t>
            </a:r>
          </a:p>
          <a:p>
            <a:pPr marL="12700">
              <a:lnSpc>
                <a:spcPct val="100000"/>
              </a:lnSpc>
              <a:spcBef>
                <a:spcPts val="95"/>
              </a:spcBef>
              <a:tabLst>
                <a:tab pos="8097520" algn="l"/>
              </a:tabLst>
            </a:pPr>
            <a:endParaRPr lang="en-IN" spc="-20" dirty="0"/>
          </a:p>
          <a:p>
            <a:pPr marL="12700" algn="just">
              <a:spcBef>
                <a:spcPts val="95"/>
              </a:spcBef>
              <a:tabLst>
                <a:tab pos="8097520" algn="l"/>
              </a:tabLst>
            </a:pPr>
            <a:r>
              <a:rPr lang="en-US" dirty="0"/>
              <a:t>Rare brain tumors often go undetected due to limited diagnostic data and lack of expert access, especially in rural areas. Manual MRI interpretation is time-consuming and prone to error. This project proposes an AI-based system using a custom deep learning model to classify brain MRI images into two categories—Tumor and Non-Tumor—and compares its performance with standard models like VGG16 and ResNet50 to evaluate improvements in accuracy and reliability.</a:t>
            </a:r>
            <a:endParaRPr lang="en-IN" dirty="0"/>
          </a:p>
          <a:p>
            <a:pPr marL="12700">
              <a:lnSpc>
                <a:spcPct val="100000"/>
              </a:lnSpc>
              <a:spcBef>
                <a:spcPts val="95"/>
              </a:spcBef>
              <a:tabLst>
                <a:tab pos="8097520" algn="l"/>
              </a:tabLst>
            </a:pPr>
            <a:endParaRPr lang="en-IN" spc="-50" dirty="0"/>
          </a:p>
        </p:txBody>
      </p:sp>
    </p:spTree>
    <p:extLst>
      <p:ext uri="{BB962C8B-B14F-4D97-AF65-F5344CB8AC3E}">
        <p14:creationId xmlns:p14="http://schemas.microsoft.com/office/powerpoint/2010/main" val="1865138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200989"/>
            <a:ext cx="7192617" cy="923585"/>
          </a:xfrm>
          <a:prstGeom prst="rect">
            <a:avLst/>
          </a:prstGeom>
        </p:spPr>
        <p:txBody>
          <a:bodyPr vert="horz" wrap="square" lIns="0" tIns="244093" rIns="0" bIns="0" rtlCol="0">
            <a:spAutoFit/>
          </a:bodyPr>
          <a:lstStyle/>
          <a:p>
            <a:pPr marL="128270">
              <a:lnSpc>
                <a:spcPct val="100000"/>
              </a:lnSpc>
              <a:spcBef>
                <a:spcPts val="95"/>
              </a:spcBef>
            </a:pPr>
            <a:r>
              <a:rPr spc="-10" dirty="0"/>
              <a:t>Objective</a:t>
            </a:r>
          </a:p>
        </p:txBody>
      </p:sp>
      <p:sp>
        <p:nvSpPr>
          <p:cNvPr id="3" name="object 3"/>
          <p:cNvSpPr txBox="1"/>
          <p:nvPr/>
        </p:nvSpPr>
        <p:spPr>
          <a:xfrm>
            <a:off x="572820" y="1213307"/>
            <a:ext cx="10634980" cy="3039294"/>
          </a:xfrm>
          <a:prstGeom prst="rect">
            <a:avLst/>
          </a:prstGeom>
        </p:spPr>
        <p:txBody>
          <a:bodyPr vert="horz" wrap="square" lIns="0" tIns="12700" rIns="0" bIns="0" rtlCol="0">
            <a:spAutoFit/>
          </a:bodyPr>
          <a:lstStyle/>
          <a:p>
            <a:pPr marL="355600" indent="-342900" algn="just">
              <a:lnSpc>
                <a:spcPct val="100000"/>
              </a:lnSpc>
              <a:spcBef>
                <a:spcPts val="100"/>
              </a:spcBef>
              <a:buFont typeface="+mj-lt"/>
              <a:buAutoNum type="arabicPeriod"/>
            </a:pPr>
            <a:r>
              <a:rPr sz="1800" dirty="0">
                <a:cs typeface="Calibri"/>
              </a:rPr>
              <a:t>The</a:t>
            </a:r>
            <a:r>
              <a:rPr sz="1800" spc="65" dirty="0">
                <a:cs typeface="Calibri"/>
              </a:rPr>
              <a:t>  </a:t>
            </a:r>
            <a:r>
              <a:rPr sz="1800" dirty="0">
                <a:cs typeface="Calibri"/>
              </a:rPr>
              <a:t>primary</a:t>
            </a:r>
            <a:r>
              <a:rPr sz="1800" spc="70" dirty="0">
                <a:cs typeface="Calibri"/>
              </a:rPr>
              <a:t>  </a:t>
            </a:r>
            <a:r>
              <a:rPr sz="1800" dirty="0">
                <a:cs typeface="Calibri"/>
              </a:rPr>
              <a:t>aim</a:t>
            </a:r>
            <a:r>
              <a:rPr sz="1800" spc="65" dirty="0">
                <a:cs typeface="Calibri"/>
              </a:rPr>
              <a:t>  </a:t>
            </a:r>
            <a:r>
              <a:rPr sz="1800" dirty="0">
                <a:cs typeface="Calibri"/>
              </a:rPr>
              <a:t>of</a:t>
            </a:r>
            <a:r>
              <a:rPr sz="1800" spc="75" dirty="0">
                <a:cs typeface="Calibri"/>
              </a:rPr>
              <a:t>  </a:t>
            </a:r>
            <a:r>
              <a:rPr sz="1800" dirty="0">
                <a:cs typeface="Calibri"/>
              </a:rPr>
              <a:t>this</a:t>
            </a:r>
            <a:r>
              <a:rPr sz="1800" spc="65" dirty="0">
                <a:cs typeface="Calibri"/>
              </a:rPr>
              <a:t>  </a:t>
            </a:r>
            <a:r>
              <a:rPr sz="1800" dirty="0">
                <a:cs typeface="Calibri"/>
              </a:rPr>
              <a:t>project</a:t>
            </a:r>
            <a:r>
              <a:rPr sz="1800" spc="70" dirty="0">
                <a:cs typeface="Calibri"/>
              </a:rPr>
              <a:t>  </a:t>
            </a:r>
            <a:r>
              <a:rPr sz="1800" dirty="0">
                <a:cs typeface="Calibri"/>
              </a:rPr>
              <a:t>is</a:t>
            </a:r>
            <a:r>
              <a:rPr sz="1800" spc="65" dirty="0">
                <a:cs typeface="Calibri"/>
              </a:rPr>
              <a:t>  </a:t>
            </a:r>
            <a:r>
              <a:rPr sz="1800" dirty="0">
                <a:cs typeface="Calibri"/>
              </a:rPr>
              <a:t>to</a:t>
            </a:r>
            <a:r>
              <a:rPr sz="1800" spc="75" dirty="0">
                <a:cs typeface="Calibri"/>
              </a:rPr>
              <a:t>  </a:t>
            </a:r>
            <a:r>
              <a:rPr sz="1800" dirty="0">
                <a:cs typeface="Calibri"/>
              </a:rPr>
              <a:t>develop</a:t>
            </a:r>
            <a:r>
              <a:rPr sz="1800" spc="65" dirty="0">
                <a:cs typeface="Calibri"/>
              </a:rPr>
              <a:t>  </a:t>
            </a:r>
            <a:r>
              <a:rPr sz="1800" dirty="0">
                <a:cs typeface="Calibri"/>
              </a:rPr>
              <a:t>a</a:t>
            </a:r>
            <a:r>
              <a:rPr sz="1800" spc="70" dirty="0">
                <a:cs typeface="Calibri"/>
              </a:rPr>
              <a:t>  </a:t>
            </a:r>
            <a:r>
              <a:rPr sz="1800" dirty="0">
                <a:cs typeface="Calibri"/>
              </a:rPr>
              <a:t>deep</a:t>
            </a:r>
            <a:r>
              <a:rPr sz="1800" spc="65" dirty="0">
                <a:cs typeface="Calibri"/>
              </a:rPr>
              <a:t>  </a:t>
            </a:r>
            <a:r>
              <a:rPr sz="1800" spc="-10" dirty="0">
                <a:cs typeface="Calibri"/>
              </a:rPr>
              <a:t>learning-</a:t>
            </a:r>
            <a:r>
              <a:rPr sz="1800" dirty="0">
                <a:cs typeface="Calibri"/>
              </a:rPr>
              <a:t>based</a:t>
            </a:r>
            <a:r>
              <a:rPr sz="1800" spc="65" dirty="0">
                <a:cs typeface="Calibri"/>
              </a:rPr>
              <a:t>  </a:t>
            </a:r>
            <a:r>
              <a:rPr sz="1800" dirty="0">
                <a:cs typeface="Calibri"/>
              </a:rPr>
              <a:t>system</a:t>
            </a:r>
            <a:r>
              <a:rPr sz="1800" spc="70" dirty="0">
                <a:cs typeface="Calibri"/>
              </a:rPr>
              <a:t>  </a:t>
            </a:r>
            <a:r>
              <a:rPr sz="1800" dirty="0">
                <a:cs typeface="Calibri"/>
              </a:rPr>
              <a:t>for</a:t>
            </a:r>
            <a:r>
              <a:rPr sz="1800" spc="70" dirty="0">
                <a:cs typeface="Calibri"/>
              </a:rPr>
              <a:t>  </a:t>
            </a:r>
            <a:r>
              <a:rPr sz="1800" dirty="0">
                <a:cs typeface="Calibri"/>
              </a:rPr>
              <a:t>accurate</a:t>
            </a:r>
            <a:r>
              <a:rPr sz="1800" spc="65" dirty="0">
                <a:cs typeface="Calibri"/>
              </a:rPr>
              <a:t>  </a:t>
            </a:r>
            <a:r>
              <a:rPr sz="1800" dirty="0">
                <a:cs typeface="Calibri"/>
              </a:rPr>
              <a:t>detection</a:t>
            </a:r>
            <a:r>
              <a:rPr sz="1800" spc="65" dirty="0">
                <a:cs typeface="Calibri"/>
              </a:rPr>
              <a:t>  </a:t>
            </a:r>
            <a:r>
              <a:rPr sz="1800" spc="-25" dirty="0">
                <a:cs typeface="Calibri"/>
              </a:rPr>
              <a:t>and</a:t>
            </a:r>
            <a:r>
              <a:rPr lang="en-IN" spc="-25" dirty="0">
                <a:cs typeface="Calibri"/>
              </a:rPr>
              <a:t> </a:t>
            </a:r>
            <a:r>
              <a:rPr sz="1800" dirty="0">
                <a:cs typeface="Calibri"/>
              </a:rPr>
              <a:t>classification</a:t>
            </a:r>
            <a:r>
              <a:rPr sz="1800" spc="-40" dirty="0">
                <a:cs typeface="Calibri"/>
              </a:rPr>
              <a:t> </a:t>
            </a:r>
            <a:r>
              <a:rPr sz="1800" dirty="0">
                <a:cs typeface="Calibri"/>
              </a:rPr>
              <a:t>of</a:t>
            </a:r>
            <a:r>
              <a:rPr sz="1800" spc="-35" dirty="0">
                <a:cs typeface="Calibri"/>
              </a:rPr>
              <a:t> </a:t>
            </a:r>
            <a:r>
              <a:rPr sz="1800" dirty="0">
                <a:cs typeface="Calibri"/>
              </a:rPr>
              <a:t>rare</a:t>
            </a:r>
            <a:r>
              <a:rPr sz="1800" spc="-40" dirty="0">
                <a:cs typeface="Calibri"/>
              </a:rPr>
              <a:t> </a:t>
            </a:r>
            <a:r>
              <a:rPr sz="1800" dirty="0">
                <a:cs typeface="Calibri"/>
              </a:rPr>
              <a:t>brain</a:t>
            </a:r>
            <a:r>
              <a:rPr sz="1800" spc="-40" dirty="0">
                <a:cs typeface="Calibri"/>
              </a:rPr>
              <a:t> </a:t>
            </a:r>
            <a:r>
              <a:rPr sz="1800" dirty="0">
                <a:cs typeface="Calibri"/>
              </a:rPr>
              <a:t>tumors</a:t>
            </a:r>
            <a:r>
              <a:rPr sz="1800" spc="-20" dirty="0">
                <a:cs typeface="Calibri"/>
              </a:rPr>
              <a:t> </a:t>
            </a:r>
            <a:r>
              <a:rPr sz="1800" dirty="0">
                <a:cs typeface="Calibri"/>
              </a:rPr>
              <a:t>using</a:t>
            </a:r>
            <a:r>
              <a:rPr sz="1800" spc="-35" dirty="0">
                <a:cs typeface="Calibri"/>
              </a:rPr>
              <a:t> </a:t>
            </a:r>
            <a:r>
              <a:rPr sz="1800" dirty="0">
                <a:cs typeface="Calibri"/>
              </a:rPr>
              <a:t>MRI</a:t>
            </a:r>
            <a:r>
              <a:rPr sz="1800" spc="-25" dirty="0">
                <a:cs typeface="Calibri"/>
              </a:rPr>
              <a:t> </a:t>
            </a:r>
            <a:r>
              <a:rPr sz="1800" dirty="0">
                <a:cs typeface="Calibri"/>
              </a:rPr>
              <a:t>data.</a:t>
            </a:r>
            <a:r>
              <a:rPr sz="1800" spc="-35" dirty="0">
                <a:cs typeface="Calibri"/>
              </a:rPr>
              <a:t> </a:t>
            </a:r>
            <a:endParaRPr lang="en-IN" sz="1800" spc="-35" dirty="0">
              <a:cs typeface="Calibri"/>
            </a:endParaRPr>
          </a:p>
          <a:p>
            <a:pPr marL="355600" indent="-342900" algn="just">
              <a:lnSpc>
                <a:spcPct val="100000"/>
              </a:lnSpc>
              <a:spcBef>
                <a:spcPts val="100"/>
              </a:spcBef>
              <a:buFont typeface="+mj-lt"/>
              <a:buAutoNum type="arabicPeriod"/>
            </a:pPr>
            <a:endParaRPr lang="en-IN" spc="-35" dirty="0">
              <a:cs typeface="Calibri"/>
            </a:endParaRPr>
          </a:p>
          <a:p>
            <a:pPr marL="355600" indent="-342900" algn="just">
              <a:lnSpc>
                <a:spcPct val="100000"/>
              </a:lnSpc>
              <a:spcBef>
                <a:spcPts val="100"/>
              </a:spcBef>
              <a:buFont typeface="+mj-lt"/>
              <a:buAutoNum type="arabicPeriod"/>
            </a:pPr>
            <a:r>
              <a:rPr lang="en-US" sz="1800" spc="-35" dirty="0">
                <a:cs typeface="Calibri"/>
              </a:rPr>
              <a:t>To enhance the reliability of rare case detection and support early-stage diagnosis in medical systems through result analysis using graphs, tables, and performance curves.</a:t>
            </a:r>
          </a:p>
          <a:p>
            <a:pPr marL="355600" indent="-342900" algn="just">
              <a:lnSpc>
                <a:spcPct val="100000"/>
              </a:lnSpc>
              <a:spcBef>
                <a:spcPts val="100"/>
              </a:spcBef>
              <a:buFont typeface="+mj-lt"/>
              <a:buAutoNum type="arabicPeriod"/>
            </a:pPr>
            <a:endParaRPr lang="en-US" sz="1800" spc="-35" dirty="0">
              <a:cs typeface="Calibri"/>
            </a:endParaRPr>
          </a:p>
          <a:p>
            <a:pPr marL="355600" indent="-342900" algn="just">
              <a:lnSpc>
                <a:spcPct val="100000"/>
              </a:lnSpc>
              <a:spcBef>
                <a:spcPts val="100"/>
              </a:spcBef>
              <a:buFont typeface="+mj-lt"/>
              <a:buAutoNum type="arabicPeriod"/>
            </a:pPr>
            <a:r>
              <a:rPr lang="en-US" sz="1800" spc="-35" dirty="0">
                <a:cs typeface="Calibri"/>
              </a:rPr>
              <a:t>To design and implement a custom deep learning model  for accurate detection and classification of rare brain tumors using MRI data.</a:t>
            </a:r>
          </a:p>
          <a:p>
            <a:pPr marL="355600" indent="-342900">
              <a:lnSpc>
                <a:spcPct val="100000"/>
              </a:lnSpc>
              <a:spcBef>
                <a:spcPts val="100"/>
              </a:spcBef>
              <a:buFont typeface="+mj-lt"/>
              <a:buAutoNum type="arabicPeriod"/>
            </a:pPr>
            <a:endParaRPr lang="en-US" sz="1800" spc="-35" dirty="0">
              <a:latin typeface="Calibri"/>
              <a:cs typeface="Calibri"/>
            </a:endParaRPr>
          </a:p>
          <a:p>
            <a:pPr marL="12700">
              <a:lnSpc>
                <a:spcPct val="100000"/>
              </a:lnSpc>
              <a:spcBef>
                <a:spcPts val="1535"/>
              </a:spcBef>
            </a:pPr>
            <a:endParaRPr sz="1800" dirty="0">
              <a:latin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949" rIns="0" bIns="0" rtlCol="0">
            <a:spAutoFit/>
          </a:bodyPr>
          <a:lstStyle/>
          <a:p>
            <a:pPr marL="238125">
              <a:lnSpc>
                <a:spcPct val="100000"/>
              </a:lnSpc>
              <a:spcBef>
                <a:spcPts val="95"/>
              </a:spcBef>
            </a:pPr>
            <a:r>
              <a:rPr spc="-10" dirty="0"/>
              <a:t>MOTIVATION</a:t>
            </a:r>
          </a:p>
        </p:txBody>
      </p:sp>
      <p:sp>
        <p:nvSpPr>
          <p:cNvPr id="3" name="object 3"/>
          <p:cNvSpPr txBox="1"/>
          <p:nvPr/>
        </p:nvSpPr>
        <p:spPr>
          <a:xfrm>
            <a:off x="688644" y="1670684"/>
            <a:ext cx="10630535" cy="2751394"/>
          </a:xfrm>
          <a:prstGeom prst="rect">
            <a:avLst/>
          </a:prstGeom>
        </p:spPr>
        <p:txBody>
          <a:bodyPr vert="horz" wrap="square" lIns="0" tIns="12700" rIns="0" bIns="0" rtlCol="0">
            <a:spAutoFit/>
          </a:bodyPr>
          <a:lstStyle/>
          <a:p>
            <a:pPr marL="298450" indent="-285750" algn="just">
              <a:lnSpc>
                <a:spcPct val="100000"/>
              </a:lnSpc>
              <a:spcBef>
                <a:spcPts val="100"/>
              </a:spcBef>
              <a:buFont typeface="Arial" panose="020B0604020202020204" pitchFamily="34" charset="0"/>
              <a:buChar char="•"/>
            </a:pPr>
            <a:r>
              <a:rPr sz="1800" dirty="0">
                <a:latin typeface="Calibri"/>
                <a:cs typeface="Calibri"/>
              </a:rPr>
              <a:t>Brain</a:t>
            </a:r>
            <a:r>
              <a:rPr sz="1800" spc="145" dirty="0">
                <a:latin typeface="Calibri"/>
                <a:cs typeface="Calibri"/>
              </a:rPr>
              <a:t> </a:t>
            </a:r>
            <a:r>
              <a:rPr sz="1800" dirty="0">
                <a:latin typeface="Calibri"/>
                <a:cs typeface="Calibri"/>
              </a:rPr>
              <a:t>tumor</a:t>
            </a:r>
            <a:r>
              <a:rPr sz="1800" spc="155" dirty="0">
                <a:latin typeface="Calibri"/>
                <a:cs typeface="Calibri"/>
              </a:rPr>
              <a:t> </a:t>
            </a:r>
            <a:r>
              <a:rPr sz="1800" dirty="0">
                <a:latin typeface="Calibri"/>
                <a:cs typeface="Calibri"/>
              </a:rPr>
              <a:t>detection</a:t>
            </a:r>
            <a:r>
              <a:rPr sz="1800" spc="175" dirty="0">
                <a:latin typeface="Calibri"/>
                <a:cs typeface="Calibri"/>
              </a:rPr>
              <a:t> </a:t>
            </a:r>
            <a:r>
              <a:rPr sz="1800" dirty="0">
                <a:latin typeface="Calibri"/>
                <a:cs typeface="Calibri"/>
              </a:rPr>
              <a:t>is</a:t>
            </a:r>
            <a:r>
              <a:rPr sz="1800" spc="150" dirty="0">
                <a:latin typeface="Calibri"/>
                <a:cs typeface="Calibri"/>
              </a:rPr>
              <a:t> </a:t>
            </a:r>
            <a:r>
              <a:rPr sz="1800" dirty="0">
                <a:latin typeface="Calibri"/>
                <a:cs typeface="Calibri"/>
              </a:rPr>
              <a:t>a</a:t>
            </a:r>
            <a:r>
              <a:rPr sz="1800" spc="160" dirty="0">
                <a:latin typeface="Calibri"/>
                <a:cs typeface="Calibri"/>
              </a:rPr>
              <a:t> </a:t>
            </a:r>
            <a:r>
              <a:rPr sz="1800" dirty="0">
                <a:latin typeface="Calibri"/>
                <a:cs typeface="Calibri"/>
              </a:rPr>
              <a:t>critical</a:t>
            </a:r>
            <a:r>
              <a:rPr sz="1800" spc="155" dirty="0">
                <a:latin typeface="Calibri"/>
                <a:cs typeface="Calibri"/>
              </a:rPr>
              <a:t> </a:t>
            </a:r>
            <a:r>
              <a:rPr sz="1800" dirty="0">
                <a:latin typeface="Calibri"/>
                <a:cs typeface="Calibri"/>
              </a:rPr>
              <a:t>and</a:t>
            </a:r>
            <a:r>
              <a:rPr sz="1800" spc="150" dirty="0">
                <a:latin typeface="Calibri"/>
                <a:cs typeface="Calibri"/>
              </a:rPr>
              <a:t> </a:t>
            </a:r>
            <a:r>
              <a:rPr sz="1800" dirty="0">
                <a:latin typeface="Calibri"/>
                <a:cs typeface="Calibri"/>
              </a:rPr>
              <a:t>time-sensitive</a:t>
            </a:r>
            <a:r>
              <a:rPr sz="1800" spc="155" dirty="0">
                <a:latin typeface="Calibri"/>
                <a:cs typeface="Calibri"/>
              </a:rPr>
              <a:t> </a:t>
            </a:r>
            <a:r>
              <a:rPr sz="1800" dirty="0">
                <a:latin typeface="Calibri"/>
                <a:cs typeface="Calibri"/>
              </a:rPr>
              <a:t>task</a:t>
            </a:r>
            <a:r>
              <a:rPr sz="1800" spc="155" dirty="0">
                <a:latin typeface="Calibri"/>
                <a:cs typeface="Calibri"/>
              </a:rPr>
              <a:t> </a:t>
            </a:r>
            <a:r>
              <a:rPr sz="1800" dirty="0">
                <a:latin typeface="Calibri"/>
                <a:cs typeface="Calibri"/>
              </a:rPr>
              <a:t>in</a:t>
            </a:r>
            <a:r>
              <a:rPr sz="1800" spc="150" dirty="0">
                <a:latin typeface="Calibri"/>
                <a:cs typeface="Calibri"/>
              </a:rPr>
              <a:t> </a:t>
            </a:r>
            <a:r>
              <a:rPr sz="1800" dirty="0">
                <a:latin typeface="Calibri"/>
                <a:cs typeface="Calibri"/>
              </a:rPr>
              <a:t>medical</a:t>
            </a:r>
            <a:r>
              <a:rPr sz="1800" spc="155" dirty="0">
                <a:latin typeface="Calibri"/>
                <a:cs typeface="Calibri"/>
              </a:rPr>
              <a:t> </a:t>
            </a:r>
            <a:r>
              <a:rPr sz="1800" dirty="0">
                <a:latin typeface="Calibri"/>
                <a:cs typeface="Calibri"/>
              </a:rPr>
              <a:t>diagnosis.</a:t>
            </a:r>
            <a:r>
              <a:rPr sz="1800" spc="185" dirty="0">
                <a:latin typeface="Calibri"/>
                <a:cs typeface="Calibri"/>
              </a:rPr>
              <a:t> </a:t>
            </a:r>
            <a:r>
              <a:rPr sz="1800" dirty="0">
                <a:latin typeface="Calibri"/>
                <a:cs typeface="Calibri"/>
              </a:rPr>
              <a:t>While</a:t>
            </a:r>
            <a:r>
              <a:rPr sz="1800" spc="175" dirty="0">
                <a:latin typeface="Calibri"/>
                <a:cs typeface="Calibri"/>
              </a:rPr>
              <a:t> </a:t>
            </a:r>
            <a:r>
              <a:rPr sz="1800" dirty="0">
                <a:latin typeface="Calibri"/>
                <a:cs typeface="Calibri"/>
              </a:rPr>
              <a:t>deep</a:t>
            </a:r>
            <a:r>
              <a:rPr sz="1800" spc="170" dirty="0">
                <a:latin typeface="Calibri"/>
                <a:cs typeface="Calibri"/>
              </a:rPr>
              <a:t> </a:t>
            </a:r>
            <a:r>
              <a:rPr sz="1800" dirty="0">
                <a:latin typeface="Calibri"/>
                <a:cs typeface="Calibri"/>
              </a:rPr>
              <a:t>learning</a:t>
            </a:r>
            <a:r>
              <a:rPr sz="1800" spc="175" dirty="0">
                <a:latin typeface="Calibri"/>
                <a:cs typeface="Calibri"/>
              </a:rPr>
              <a:t> </a:t>
            </a:r>
            <a:r>
              <a:rPr sz="1800" dirty="0">
                <a:latin typeface="Calibri"/>
                <a:cs typeface="Calibri"/>
              </a:rPr>
              <a:t>has</a:t>
            </a:r>
            <a:r>
              <a:rPr sz="1800" spc="180" dirty="0">
                <a:latin typeface="Calibri"/>
                <a:cs typeface="Calibri"/>
              </a:rPr>
              <a:t> </a:t>
            </a:r>
            <a:r>
              <a:rPr sz="1800" spc="-10" dirty="0">
                <a:latin typeface="Calibri"/>
                <a:cs typeface="Calibri"/>
              </a:rPr>
              <a:t>shown</a:t>
            </a:r>
            <a:r>
              <a:rPr lang="en-US" spc="-10" dirty="0">
                <a:latin typeface="Calibri"/>
                <a:cs typeface="Calibri"/>
              </a:rPr>
              <a:t> </a:t>
            </a:r>
            <a:r>
              <a:rPr sz="1800" dirty="0">
                <a:latin typeface="Calibri"/>
                <a:cs typeface="Calibri"/>
              </a:rPr>
              <a:t>great</a:t>
            </a:r>
            <a:r>
              <a:rPr sz="1800" spc="30" dirty="0">
                <a:latin typeface="Calibri"/>
                <a:cs typeface="Calibri"/>
              </a:rPr>
              <a:t> </a:t>
            </a:r>
            <a:r>
              <a:rPr sz="1800" dirty="0">
                <a:latin typeface="Calibri"/>
                <a:cs typeface="Calibri"/>
              </a:rPr>
              <a:t>success</a:t>
            </a:r>
            <a:r>
              <a:rPr sz="1800" spc="50" dirty="0">
                <a:latin typeface="Calibri"/>
                <a:cs typeface="Calibri"/>
              </a:rPr>
              <a:t> </a:t>
            </a:r>
            <a:r>
              <a:rPr sz="1800" dirty="0">
                <a:latin typeface="Calibri"/>
                <a:cs typeface="Calibri"/>
              </a:rPr>
              <a:t>in</a:t>
            </a:r>
            <a:r>
              <a:rPr sz="1800" spc="25" dirty="0">
                <a:latin typeface="Calibri"/>
                <a:cs typeface="Calibri"/>
              </a:rPr>
              <a:t> </a:t>
            </a:r>
            <a:r>
              <a:rPr sz="1800" dirty="0">
                <a:latin typeface="Calibri"/>
                <a:cs typeface="Calibri"/>
              </a:rPr>
              <a:t>medical</a:t>
            </a:r>
            <a:r>
              <a:rPr sz="1800" spc="30" dirty="0">
                <a:latin typeface="Calibri"/>
                <a:cs typeface="Calibri"/>
              </a:rPr>
              <a:t> </a:t>
            </a:r>
            <a:r>
              <a:rPr sz="1800" dirty="0">
                <a:latin typeface="Calibri"/>
                <a:cs typeface="Calibri"/>
              </a:rPr>
              <a:t>imaging,</a:t>
            </a:r>
            <a:r>
              <a:rPr sz="1800" spc="65" dirty="0">
                <a:latin typeface="Calibri"/>
                <a:cs typeface="Calibri"/>
              </a:rPr>
              <a:t> </a:t>
            </a:r>
            <a:r>
              <a:rPr sz="1800" dirty="0">
                <a:latin typeface="Calibri"/>
                <a:cs typeface="Calibri"/>
              </a:rPr>
              <a:t>most</a:t>
            </a:r>
            <a:r>
              <a:rPr sz="1800" spc="30" dirty="0">
                <a:latin typeface="Calibri"/>
                <a:cs typeface="Calibri"/>
              </a:rPr>
              <a:t> </a:t>
            </a:r>
            <a:r>
              <a:rPr sz="1800" dirty="0">
                <a:latin typeface="Calibri"/>
                <a:cs typeface="Calibri"/>
              </a:rPr>
              <a:t>existing</a:t>
            </a:r>
            <a:r>
              <a:rPr sz="1800" spc="30" dirty="0">
                <a:latin typeface="Calibri"/>
                <a:cs typeface="Calibri"/>
              </a:rPr>
              <a:t> </a:t>
            </a:r>
            <a:r>
              <a:rPr sz="1800" dirty="0">
                <a:latin typeface="Calibri"/>
                <a:cs typeface="Calibri"/>
              </a:rPr>
              <a:t>models</a:t>
            </a:r>
            <a:r>
              <a:rPr sz="1800" spc="25" dirty="0">
                <a:latin typeface="Calibri"/>
                <a:cs typeface="Calibri"/>
              </a:rPr>
              <a:t> </a:t>
            </a:r>
            <a:r>
              <a:rPr sz="1800" dirty="0">
                <a:latin typeface="Calibri"/>
                <a:cs typeface="Calibri"/>
              </a:rPr>
              <a:t>perform</a:t>
            </a:r>
            <a:r>
              <a:rPr sz="1800" spc="30" dirty="0">
                <a:latin typeface="Calibri"/>
                <a:cs typeface="Calibri"/>
              </a:rPr>
              <a:t> </a:t>
            </a:r>
            <a:r>
              <a:rPr sz="1800" dirty="0">
                <a:latin typeface="Calibri"/>
                <a:cs typeface="Calibri"/>
              </a:rPr>
              <a:t>well</a:t>
            </a:r>
            <a:r>
              <a:rPr sz="1800" spc="30" dirty="0">
                <a:latin typeface="Calibri"/>
                <a:cs typeface="Calibri"/>
              </a:rPr>
              <a:t> </a:t>
            </a:r>
            <a:r>
              <a:rPr sz="1800" dirty="0">
                <a:latin typeface="Calibri"/>
                <a:cs typeface="Calibri"/>
              </a:rPr>
              <a:t>only</a:t>
            </a:r>
            <a:r>
              <a:rPr sz="1800" spc="35" dirty="0">
                <a:latin typeface="Calibri"/>
                <a:cs typeface="Calibri"/>
              </a:rPr>
              <a:t> </a:t>
            </a:r>
            <a:r>
              <a:rPr sz="1800" dirty="0">
                <a:latin typeface="Calibri"/>
                <a:cs typeface="Calibri"/>
              </a:rPr>
              <a:t>on</a:t>
            </a:r>
            <a:r>
              <a:rPr sz="1800" spc="45" dirty="0">
                <a:latin typeface="Calibri"/>
                <a:cs typeface="Calibri"/>
              </a:rPr>
              <a:t> </a:t>
            </a:r>
            <a:r>
              <a:rPr sz="1800" dirty="0">
                <a:latin typeface="Calibri"/>
                <a:cs typeface="Calibri"/>
              </a:rPr>
              <a:t>common</a:t>
            </a:r>
            <a:r>
              <a:rPr sz="1800" spc="25" dirty="0">
                <a:latin typeface="Calibri"/>
                <a:cs typeface="Calibri"/>
              </a:rPr>
              <a:t> </a:t>
            </a:r>
            <a:r>
              <a:rPr sz="1800" dirty="0">
                <a:latin typeface="Calibri"/>
                <a:cs typeface="Calibri"/>
              </a:rPr>
              <a:t>cases</a:t>
            </a:r>
            <a:r>
              <a:rPr sz="1800" spc="25" dirty="0">
                <a:latin typeface="Calibri"/>
                <a:cs typeface="Calibri"/>
              </a:rPr>
              <a:t> </a:t>
            </a:r>
            <a:r>
              <a:rPr sz="1800" dirty="0">
                <a:latin typeface="Calibri"/>
                <a:cs typeface="Calibri"/>
              </a:rPr>
              <a:t>with</a:t>
            </a:r>
            <a:r>
              <a:rPr sz="1800" spc="20" dirty="0">
                <a:latin typeface="Calibri"/>
                <a:cs typeface="Calibri"/>
              </a:rPr>
              <a:t> </a:t>
            </a:r>
            <a:r>
              <a:rPr sz="1800" dirty="0">
                <a:latin typeface="Calibri"/>
                <a:cs typeface="Calibri"/>
              </a:rPr>
              <a:t>abundant</a:t>
            </a:r>
            <a:r>
              <a:rPr sz="1800" spc="55" dirty="0">
                <a:latin typeface="Calibri"/>
                <a:cs typeface="Calibri"/>
              </a:rPr>
              <a:t> </a:t>
            </a:r>
            <a:r>
              <a:rPr sz="1800" spc="-10" dirty="0">
                <a:latin typeface="Calibri"/>
                <a:cs typeface="Calibri"/>
              </a:rPr>
              <a:t>data.</a:t>
            </a:r>
            <a:endParaRPr lang="en-US" sz="1800" spc="-10" dirty="0">
              <a:latin typeface="Calibri"/>
              <a:cs typeface="Calibri"/>
            </a:endParaRPr>
          </a:p>
          <a:p>
            <a:pPr marL="298450" indent="-285750" algn="just">
              <a:lnSpc>
                <a:spcPct val="100000"/>
              </a:lnSpc>
              <a:spcBef>
                <a:spcPts val="100"/>
              </a:spcBef>
              <a:buFont typeface="Arial" panose="020B0604020202020204" pitchFamily="34" charset="0"/>
              <a:buChar char="•"/>
            </a:pPr>
            <a:r>
              <a:rPr sz="1800" spc="-10" dirty="0">
                <a:latin typeface="Calibri"/>
                <a:cs typeface="Calibri"/>
              </a:rPr>
              <a:t> </a:t>
            </a:r>
            <a:r>
              <a:rPr sz="1800" dirty="0">
                <a:latin typeface="Calibri"/>
                <a:cs typeface="Calibri"/>
              </a:rPr>
              <a:t>Rare</a:t>
            </a:r>
            <a:r>
              <a:rPr sz="1800" spc="245" dirty="0">
                <a:latin typeface="Calibri"/>
                <a:cs typeface="Calibri"/>
              </a:rPr>
              <a:t> </a:t>
            </a:r>
            <a:r>
              <a:rPr sz="1800" dirty="0">
                <a:latin typeface="Calibri"/>
                <a:cs typeface="Calibri"/>
              </a:rPr>
              <a:t>brain</a:t>
            </a:r>
            <a:r>
              <a:rPr sz="1800" spc="245" dirty="0">
                <a:latin typeface="Calibri"/>
                <a:cs typeface="Calibri"/>
              </a:rPr>
              <a:t> </a:t>
            </a:r>
            <a:r>
              <a:rPr sz="1800" dirty="0">
                <a:latin typeface="Calibri"/>
                <a:cs typeface="Calibri"/>
              </a:rPr>
              <a:t>tumors</a:t>
            </a:r>
            <a:r>
              <a:rPr sz="1800" spc="240" dirty="0">
                <a:latin typeface="Calibri"/>
                <a:cs typeface="Calibri"/>
              </a:rPr>
              <a:t> </a:t>
            </a:r>
            <a:r>
              <a:rPr sz="1800" dirty="0">
                <a:latin typeface="Calibri"/>
                <a:cs typeface="Calibri"/>
              </a:rPr>
              <a:t>often</a:t>
            </a:r>
            <a:r>
              <a:rPr sz="1800" spc="250" dirty="0">
                <a:latin typeface="Calibri"/>
                <a:cs typeface="Calibri"/>
              </a:rPr>
              <a:t> </a:t>
            </a:r>
            <a:r>
              <a:rPr sz="1800" dirty="0">
                <a:latin typeface="Calibri"/>
                <a:cs typeface="Calibri"/>
              </a:rPr>
              <a:t>go</a:t>
            </a:r>
            <a:r>
              <a:rPr sz="1800" spc="260" dirty="0">
                <a:latin typeface="Calibri"/>
                <a:cs typeface="Calibri"/>
              </a:rPr>
              <a:t> </a:t>
            </a:r>
            <a:r>
              <a:rPr sz="1800" dirty="0">
                <a:latin typeface="Calibri"/>
                <a:cs typeface="Calibri"/>
              </a:rPr>
              <a:t>undetected</a:t>
            </a:r>
            <a:r>
              <a:rPr sz="1800" spc="245" dirty="0">
                <a:latin typeface="Calibri"/>
                <a:cs typeface="Calibri"/>
              </a:rPr>
              <a:t> </a:t>
            </a:r>
            <a:r>
              <a:rPr sz="1800" dirty="0">
                <a:latin typeface="Calibri"/>
                <a:cs typeface="Calibri"/>
              </a:rPr>
              <a:t>or</a:t>
            </a:r>
            <a:r>
              <a:rPr sz="1800" spc="250" dirty="0">
                <a:latin typeface="Calibri"/>
                <a:cs typeface="Calibri"/>
              </a:rPr>
              <a:t> </a:t>
            </a:r>
            <a:r>
              <a:rPr sz="1800" dirty="0">
                <a:latin typeface="Calibri"/>
                <a:cs typeface="Calibri"/>
              </a:rPr>
              <a:t>misclassified</a:t>
            </a:r>
            <a:r>
              <a:rPr sz="1800" spc="250" dirty="0">
                <a:latin typeface="Calibri"/>
                <a:cs typeface="Calibri"/>
              </a:rPr>
              <a:t> </a:t>
            </a:r>
            <a:r>
              <a:rPr sz="1800" dirty="0">
                <a:latin typeface="Calibri"/>
                <a:cs typeface="Calibri"/>
              </a:rPr>
              <a:t>due</a:t>
            </a:r>
            <a:r>
              <a:rPr sz="1800" spc="245" dirty="0">
                <a:latin typeface="Calibri"/>
                <a:cs typeface="Calibri"/>
              </a:rPr>
              <a:t> </a:t>
            </a:r>
            <a:r>
              <a:rPr sz="1800" dirty="0">
                <a:latin typeface="Calibri"/>
                <a:cs typeface="Calibri"/>
              </a:rPr>
              <a:t>to</a:t>
            </a:r>
            <a:r>
              <a:rPr sz="1800" spc="285" dirty="0">
                <a:latin typeface="Calibri"/>
                <a:cs typeface="Calibri"/>
              </a:rPr>
              <a:t> </a:t>
            </a:r>
            <a:r>
              <a:rPr sz="1800" dirty="0">
                <a:latin typeface="Calibri"/>
                <a:cs typeface="Calibri"/>
              </a:rPr>
              <a:t>limited</a:t>
            </a:r>
            <a:r>
              <a:rPr sz="1800" spc="265" dirty="0">
                <a:latin typeface="Calibri"/>
                <a:cs typeface="Calibri"/>
              </a:rPr>
              <a:t> </a:t>
            </a:r>
            <a:r>
              <a:rPr sz="1800" dirty="0">
                <a:latin typeface="Calibri"/>
                <a:cs typeface="Calibri"/>
              </a:rPr>
              <a:t>datasets</a:t>
            </a:r>
            <a:r>
              <a:rPr sz="1800" spc="240" dirty="0">
                <a:latin typeface="Calibri"/>
                <a:cs typeface="Calibri"/>
              </a:rPr>
              <a:t> </a:t>
            </a:r>
            <a:r>
              <a:rPr sz="1800" dirty="0">
                <a:latin typeface="Calibri"/>
                <a:cs typeface="Calibri"/>
              </a:rPr>
              <a:t>and</a:t>
            </a:r>
            <a:r>
              <a:rPr sz="1800" spc="250" dirty="0">
                <a:latin typeface="Calibri"/>
                <a:cs typeface="Calibri"/>
              </a:rPr>
              <a:t> </a:t>
            </a:r>
            <a:r>
              <a:rPr sz="1800" dirty="0">
                <a:latin typeface="Calibri"/>
                <a:cs typeface="Calibri"/>
              </a:rPr>
              <a:t>subtle</a:t>
            </a:r>
            <a:r>
              <a:rPr sz="1800" spc="270" dirty="0">
                <a:latin typeface="Calibri"/>
                <a:cs typeface="Calibri"/>
              </a:rPr>
              <a:t> </a:t>
            </a:r>
            <a:r>
              <a:rPr sz="1800" dirty="0">
                <a:latin typeface="Calibri"/>
                <a:cs typeface="Calibri"/>
              </a:rPr>
              <a:t>visual</a:t>
            </a:r>
            <a:r>
              <a:rPr sz="1800" spc="250" dirty="0">
                <a:latin typeface="Calibri"/>
                <a:cs typeface="Calibri"/>
              </a:rPr>
              <a:t> </a:t>
            </a:r>
            <a:r>
              <a:rPr sz="1800" spc="-10" dirty="0">
                <a:latin typeface="Calibri"/>
                <a:cs typeface="Calibri"/>
              </a:rPr>
              <a:t>differences, </a:t>
            </a:r>
            <a:r>
              <a:rPr sz="1800" dirty="0">
                <a:latin typeface="Calibri"/>
                <a:cs typeface="Calibri"/>
              </a:rPr>
              <a:t>posing</a:t>
            </a:r>
            <a:r>
              <a:rPr sz="1800" spc="-40" dirty="0">
                <a:latin typeface="Calibri"/>
                <a:cs typeface="Calibri"/>
              </a:rPr>
              <a:t> </a:t>
            </a:r>
            <a:r>
              <a:rPr sz="1800" dirty="0">
                <a:latin typeface="Calibri"/>
                <a:cs typeface="Calibri"/>
              </a:rPr>
              <a:t>serious</a:t>
            </a:r>
            <a:r>
              <a:rPr sz="1800" spc="-35" dirty="0">
                <a:latin typeface="Calibri"/>
                <a:cs typeface="Calibri"/>
              </a:rPr>
              <a:t> </a:t>
            </a:r>
            <a:r>
              <a:rPr sz="1800" dirty="0">
                <a:latin typeface="Calibri"/>
                <a:cs typeface="Calibri"/>
              </a:rPr>
              <a:t>risks</a:t>
            </a:r>
            <a:r>
              <a:rPr sz="1800" spc="-20" dirty="0">
                <a:latin typeface="Calibri"/>
                <a:cs typeface="Calibri"/>
              </a:rPr>
              <a:t> </a:t>
            </a:r>
            <a:r>
              <a:rPr sz="1800" dirty="0">
                <a:latin typeface="Calibri"/>
                <a:cs typeface="Calibri"/>
              </a:rPr>
              <a:t>to</a:t>
            </a:r>
            <a:r>
              <a:rPr sz="1800" spc="-20" dirty="0">
                <a:latin typeface="Calibri"/>
                <a:cs typeface="Calibri"/>
              </a:rPr>
              <a:t> </a:t>
            </a:r>
            <a:r>
              <a:rPr sz="1800" spc="-10" dirty="0">
                <a:latin typeface="Calibri"/>
                <a:cs typeface="Calibri"/>
              </a:rPr>
              <a:t>patients.</a:t>
            </a:r>
            <a:endParaRPr sz="1800" dirty="0">
              <a:latin typeface="Calibri"/>
              <a:cs typeface="Calibri"/>
            </a:endParaRPr>
          </a:p>
          <a:p>
            <a:pPr marL="298450" marR="8255" indent="-285750" algn="just">
              <a:lnSpc>
                <a:spcPct val="167800"/>
              </a:lnSpc>
              <a:spcBef>
                <a:spcPts val="5"/>
              </a:spcBef>
              <a:buFont typeface="Arial" panose="020B0604020202020204" pitchFamily="34" charset="0"/>
              <a:buChar char="•"/>
            </a:pPr>
            <a:r>
              <a:rPr sz="1800" dirty="0">
                <a:latin typeface="Calibri"/>
                <a:cs typeface="Calibri"/>
              </a:rPr>
              <a:t>This</a:t>
            </a:r>
            <a:r>
              <a:rPr sz="1800" spc="20" dirty="0">
                <a:latin typeface="Calibri"/>
                <a:cs typeface="Calibri"/>
              </a:rPr>
              <a:t> </a:t>
            </a:r>
            <a:r>
              <a:rPr sz="1800" dirty="0">
                <a:latin typeface="Calibri"/>
                <a:cs typeface="Calibri"/>
              </a:rPr>
              <a:t>motivates</a:t>
            </a:r>
            <a:r>
              <a:rPr sz="1800" spc="25" dirty="0">
                <a:latin typeface="Calibri"/>
                <a:cs typeface="Calibri"/>
              </a:rPr>
              <a:t> </a:t>
            </a:r>
            <a:r>
              <a:rPr sz="1800" dirty="0">
                <a:latin typeface="Calibri"/>
                <a:cs typeface="Calibri"/>
              </a:rPr>
              <a:t>the</a:t>
            </a:r>
            <a:r>
              <a:rPr sz="1800" spc="45" dirty="0">
                <a:latin typeface="Calibri"/>
                <a:cs typeface="Calibri"/>
              </a:rPr>
              <a:t> </a:t>
            </a:r>
            <a:r>
              <a:rPr sz="1800" dirty="0">
                <a:latin typeface="Calibri"/>
                <a:cs typeface="Calibri"/>
              </a:rPr>
              <a:t>development</a:t>
            </a:r>
            <a:r>
              <a:rPr sz="1800" spc="55" dirty="0">
                <a:latin typeface="Calibri"/>
                <a:cs typeface="Calibri"/>
              </a:rPr>
              <a:t> </a:t>
            </a:r>
            <a:r>
              <a:rPr sz="1800" dirty="0">
                <a:latin typeface="Calibri"/>
                <a:cs typeface="Calibri"/>
              </a:rPr>
              <a:t>of</a:t>
            </a:r>
            <a:r>
              <a:rPr sz="1800" spc="30" dirty="0">
                <a:latin typeface="Calibri"/>
                <a:cs typeface="Calibri"/>
              </a:rPr>
              <a:t> </a:t>
            </a:r>
            <a:r>
              <a:rPr sz="1800" dirty="0">
                <a:latin typeface="Calibri"/>
                <a:cs typeface="Calibri"/>
              </a:rPr>
              <a:t>a</a:t>
            </a:r>
            <a:r>
              <a:rPr sz="1800" spc="35" dirty="0">
                <a:latin typeface="Calibri"/>
                <a:cs typeface="Calibri"/>
              </a:rPr>
              <a:t> </a:t>
            </a:r>
            <a:r>
              <a:rPr sz="1800" dirty="0">
                <a:latin typeface="Calibri"/>
                <a:cs typeface="Calibri"/>
              </a:rPr>
              <a:t>specialized</a:t>
            </a:r>
            <a:r>
              <a:rPr sz="1800" spc="40" dirty="0">
                <a:latin typeface="Calibri"/>
                <a:cs typeface="Calibri"/>
              </a:rPr>
              <a:t> </a:t>
            </a:r>
            <a:r>
              <a:rPr sz="1800" dirty="0">
                <a:latin typeface="Calibri"/>
                <a:cs typeface="Calibri"/>
              </a:rPr>
              <a:t>system</a:t>
            </a:r>
            <a:r>
              <a:rPr sz="1800" spc="35" dirty="0">
                <a:latin typeface="Calibri"/>
                <a:cs typeface="Calibri"/>
              </a:rPr>
              <a:t> </a:t>
            </a:r>
            <a:r>
              <a:rPr sz="1800" dirty="0">
                <a:latin typeface="Calibri"/>
                <a:cs typeface="Calibri"/>
              </a:rPr>
              <a:t>that</a:t>
            </a:r>
            <a:r>
              <a:rPr sz="1800" spc="50" dirty="0">
                <a:latin typeface="Calibri"/>
                <a:cs typeface="Calibri"/>
              </a:rPr>
              <a:t> </a:t>
            </a:r>
            <a:r>
              <a:rPr sz="1800" dirty="0">
                <a:latin typeface="Calibri"/>
                <a:cs typeface="Calibri"/>
              </a:rPr>
              <a:t>can</a:t>
            </a:r>
            <a:r>
              <a:rPr sz="1800" spc="45" dirty="0">
                <a:latin typeface="Calibri"/>
                <a:cs typeface="Calibri"/>
              </a:rPr>
              <a:t> </a:t>
            </a:r>
            <a:r>
              <a:rPr sz="1800" dirty="0">
                <a:latin typeface="Calibri"/>
                <a:cs typeface="Calibri"/>
              </a:rPr>
              <a:t>accurately</a:t>
            </a:r>
            <a:r>
              <a:rPr sz="1800" spc="35" dirty="0">
                <a:latin typeface="Calibri"/>
                <a:cs typeface="Calibri"/>
              </a:rPr>
              <a:t> </a:t>
            </a:r>
            <a:r>
              <a:rPr sz="1800" dirty="0">
                <a:latin typeface="Calibri"/>
                <a:cs typeface="Calibri"/>
              </a:rPr>
              <a:t>detect</a:t>
            </a:r>
            <a:r>
              <a:rPr sz="1800" spc="30" dirty="0">
                <a:latin typeface="Calibri"/>
                <a:cs typeface="Calibri"/>
              </a:rPr>
              <a:t> </a:t>
            </a:r>
            <a:r>
              <a:rPr sz="1800" dirty="0">
                <a:latin typeface="Calibri"/>
                <a:cs typeface="Calibri"/>
              </a:rPr>
              <a:t>and</a:t>
            </a:r>
            <a:r>
              <a:rPr sz="1800" spc="20" dirty="0">
                <a:latin typeface="Calibri"/>
                <a:cs typeface="Calibri"/>
              </a:rPr>
              <a:t> </a:t>
            </a:r>
            <a:r>
              <a:rPr sz="1800" dirty="0">
                <a:latin typeface="Calibri"/>
                <a:cs typeface="Calibri"/>
              </a:rPr>
              <a:t>classify</a:t>
            </a:r>
            <a:r>
              <a:rPr sz="1800" spc="55" dirty="0">
                <a:latin typeface="Calibri"/>
                <a:cs typeface="Calibri"/>
              </a:rPr>
              <a:t> </a:t>
            </a:r>
            <a:r>
              <a:rPr sz="1800" dirty="0">
                <a:latin typeface="Calibri"/>
                <a:cs typeface="Calibri"/>
              </a:rPr>
              <a:t>rare</a:t>
            </a:r>
            <a:r>
              <a:rPr sz="1800" spc="25" dirty="0">
                <a:latin typeface="Calibri"/>
                <a:cs typeface="Calibri"/>
              </a:rPr>
              <a:t> </a:t>
            </a:r>
            <a:r>
              <a:rPr sz="1800" dirty="0">
                <a:latin typeface="Calibri"/>
                <a:cs typeface="Calibri"/>
              </a:rPr>
              <a:t>brain</a:t>
            </a:r>
            <a:r>
              <a:rPr sz="1800" spc="25" dirty="0">
                <a:latin typeface="Calibri"/>
                <a:cs typeface="Calibri"/>
              </a:rPr>
              <a:t> </a:t>
            </a:r>
            <a:r>
              <a:rPr sz="1800" spc="-10" dirty="0">
                <a:latin typeface="Calibri"/>
                <a:cs typeface="Calibri"/>
              </a:rPr>
              <a:t>tumors </a:t>
            </a:r>
            <a:r>
              <a:rPr sz="1800" dirty="0">
                <a:latin typeface="Calibri"/>
                <a:cs typeface="Calibri"/>
              </a:rPr>
              <a:t>using</a:t>
            </a:r>
            <a:r>
              <a:rPr sz="1800" spc="45" dirty="0">
                <a:latin typeface="Calibri"/>
                <a:cs typeface="Calibri"/>
              </a:rPr>
              <a:t> </a:t>
            </a:r>
            <a:r>
              <a:rPr sz="1800" dirty="0">
                <a:latin typeface="Calibri"/>
                <a:cs typeface="Calibri"/>
              </a:rPr>
              <a:t>MRI</a:t>
            </a:r>
            <a:r>
              <a:rPr sz="1800" spc="55" dirty="0">
                <a:latin typeface="Calibri"/>
                <a:cs typeface="Calibri"/>
              </a:rPr>
              <a:t> </a:t>
            </a:r>
            <a:r>
              <a:rPr sz="1800" dirty="0">
                <a:latin typeface="Calibri"/>
                <a:cs typeface="Calibri"/>
              </a:rPr>
              <a:t>scans.</a:t>
            </a:r>
            <a:r>
              <a:rPr sz="1800" spc="60" dirty="0">
                <a:latin typeface="Calibri"/>
                <a:cs typeface="Calibri"/>
              </a:rPr>
              <a:t> </a:t>
            </a:r>
            <a:r>
              <a:rPr sz="1800" dirty="0">
                <a:latin typeface="Calibri"/>
                <a:cs typeface="Calibri"/>
              </a:rPr>
              <a:t>By</a:t>
            </a:r>
            <a:r>
              <a:rPr sz="1800" spc="60" dirty="0">
                <a:latin typeface="Calibri"/>
                <a:cs typeface="Calibri"/>
              </a:rPr>
              <a:t> </a:t>
            </a:r>
            <a:r>
              <a:rPr sz="1800" dirty="0">
                <a:latin typeface="Calibri"/>
                <a:cs typeface="Calibri"/>
              </a:rPr>
              <a:t>improving</a:t>
            </a:r>
            <a:r>
              <a:rPr sz="1800" spc="45" dirty="0">
                <a:latin typeface="Calibri"/>
                <a:cs typeface="Calibri"/>
              </a:rPr>
              <a:t> </a:t>
            </a:r>
            <a:r>
              <a:rPr sz="1800" dirty="0">
                <a:latin typeface="Calibri"/>
                <a:cs typeface="Calibri"/>
              </a:rPr>
              <a:t>early</a:t>
            </a:r>
            <a:r>
              <a:rPr sz="1800" spc="55" dirty="0">
                <a:latin typeface="Calibri"/>
                <a:cs typeface="Calibri"/>
              </a:rPr>
              <a:t> </a:t>
            </a:r>
            <a:r>
              <a:rPr sz="1800" dirty="0">
                <a:latin typeface="Calibri"/>
                <a:cs typeface="Calibri"/>
              </a:rPr>
              <a:t>and</a:t>
            </a:r>
            <a:r>
              <a:rPr sz="1800" spc="50" dirty="0">
                <a:latin typeface="Calibri"/>
                <a:cs typeface="Calibri"/>
              </a:rPr>
              <a:t> </a:t>
            </a:r>
            <a:r>
              <a:rPr sz="1800" dirty="0">
                <a:latin typeface="Calibri"/>
                <a:cs typeface="Calibri"/>
              </a:rPr>
              <a:t>reliable</a:t>
            </a:r>
            <a:r>
              <a:rPr sz="1800" spc="70" dirty="0">
                <a:latin typeface="Calibri"/>
                <a:cs typeface="Calibri"/>
              </a:rPr>
              <a:t> </a:t>
            </a:r>
            <a:r>
              <a:rPr sz="1800" dirty="0">
                <a:latin typeface="Calibri"/>
                <a:cs typeface="Calibri"/>
              </a:rPr>
              <a:t>diagnosis,</a:t>
            </a:r>
            <a:r>
              <a:rPr sz="1800" spc="55" dirty="0">
                <a:latin typeface="Calibri"/>
                <a:cs typeface="Calibri"/>
              </a:rPr>
              <a:t> </a:t>
            </a:r>
            <a:r>
              <a:rPr sz="1800" dirty="0">
                <a:latin typeface="Calibri"/>
                <a:cs typeface="Calibri"/>
              </a:rPr>
              <a:t>this</a:t>
            </a:r>
            <a:r>
              <a:rPr sz="1800" spc="50" dirty="0">
                <a:latin typeface="Calibri"/>
                <a:cs typeface="Calibri"/>
              </a:rPr>
              <a:t> </a:t>
            </a:r>
            <a:r>
              <a:rPr sz="1800" dirty="0">
                <a:latin typeface="Calibri"/>
                <a:cs typeface="Calibri"/>
              </a:rPr>
              <a:t>project</a:t>
            </a:r>
            <a:r>
              <a:rPr sz="1800" spc="50" dirty="0">
                <a:latin typeface="Calibri"/>
                <a:cs typeface="Calibri"/>
              </a:rPr>
              <a:t> </a:t>
            </a:r>
            <a:r>
              <a:rPr sz="1800" dirty="0">
                <a:latin typeface="Calibri"/>
                <a:cs typeface="Calibri"/>
              </a:rPr>
              <a:t>aims</a:t>
            </a:r>
            <a:r>
              <a:rPr sz="1800" spc="45" dirty="0">
                <a:latin typeface="Calibri"/>
                <a:cs typeface="Calibri"/>
              </a:rPr>
              <a:t> </a:t>
            </a:r>
            <a:r>
              <a:rPr sz="1800" dirty="0">
                <a:latin typeface="Calibri"/>
                <a:cs typeface="Calibri"/>
              </a:rPr>
              <a:t>to</a:t>
            </a:r>
            <a:r>
              <a:rPr sz="1800" spc="60" dirty="0">
                <a:latin typeface="Calibri"/>
                <a:cs typeface="Calibri"/>
              </a:rPr>
              <a:t> </a:t>
            </a:r>
            <a:r>
              <a:rPr sz="1800" dirty="0">
                <a:latin typeface="Calibri"/>
                <a:cs typeface="Calibri"/>
              </a:rPr>
              <a:t>support</a:t>
            </a:r>
            <a:r>
              <a:rPr sz="1800" spc="45" dirty="0">
                <a:latin typeface="Calibri"/>
                <a:cs typeface="Calibri"/>
              </a:rPr>
              <a:t> </a:t>
            </a:r>
            <a:r>
              <a:rPr sz="1800" dirty="0">
                <a:latin typeface="Calibri"/>
                <a:cs typeface="Calibri"/>
              </a:rPr>
              <a:t>radiologists</a:t>
            </a:r>
            <a:r>
              <a:rPr sz="1800" spc="45" dirty="0">
                <a:latin typeface="Calibri"/>
                <a:cs typeface="Calibri"/>
              </a:rPr>
              <a:t> </a:t>
            </a:r>
            <a:r>
              <a:rPr sz="1800" dirty="0">
                <a:latin typeface="Calibri"/>
                <a:cs typeface="Calibri"/>
              </a:rPr>
              <a:t>and</a:t>
            </a:r>
            <a:r>
              <a:rPr sz="1800" spc="45" dirty="0">
                <a:latin typeface="Calibri"/>
                <a:cs typeface="Calibri"/>
              </a:rPr>
              <a:t> </a:t>
            </a:r>
            <a:r>
              <a:rPr sz="1800" spc="-10" dirty="0">
                <a:latin typeface="Calibri"/>
                <a:cs typeface="Calibri"/>
              </a:rPr>
              <a:t>enhance</a:t>
            </a:r>
            <a:r>
              <a:rPr lang="en-US" spc="-10" dirty="0">
                <a:latin typeface="Calibri"/>
                <a:cs typeface="Calibri"/>
              </a:rPr>
              <a:t> </a:t>
            </a:r>
            <a:r>
              <a:rPr sz="1800" dirty="0">
                <a:latin typeface="Calibri"/>
                <a:cs typeface="Calibri"/>
              </a:rPr>
              <a:t>clinical</a:t>
            </a:r>
            <a:r>
              <a:rPr sz="1800" spc="-45" dirty="0">
                <a:latin typeface="Calibri"/>
                <a:cs typeface="Calibri"/>
              </a:rPr>
              <a:t> </a:t>
            </a:r>
            <a:r>
              <a:rPr sz="1800" dirty="0">
                <a:latin typeface="Calibri"/>
                <a:cs typeface="Calibri"/>
              </a:rPr>
              <a:t>outcomes,</a:t>
            </a:r>
            <a:r>
              <a:rPr sz="1800" spc="-45" dirty="0">
                <a:latin typeface="Calibri"/>
                <a:cs typeface="Calibri"/>
              </a:rPr>
              <a:t> </a:t>
            </a:r>
            <a:r>
              <a:rPr sz="1800" dirty="0">
                <a:latin typeface="Calibri"/>
                <a:cs typeface="Calibri"/>
              </a:rPr>
              <a:t>especially</a:t>
            </a:r>
            <a:r>
              <a:rPr sz="1800" spc="-40" dirty="0">
                <a:latin typeface="Calibri"/>
                <a:cs typeface="Calibri"/>
              </a:rPr>
              <a:t> </a:t>
            </a:r>
            <a:r>
              <a:rPr sz="1800" dirty="0">
                <a:latin typeface="Calibri"/>
                <a:cs typeface="Calibri"/>
              </a:rPr>
              <a:t>for</a:t>
            </a:r>
            <a:r>
              <a:rPr sz="1800" spc="-45" dirty="0">
                <a:latin typeface="Calibri"/>
                <a:cs typeface="Calibri"/>
              </a:rPr>
              <a:t> </a:t>
            </a:r>
            <a:r>
              <a:rPr sz="1800" spc="-10" dirty="0">
                <a:latin typeface="Calibri"/>
                <a:cs typeface="Calibri"/>
              </a:rPr>
              <a:t>underrepresented</a:t>
            </a:r>
            <a:r>
              <a:rPr sz="1800" spc="-50" dirty="0">
                <a:latin typeface="Calibri"/>
                <a:cs typeface="Calibri"/>
              </a:rPr>
              <a:t> </a:t>
            </a:r>
            <a:r>
              <a:rPr sz="1800" dirty="0">
                <a:latin typeface="Calibri"/>
                <a:cs typeface="Calibri"/>
              </a:rPr>
              <a:t>and</a:t>
            </a:r>
            <a:r>
              <a:rPr sz="1800" spc="-55" dirty="0">
                <a:latin typeface="Calibri"/>
                <a:cs typeface="Calibri"/>
              </a:rPr>
              <a:t> </a:t>
            </a:r>
            <a:r>
              <a:rPr sz="1800" dirty="0">
                <a:latin typeface="Calibri"/>
                <a:cs typeface="Calibri"/>
              </a:rPr>
              <a:t>challenging</a:t>
            </a:r>
            <a:r>
              <a:rPr sz="1800" spc="-35" dirty="0">
                <a:latin typeface="Calibri"/>
                <a:cs typeface="Calibri"/>
              </a:rPr>
              <a:t> </a:t>
            </a:r>
            <a:r>
              <a:rPr sz="1800" dirty="0">
                <a:latin typeface="Calibri"/>
                <a:cs typeface="Calibri"/>
              </a:rPr>
              <a:t>tumor</a:t>
            </a:r>
            <a:r>
              <a:rPr sz="1800" spc="-40" dirty="0">
                <a:latin typeface="Calibri"/>
                <a:cs typeface="Calibri"/>
              </a:rPr>
              <a:t> </a:t>
            </a:r>
            <a:r>
              <a:rPr sz="1800" spc="-10" dirty="0">
                <a:latin typeface="Calibri"/>
                <a:cs typeface="Calibri"/>
              </a:rPr>
              <a:t>types.</a:t>
            </a:r>
            <a:endParaRPr sz="1800" dirty="0">
              <a:latin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E69F0-414A-858A-E402-90FF1E2EB7F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E111287-9544-6E54-7A8D-055FC34C20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8383" y="92764"/>
            <a:ext cx="9654689" cy="6765236"/>
          </a:xfrm>
          <a:prstGeom prst="rect">
            <a:avLst/>
          </a:prstGeom>
        </p:spPr>
      </p:pic>
      <p:sp>
        <p:nvSpPr>
          <p:cNvPr id="2" name="object 2">
            <a:extLst>
              <a:ext uri="{FF2B5EF4-FFF2-40B4-BE49-F238E27FC236}">
                <a16:creationId xmlns:a16="http://schemas.microsoft.com/office/drawing/2014/main" id="{7449D53F-0D09-7F99-EC95-DFFDDAEE9929}"/>
              </a:ext>
            </a:extLst>
          </p:cNvPr>
          <p:cNvSpPr txBox="1">
            <a:spLocks/>
          </p:cNvSpPr>
          <p:nvPr/>
        </p:nvSpPr>
        <p:spPr>
          <a:xfrm>
            <a:off x="711200" y="347980"/>
            <a:ext cx="3454399" cy="1379865"/>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US" sz="2800" dirty="0"/>
              <a:t>Flow Chart / Block Diagram</a:t>
            </a:r>
          </a:p>
          <a:p>
            <a:pPr marL="12700">
              <a:lnSpc>
                <a:spcPct val="100000"/>
              </a:lnSpc>
              <a:spcBef>
                <a:spcPts val="100"/>
              </a:spcBef>
            </a:pPr>
            <a:endParaRPr lang="en-IN" sz="3200" spc="-35" dirty="0"/>
          </a:p>
        </p:txBody>
      </p:sp>
    </p:spTree>
    <p:extLst>
      <p:ext uri="{BB962C8B-B14F-4D97-AF65-F5344CB8AC3E}">
        <p14:creationId xmlns:p14="http://schemas.microsoft.com/office/powerpoint/2010/main" val="9812038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243D959-3432-A216-A2F7-B457571EE672}"/>
              </a:ext>
            </a:extLst>
          </p:cNvPr>
          <p:cNvSpPr txBox="1">
            <a:spLocks/>
          </p:cNvSpPr>
          <p:nvPr/>
        </p:nvSpPr>
        <p:spPr>
          <a:xfrm>
            <a:off x="1176019" y="299720"/>
            <a:ext cx="5065755" cy="1323438"/>
          </a:xfrm>
          <a:prstGeom prst="rect">
            <a:avLst/>
          </a:prstGeom>
        </p:spPr>
        <p:txBody>
          <a:bodyPr vert="horz" wrap="square" lIns="0" tIns="640079"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IN" spc="-40" dirty="0"/>
              <a:t>Algorithm</a:t>
            </a:r>
            <a:r>
              <a:rPr lang="en-IN" spc="-190" dirty="0"/>
              <a:t> </a:t>
            </a:r>
            <a:endParaRPr lang="en-IN" spc="-20" dirty="0"/>
          </a:p>
        </p:txBody>
      </p:sp>
      <p:sp>
        <p:nvSpPr>
          <p:cNvPr id="3" name="Rectangle 1">
            <a:extLst>
              <a:ext uri="{FF2B5EF4-FFF2-40B4-BE49-F238E27FC236}">
                <a16:creationId xmlns:a16="http://schemas.microsoft.com/office/drawing/2014/main" id="{8C2F1969-B3FA-D9C1-283C-3CAA3F9E7335}"/>
              </a:ext>
            </a:extLst>
          </p:cNvPr>
          <p:cNvSpPr>
            <a:spLocks noChangeArrowheads="1"/>
          </p:cNvSpPr>
          <p:nvPr/>
        </p:nvSpPr>
        <p:spPr bwMode="auto">
          <a:xfrm>
            <a:off x="1046176" y="1859339"/>
            <a:ext cx="659535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Input medical image dataset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Preprocess images (resize, normalize, augment)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Apply Convolutional layers </a:t>
            </a: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R</a:t>
            </a:r>
            <a:r>
              <a:rPr kumimoji="0" lang="en-US" altLang="en-US" sz="1800" b="0" i="0" u="none" strike="noStrike" cap="none" normalizeH="0" baseline="0" dirty="0">
                <a:ln>
                  <a:noFill/>
                </a:ln>
                <a:solidFill>
                  <a:schemeClr val="tx1"/>
                </a:solidFill>
                <a:effectLst/>
                <a:latin typeface="Arial" panose="020B0604020202020204" pitchFamily="34" charset="0"/>
              </a:rPr>
              <a:t>educe dimensions</a:t>
            </a:r>
          </a:p>
          <a:p>
            <a:pPr algn="just"/>
            <a:r>
              <a:rPr lang="en-US" dirty="0"/>
              <a:t>VGG16 → 16-layer CNN with 3×3 filters, widely used baseline.</a:t>
            </a:r>
          </a:p>
          <a:p>
            <a:pPr algn="just"/>
            <a:r>
              <a:rPr lang="en-US" dirty="0"/>
              <a:t>ResNet50 → 50-layer CNN with skip connections, solves vanishing gradient.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Flatten feature maps → Fully connected layers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Apply </a:t>
            </a:r>
            <a:r>
              <a:rPr kumimoji="0" lang="en-US" altLang="en-US" sz="1800" b="0" i="0" u="none" strike="noStrike" cap="none" normalizeH="0" baseline="0" dirty="0" err="1">
                <a:ln>
                  <a:noFill/>
                </a:ln>
                <a:solidFill>
                  <a:schemeClr val="tx1"/>
                </a:solidFill>
                <a:effectLst/>
                <a:latin typeface="Arial" panose="020B0604020202020204" pitchFamily="34" charset="0"/>
              </a:rPr>
              <a:t>Softmax</a:t>
            </a:r>
            <a:r>
              <a:rPr kumimoji="0" lang="en-US" altLang="en-US" sz="1800" b="0" i="0" u="none" strike="noStrike" cap="none" normalizeH="0" baseline="0" dirty="0">
                <a:ln>
                  <a:noFill/>
                </a:ln>
                <a:solidFill>
                  <a:schemeClr val="tx1"/>
                </a:solidFill>
                <a:effectLst/>
                <a:latin typeface="Arial" panose="020B0604020202020204" pitchFamily="34" charset="0"/>
              </a:rPr>
              <a:t> for classification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Evaluate using Accuracy, Precision, Recall, F1-score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Compare results with existing models</a:t>
            </a:r>
          </a:p>
        </p:txBody>
      </p:sp>
    </p:spTree>
    <p:extLst>
      <p:ext uri="{BB962C8B-B14F-4D97-AF65-F5344CB8AC3E}">
        <p14:creationId xmlns:p14="http://schemas.microsoft.com/office/powerpoint/2010/main" val="3799912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6CB46A-83D0-B006-B8CC-90C2E84EC0C3}"/>
              </a:ext>
            </a:extLst>
          </p:cNvPr>
          <p:cNvSpPr txBox="1"/>
          <p:nvPr/>
        </p:nvSpPr>
        <p:spPr>
          <a:xfrm>
            <a:off x="897775" y="964277"/>
            <a:ext cx="8761614" cy="5447645"/>
          </a:xfrm>
          <a:prstGeom prst="rect">
            <a:avLst/>
          </a:prstGeom>
          <a:noFill/>
        </p:spPr>
        <p:txBody>
          <a:bodyPr wrap="square" rtlCol="0">
            <a:spAutoFit/>
          </a:bodyPr>
          <a:lstStyle/>
          <a:p>
            <a:r>
              <a:rPr lang="en-US" sz="4400" dirty="0" err="1">
                <a:latin typeface="Times New Roman"/>
                <a:ea typeface="Times New Roman"/>
                <a:cs typeface="Times New Roman"/>
                <a:sym typeface="Times New Roman"/>
              </a:rPr>
              <a:t>Implementnation</a:t>
            </a:r>
            <a:endParaRPr lang="en-US" sz="4400" dirty="0">
              <a:latin typeface="Times New Roman"/>
              <a:ea typeface="Times New Roman"/>
              <a:cs typeface="Times New Roman"/>
              <a:sym typeface="Times New Roman"/>
            </a:endParaRPr>
          </a:p>
          <a:p>
            <a:endParaRPr lang="en-US" sz="4400" dirty="0">
              <a:latin typeface="Times New Roman"/>
              <a:ea typeface="Times New Roman"/>
              <a:cs typeface="Times New Roman"/>
              <a:sym typeface="Times New Roman"/>
            </a:endParaRPr>
          </a:p>
          <a:p>
            <a:pPr marL="285750" indent="-285750" algn="just">
              <a:buFont typeface="Arial" panose="020B0604020202020204" pitchFamily="34" charset="0"/>
              <a:buChar char="•"/>
            </a:pPr>
            <a:r>
              <a:rPr lang="en-IN" dirty="0"/>
              <a:t>Collected MRI brain </a:t>
            </a:r>
            <a:r>
              <a:rPr lang="en-IN" dirty="0" err="1"/>
              <a:t>tumor</a:t>
            </a:r>
            <a:r>
              <a:rPr lang="en-IN" dirty="0"/>
              <a:t> dataset (4 classes: Glioma, Meningioma, Pituitary, No </a:t>
            </a:r>
            <a:r>
              <a:rPr lang="en-IN" dirty="0" err="1"/>
              <a:t>Tumor</a:t>
            </a:r>
            <a:r>
              <a:rPr lang="en-IN" dirty="0"/>
              <a:t>)</a:t>
            </a:r>
          </a:p>
          <a:p>
            <a:pPr algn="just"/>
            <a:endParaRPr lang="en-IN" dirty="0"/>
          </a:p>
          <a:p>
            <a:pPr marL="285750" indent="-285750" algn="just">
              <a:buFont typeface="Arial" panose="020B0604020202020204" pitchFamily="34" charset="0"/>
              <a:buChar char="•"/>
            </a:pPr>
            <a:r>
              <a:rPr lang="en-US" dirty="0"/>
              <a:t>Applied preprocessing: resizing, normalization, and data augmentation</a:t>
            </a:r>
          </a:p>
          <a:p>
            <a:pPr algn="just"/>
            <a:endParaRPr lang="en-US" dirty="0"/>
          </a:p>
          <a:p>
            <a:pPr marL="285750" indent="-285750" algn="just">
              <a:buFont typeface="Arial" panose="020B0604020202020204" pitchFamily="34" charset="0"/>
              <a:buChar char="•"/>
            </a:pPr>
            <a:r>
              <a:rPr lang="en-US" dirty="0"/>
              <a:t>Built a </a:t>
            </a:r>
            <a:r>
              <a:rPr lang="en-US" b="1" dirty="0"/>
              <a:t>custom CNN model (</a:t>
            </a:r>
            <a:r>
              <a:rPr lang="en-US" b="1" dirty="0" err="1"/>
              <a:t>RareNet</a:t>
            </a:r>
            <a:r>
              <a:rPr lang="en-US" b="1" dirty="0"/>
              <a:t>)</a:t>
            </a:r>
            <a:r>
              <a:rPr lang="en-US" dirty="0"/>
              <a:t> for feature extraction and classification</a:t>
            </a:r>
          </a:p>
          <a:p>
            <a:pPr algn="just"/>
            <a:endParaRPr lang="en-US" dirty="0"/>
          </a:p>
          <a:p>
            <a:pPr marL="285750" indent="-285750" algn="just">
              <a:buFont typeface="Arial" panose="020B0604020202020204" pitchFamily="34" charset="0"/>
              <a:buChar char="•"/>
            </a:pPr>
            <a:r>
              <a:rPr lang="en-US" dirty="0"/>
              <a:t>Used </a:t>
            </a:r>
            <a:r>
              <a:rPr lang="en-US" b="1" dirty="0"/>
              <a:t>Convolution, Pooling, and Fully Connected layers</a:t>
            </a:r>
            <a:r>
              <a:rPr lang="en-US" dirty="0"/>
              <a:t> with </a:t>
            </a:r>
            <a:r>
              <a:rPr lang="en-US" dirty="0" err="1"/>
              <a:t>Softmax</a:t>
            </a:r>
            <a:r>
              <a:rPr lang="en-US" dirty="0"/>
              <a:t> activation</a:t>
            </a:r>
          </a:p>
          <a:p>
            <a:pPr algn="just"/>
            <a:endParaRPr lang="en-US" dirty="0"/>
          </a:p>
          <a:p>
            <a:pPr marL="285750" indent="-285750" algn="just">
              <a:buFont typeface="Arial" panose="020B0604020202020204" pitchFamily="34" charset="0"/>
              <a:buChar char="•"/>
            </a:pPr>
            <a:r>
              <a:rPr lang="en-US" dirty="0"/>
              <a:t>Trained model using </a:t>
            </a:r>
            <a:r>
              <a:rPr lang="en-US" b="1" dirty="0"/>
              <a:t>Adam optimizer</a:t>
            </a:r>
            <a:r>
              <a:rPr lang="en-US" dirty="0"/>
              <a:t> and categorical cross-entropy </a:t>
            </a:r>
            <a:r>
              <a:rPr lang="en-US" dirty="0" err="1"/>
              <a:t>lossEvaluated</a:t>
            </a:r>
            <a:r>
              <a:rPr lang="en-US" dirty="0"/>
              <a:t> performance using </a:t>
            </a:r>
            <a:r>
              <a:rPr lang="en-US" b="1" dirty="0"/>
              <a:t>Accuracy, Precision, Recall, and F1-score</a:t>
            </a:r>
          </a:p>
          <a:p>
            <a:pPr algn="just"/>
            <a:endParaRPr lang="en-US" b="1" dirty="0"/>
          </a:p>
          <a:p>
            <a:pPr marL="285750" indent="-285750" algn="just">
              <a:buFont typeface="Arial" panose="020B0604020202020204" pitchFamily="34" charset="0"/>
              <a:buChar char="•"/>
            </a:pPr>
            <a:r>
              <a:rPr lang="en-US" dirty="0"/>
              <a:t>Compared results with </a:t>
            </a:r>
            <a:r>
              <a:rPr lang="en-US" b="1" dirty="0"/>
              <a:t>VGG16 and ResNet50</a:t>
            </a:r>
            <a:r>
              <a:rPr lang="en-US" dirty="0"/>
              <a:t> for improved </a:t>
            </a:r>
            <a:r>
              <a:rPr lang="en-US" dirty="0" err="1"/>
              <a:t>accurac</a:t>
            </a:r>
            <a:endParaRPr lang="en-US" dirty="0">
              <a:latin typeface="Times New Roman"/>
              <a:ea typeface="Times New Roman"/>
              <a:cs typeface="Times New Roman"/>
              <a:sym typeface="Times New Roman"/>
            </a:endParaRPr>
          </a:p>
          <a:p>
            <a:endParaRPr lang="en-IN" sz="4400" dirty="0"/>
          </a:p>
        </p:txBody>
      </p:sp>
    </p:spTree>
    <p:extLst>
      <p:ext uri="{BB962C8B-B14F-4D97-AF65-F5344CB8AC3E}">
        <p14:creationId xmlns:p14="http://schemas.microsoft.com/office/powerpoint/2010/main" val="1998534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F87EEA4-E524-71F4-5555-4102E63688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0416" y="251791"/>
            <a:ext cx="9369287" cy="6354418"/>
          </a:xfrm>
          <a:prstGeom prst="rect">
            <a:avLst/>
          </a:prstGeom>
        </p:spPr>
      </p:pic>
      <p:sp>
        <p:nvSpPr>
          <p:cNvPr id="4" name="object 2">
            <a:extLst>
              <a:ext uri="{FF2B5EF4-FFF2-40B4-BE49-F238E27FC236}">
                <a16:creationId xmlns:a16="http://schemas.microsoft.com/office/drawing/2014/main" id="{05B0FE14-2606-C41E-792C-92F79F4D0313}"/>
              </a:ext>
            </a:extLst>
          </p:cNvPr>
          <p:cNvSpPr txBox="1">
            <a:spLocks/>
          </p:cNvSpPr>
          <p:nvPr/>
        </p:nvSpPr>
        <p:spPr>
          <a:xfrm>
            <a:off x="1176019" y="299720"/>
            <a:ext cx="7256145" cy="689932"/>
          </a:xfrm>
          <a:prstGeom prst="rect">
            <a:avLst/>
          </a:prstGeom>
        </p:spPr>
        <p:txBody>
          <a:bodyPr vert="horz" wrap="square" lIns="0" tIns="12700"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00"/>
              </a:spcBef>
            </a:pPr>
            <a:r>
              <a:rPr lang="en-IN" dirty="0"/>
              <a:t>End</a:t>
            </a:r>
            <a:r>
              <a:rPr lang="en-IN" spc="-235" dirty="0"/>
              <a:t> </a:t>
            </a:r>
            <a:r>
              <a:rPr lang="en-IN" dirty="0"/>
              <a:t>user</a:t>
            </a:r>
            <a:r>
              <a:rPr lang="en-IN" spc="-245" dirty="0"/>
              <a:t> </a:t>
            </a:r>
            <a:r>
              <a:rPr lang="en-IN" spc="-10" dirty="0"/>
              <a:t>Model</a:t>
            </a:r>
          </a:p>
        </p:txBody>
      </p:sp>
    </p:spTree>
    <p:extLst>
      <p:ext uri="{BB962C8B-B14F-4D97-AF65-F5344CB8AC3E}">
        <p14:creationId xmlns:p14="http://schemas.microsoft.com/office/powerpoint/2010/main" val="4195483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F2CAB3-4990-8C18-CE74-6D472EB0531A}"/>
              </a:ext>
            </a:extLst>
          </p:cNvPr>
          <p:cNvSpPr txBox="1"/>
          <p:nvPr/>
        </p:nvSpPr>
        <p:spPr>
          <a:xfrm>
            <a:off x="665018" y="897775"/>
            <a:ext cx="8079971" cy="8186857"/>
          </a:xfrm>
          <a:prstGeom prst="rect">
            <a:avLst/>
          </a:prstGeom>
          <a:noFill/>
        </p:spPr>
        <p:txBody>
          <a:bodyPr wrap="square" rtlCol="0">
            <a:spAutoFit/>
          </a:bodyPr>
          <a:lstStyle/>
          <a:p>
            <a:r>
              <a:rPr lang="en-US" sz="4400" dirty="0">
                <a:latin typeface="Times New Roman" pitchFamily="18" charset="0"/>
                <a:cs typeface="Times New Roman" pitchFamily="18" charset="0"/>
              </a:rPr>
              <a:t>Result Analysis</a:t>
            </a:r>
          </a:p>
          <a:p>
            <a:endParaRPr lang="en-US" dirty="0"/>
          </a:p>
          <a:p>
            <a:endParaRPr lang="en-US" dirty="0"/>
          </a:p>
          <a:p>
            <a:pPr marL="285750" indent="-285750" algn="just">
              <a:buFont typeface="Arial" panose="020B0604020202020204" pitchFamily="34" charset="0"/>
              <a:buChar char="•"/>
            </a:pPr>
            <a:r>
              <a:rPr lang="en-US" dirty="0"/>
              <a:t>The proposed </a:t>
            </a:r>
            <a:r>
              <a:rPr lang="en-US" b="1" dirty="0" err="1"/>
              <a:t>RareNet</a:t>
            </a:r>
            <a:r>
              <a:rPr lang="en-US" b="1" dirty="0"/>
              <a:t> model</a:t>
            </a:r>
            <a:r>
              <a:rPr lang="en-US" dirty="0"/>
              <a:t> achieved high accuracy in classifying brain tumors </a:t>
            </a:r>
          </a:p>
          <a:p>
            <a:pPr algn="just"/>
            <a:endParaRPr lang="en-US" dirty="0"/>
          </a:p>
          <a:p>
            <a:pPr marL="285750" indent="-285750" algn="just">
              <a:buFont typeface="Arial" panose="020B0604020202020204" pitchFamily="34" charset="0"/>
              <a:buChar char="•"/>
            </a:pPr>
            <a:r>
              <a:rPr lang="en-US" dirty="0"/>
              <a:t>Improved performance observed compared to traditional models</a:t>
            </a:r>
          </a:p>
          <a:p>
            <a:pPr algn="just"/>
            <a:r>
              <a:rPr lang="en-US" dirty="0"/>
              <a:t> </a:t>
            </a:r>
          </a:p>
          <a:p>
            <a:pPr marL="285750" indent="-285750" algn="just">
              <a:buFont typeface="Arial" panose="020B0604020202020204" pitchFamily="34" charset="0"/>
              <a:buChar char="•"/>
            </a:pPr>
            <a:r>
              <a:rPr lang="en-US" dirty="0"/>
              <a:t>Achieved strong </a:t>
            </a:r>
            <a:r>
              <a:rPr lang="en-US" b="1" dirty="0"/>
              <a:t>Precision, Recall, and F1-score</a:t>
            </a:r>
            <a:r>
              <a:rPr lang="en-US" dirty="0"/>
              <a:t>, ensuring reliable predictions</a:t>
            </a:r>
          </a:p>
          <a:p>
            <a:pPr algn="just"/>
            <a:endParaRPr lang="en-US" dirty="0"/>
          </a:p>
          <a:p>
            <a:pPr marL="285750" indent="-285750" algn="just">
              <a:buFont typeface="Arial" panose="020B0604020202020204" pitchFamily="34" charset="0"/>
              <a:buChar char="•"/>
            </a:pPr>
            <a:r>
              <a:rPr lang="en-US" dirty="0"/>
              <a:t>Reduced misclassification in rare tumor cases</a:t>
            </a:r>
          </a:p>
          <a:p>
            <a:pPr algn="just"/>
            <a:endParaRPr lang="en-US" dirty="0"/>
          </a:p>
          <a:p>
            <a:pPr marL="285750" indent="-285750" algn="just">
              <a:buFont typeface="Arial" panose="020B0604020202020204" pitchFamily="34" charset="0"/>
              <a:buChar char="•"/>
            </a:pPr>
            <a:r>
              <a:rPr lang="en-US" dirty="0"/>
              <a:t>Data augmentation helped handle </a:t>
            </a:r>
            <a:r>
              <a:rPr lang="en-US" b="1" dirty="0"/>
              <a:t>imbalanced dataset problem</a:t>
            </a:r>
          </a:p>
          <a:p>
            <a:pPr algn="just"/>
            <a:r>
              <a:rPr lang="en-US" dirty="0"/>
              <a:t> </a:t>
            </a:r>
          </a:p>
          <a:p>
            <a:pPr marL="285750" indent="-285750" algn="just">
              <a:buFont typeface="Arial" panose="020B0604020202020204" pitchFamily="34" charset="0"/>
              <a:buChar char="•"/>
            </a:pPr>
            <a:r>
              <a:rPr lang="en-US" dirty="0"/>
              <a:t>Comparative analysis shows </a:t>
            </a:r>
            <a:r>
              <a:rPr lang="en-US" b="1" dirty="0" err="1"/>
              <a:t>RareNet</a:t>
            </a:r>
            <a:r>
              <a:rPr lang="en-US" b="1" dirty="0"/>
              <a:t> performs competitively with VGG16 and ResNet50</a:t>
            </a:r>
            <a:r>
              <a:rPr lang="en-US" dirty="0"/>
              <a:t> </a:t>
            </a:r>
          </a:p>
          <a:p>
            <a:pPr algn="just"/>
            <a:endParaRPr lang="en-US" dirty="0"/>
          </a:p>
          <a:p>
            <a:pPr marL="285750" indent="-285750" algn="just">
              <a:buFont typeface="Arial" panose="020B0604020202020204" pitchFamily="34" charset="0"/>
              <a:buChar char="•"/>
            </a:pPr>
            <a:r>
              <a:rPr lang="en-US" dirty="0"/>
              <a:t>Results validated using graphs such as </a:t>
            </a:r>
            <a:r>
              <a:rPr lang="en-US" b="1" dirty="0"/>
              <a:t>accuracy and loss curves</a:t>
            </a:r>
            <a:r>
              <a:rPr lang="en-US" dirty="0"/>
              <a:t> </a:t>
            </a:r>
          </a:p>
          <a:p>
            <a:br>
              <a:rPr lang="en-US" sz="4400" dirty="0"/>
            </a:br>
            <a:endParaRPr lang="en-US" sz="4400" dirty="0"/>
          </a:p>
          <a:p>
            <a:endParaRPr lang="en-US" sz="4400" dirty="0">
              <a:latin typeface="Times New Roman" pitchFamily="18" charset="0"/>
              <a:cs typeface="Times New Roman" pitchFamily="18" charset="0"/>
            </a:endParaRPr>
          </a:p>
          <a:p>
            <a:endParaRPr lang="en-US" sz="4400"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587850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8644" y="0"/>
            <a:ext cx="10515600" cy="1325563"/>
          </a:xfrm>
          <a:prstGeom prst="rect">
            <a:avLst/>
          </a:prstGeom>
        </p:spPr>
        <p:txBody>
          <a:bodyPr vert="horz" wrap="square" lIns="0" tIns="244093" rIns="0" bIns="0" rtlCol="0">
            <a:spAutoFit/>
          </a:bodyPr>
          <a:lstStyle/>
          <a:p>
            <a:pPr marL="128270">
              <a:lnSpc>
                <a:spcPct val="100000"/>
              </a:lnSpc>
              <a:spcBef>
                <a:spcPts val="95"/>
              </a:spcBef>
            </a:pPr>
            <a:r>
              <a:rPr spc="-10" dirty="0"/>
              <a:t>CONCLUSION</a:t>
            </a:r>
          </a:p>
        </p:txBody>
      </p:sp>
      <p:sp>
        <p:nvSpPr>
          <p:cNvPr id="3" name="object 3"/>
          <p:cNvSpPr txBox="1"/>
          <p:nvPr/>
        </p:nvSpPr>
        <p:spPr>
          <a:xfrm>
            <a:off x="688644" y="1231519"/>
            <a:ext cx="10970260" cy="4535805"/>
          </a:xfrm>
          <a:prstGeom prst="rect">
            <a:avLst/>
          </a:prstGeom>
        </p:spPr>
        <p:txBody>
          <a:bodyPr vert="horz" wrap="square" lIns="0" tIns="12700" rIns="0" bIns="0" rtlCol="0">
            <a:spAutoFit/>
          </a:bodyPr>
          <a:lstStyle/>
          <a:p>
            <a:pPr marL="12700" algn="just">
              <a:lnSpc>
                <a:spcPct val="100000"/>
              </a:lnSpc>
              <a:spcBef>
                <a:spcPts val="100"/>
              </a:spcBef>
            </a:pPr>
            <a:r>
              <a:rPr sz="1800" dirty="0">
                <a:latin typeface="Calibri"/>
                <a:cs typeface="Calibri"/>
              </a:rPr>
              <a:t>The</a:t>
            </a:r>
            <a:r>
              <a:rPr sz="1800" spc="260" dirty="0">
                <a:latin typeface="Calibri"/>
                <a:cs typeface="Calibri"/>
              </a:rPr>
              <a:t> </a:t>
            </a:r>
            <a:r>
              <a:rPr sz="1800" dirty="0">
                <a:latin typeface="Calibri"/>
                <a:cs typeface="Calibri"/>
              </a:rPr>
              <a:t>RareDetect</a:t>
            </a:r>
            <a:r>
              <a:rPr sz="1800" spc="295" dirty="0">
                <a:latin typeface="Calibri"/>
                <a:cs typeface="Calibri"/>
              </a:rPr>
              <a:t> </a:t>
            </a:r>
            <a:r>
              <a:rPr sz="1800" dirty="0">
                <a:latin typeface="Calibri"/>
                <a:cs typeface="Calibri"/>
              </a:rPr>
              <a:t>project</a:t>
            </a:r>
            <a:r>
              <a:rPr sz="1800" spc="270" dirty="0">
                <a:latin typeface="Calibri"/>
                <a:cs typeface="Calibri"/>
              </a:rPr>
              <a:t> </a:t>
            </a:r>
            <a:r>
              <a:rPr sz="1800" dirty="0">
                <a:latin typeface="Calibri"/>
                <a:cs typeface="Calibri"/>
              </a:rPr>
              <a:t>presents</a:t>
            </a:r>
            <a:r>
              <a:rPr sz="1800" spc="265" dirty="0">
                <a:latin typeface="Calibri"/>
                <a:cs typeface="Calibri"/>
              </a:rPr>
              <a:t> </a:t>
            </a:r>
            <a:r>
              <a:rPr sz="1800" dirty="0">
                <a:latin typeface="Calibri"/>
                <a:cs typeface="Calibri"/>
              </a:rPr>
              <a:t>a</a:t>
            </a:r>
            <a:r>
              <a:rPr sz="1800" spc="275" dirty="0">
                <a:latin typeface="Calibri"/>
                <a:cs typeface="Calibri"/>
              </a:rPr>
              <a:t> </a:t>
            </a:r>
            <a:r>
              <a:rPr sz="1800" dirty="0">
                <a:latin typeface="Calibri"/>
                <a:cs typeface="Calibri"/>
              </a:rPr>
              <a:t>focused</a:t>
            </a:r>
            <a:r>
              <a:rPr sz="1800" spc="260" dirty="0">
                <a:latin typeface="Calibri"/>
                <a:cs typeface="Calibri"/>
              </a:rPr>
              <a:t> </a:t>
            </a:r>
            <a:r>
              <a:rPr sz="1800" dirty="0">
                <a:latin typeface="Calibri"/>
                <a:cs typeface="Calibri"/>
              </a:rPr>
              <a:t>and</a:t>
            </a:r>
            <a:r>
              <a:rPr sz="1800" spc="280" dirty="0">
                <a:latin typeface="Calibri"/>
                <a:cs typeface="Calibri"/>
              </a:rPr>
              <a:t> </a:t>
            </a:r>
            <a:r>
              <a:rPr sz="1800" dirty="0">
                <a:latin typeface="Calibri"/>
                <a:cs typeface="Calibri"/>
              </a:rPr>
              <a:t>impactful</a:t>
            </a:r>
            <a:r>
              <a:rPr sz="1800" spc="290" dirty="0">
                <a:latin typeface="Calibri"/>
                <a:cs typeface="Calibri"/>
              </a:rPr>
              <a:t> </a:t>
            </a:r>
            <a:r>
              <a:rPr sz="1800" dirty="0">
                <a:latin typeface="Calibri"/>
                <a:cs typeface="Calibri"/>
              </a:rPr>
              <a:t>solution</a:t>
            </a:r>
            <a:r>
              <a:rPr sz="1800" spc="260" dirty="0">
                <a:latin typeface="Calibri"/>
                <a:cs typeface="Calibri"/>
              </a:rPr>
              <a:t> </a:t>
            </a:r>
            <a:r>
              <a:rPr sz="1800" dirty="0">
                <a:latin typeface="Calibri"/>
                <a:cs typeface="Calibri"/>
              </a:rPr>
              <a:t>to</a:t>
            </a:r>
            <a:r>
              <a:rPr sz="1800" spc="280" dirty="0">
                <a:latin typeface="Calibri"/>
                <a:cs typeface="Calibri"/>
              </a:rPr>
              <a:t> </a:t>
            </a:r>
            <a:r>
              <a:rPr sz="1800" dirty="0">
                <a:latin typeface="Calibri"/>
                <a:cs typeface="Calibri"/>
              </a:rPr>
              <a:t>one</a:t>
            </a:r>
            <a:r>
              <a:rPr sz="1800" spc="265" dirty="0">
                <a:latin typeface="Calibri"/>
                <a:cs typeface="Calibri"/>
              </a:rPr>
              <a:t> </a:t>
            </a:r>
            <a:r>
              <a:rPr sz="1800" dirty="0">
                <a:latin typeface="Calibri"/>
                <a:cs typeface="Calibri"/>
              </a:rPr>
              <a:t>of</a:t>
            </a:r>
            <a:r>
              <a:rPr sz="1800" spc="275" dirty="0">
                <a:latin typeface="Calibri"/>
                <a:cs typeface="Calibri"/>
              </a:rPr>
              <a:t> </a:t>
            </a:r>
            <a:r>
              <a:rPr sz="1800" dirty="0">
                <a:latin typeface="Calibri"/>
                <a:cs typeface="Calibri"/>
              </a:rPr>
              <a:t>the</a:t>
            </a:r>
            <a:r>
              <a:rPr sz="1800" spc="260" dirty="0">
                <a:latin typeface="Calibri"/>
                <a:cs typeface="Calibri"/>
              </a:rPr>
              <a:t> </a:t>
            </a:r>
            <a:r>
              <a:rPr sz="1800" dirty="0">
                <a:latin typeface="Calibri"/>
                <a:cs typeface="Calibri"/>
              </a:rPr>
              <a:t>most</a:t>
            </a:r>
            <a:r>
              <a:rPr sz="1800" spc="295" dirty="0">
                <a:latin typeface="Calibri"/>
                <a:cs typeface="Calibri"/>
              </a:rPr>
              <a:t> </a:t>
            </a:r>
            <a:r>
              <a:rPr sz="1800" dirty="0">
                <a:latin typeface="Calibri"/>
                <a:cs typeface="Calibri"/>
              </a:rPr>
              <a:t>pressing</a:t>
            </a:r>
            <a:r>
              <a:rPr sz="1800" spc="340" dirty="0">
                <a:latin typeface="Calibri"/>
                <a:cs typeface="Calibri"/>
              </a:rPr>
              <a:t> </a:t>
            </a:r>
            <a:r>
              <a:rPr sz="1800" dirty="0">
                <a:latin typeface="Calibri"/>
                <a:cs typeface="Calibri"/>
              </a:rPr>
              <a:t>challenges</a:t>
            </a:r>
            <a:r>
              <a:rPr sz="1800" spc="265" dirty="0">
                <a:latin typeface="Calibri"/>
                <a:cs typeface="Calibri"/>
              </a:rPr>
              <a:t> </a:t>
            </a:r>
            <a:r>
              <a:rPr sz="1800" spc="-25" dirty="0">
                <a:latin typeface="Calibri"/>
                <a:cs typeface="Calibri"/>
              </a:rPr>
              <a:t>in</a:t>
            </a:r>
            <a:endParaRPr sz="1800" dirty="0">
              <a:latin typeface="Calibri"/>
              <a:cs typeface="Calibri"/>
            </a:endParaRPr>
          </a:p>
          <a:p>
            <a:pPr marL="12700" marR="362585" algn="just">
              <a:lnSpc>
                <a:spcPct val="171200"/>
              </a:lnSpc>
              <a:tabLst>
                <a:tab pos="1397635" algn="l"/>
                <a:tab pos="1851660" algn="l"/>
                <a:tab pos="2653030" algn="l"/>
                <a:tab pos="3305175" algn="l"/>
                <a:tab pos="3646170" algn="l"/>
                <a:tab pos="4584065" algn="l"/>
                <a:tab pos="5671185" algn="l"/>
                <a:tab pos="6630670" algn="l"/>
                <a:tab pos="7273290" algn="l"/>
                <a:tab pos="8229600" algn="l"/>
                <a:tab pos="9514840" algn="l"/>
                <a:tab pos="9898380" algn="l"/>
              </a:tabLst>
            </a:pPr>
            <a:r>
              <a:rPr sz="1800" dirty="0">
                <a:latin typeface="Calibri"/>
                <a:cs typeface="Calibri"/>
              </a:rPr>
              <a:t>modern</a:t>
            </a:r>
            <a:r>
              <a:rPr sz="1800" spc="450" dirty="0">
                <a:latin typeface="Calibri"/>
                <a:cs typeface="Calibri"/>
              </a:rPr>
              <a:t> </a:t>
            </a:r>
            <a:r>
              <a:rPr sz="1800" dirty="0">
                <a:latin typeface="Calibri"/>
                <a:cs typeface="Calibri"/>
              </a:rPr>
              <a:t>healthcare</a:t>
            </a:r>
            <a:r>
              <a:rPr sz="1800" spc="475" dirty="0">
                <a:latin typeface="Calibri"/>
                <a:cs typeface="Calibri"/>
              </a:rPr>
              <a:t> </a:t>
            </a:r>
            <a:r>
              <a:rPr sz="1800" dirty="0">
                <a:latin typeface="Calibri"/>
                <a:cs typeface="Calibri"/>
              </a:rPr>
              <a:t>—</a:t>
            </a:r>
            <a:r>
              <a:rPr sz="1800" spc="470" dirty="0">
                <a:latin typeface="Calibri"/>
                <a:cs typeface="Calibri"/>
              </a:rPr>
              <a:t> </a:t>
            </a:r>
            <a:r>
              <a:rPr sz="1800" dirty="0">
                <a:latin typeface="Calibri"/>
                <a:cs typeface="Calibri"/>
              </a:rPr>
              <a:t>the</a:t>
            </a:r>
            <a:r>
              <a:rPr sz="1800" spc="459" dirty="0">
                <a:latin typeface="Calibri"/>
                <a:cs typeface="Calibri"/>
              </a:rPr>
              <a:t> </a:t>
            </a:r>
            <a:r>
              <a:rPr sz="1800" dirty="0">
                <a:latin typeface="Calibri"/>
                <a:cs typeface="Calibri"/>
              </a:rPr>
              <a:t>early</a:t>
            </a:r>
            <a:r>
              <a:rPr sz="1800" spc="465" dirty="0">
                <a:latin typeface="Calibri"/>
                <a:cs typeface="Calibri"/>
              </a:rPr>
              <a:t> </a:t>
            </a:r>
            <a:r>
              <a:rPr sz="1800" dirty="0">
                <a:latin typeface="Calibri"/>
                <a:cs typeface="Calibri"/>
              </a:rPr>
              <a:t>detection</a:t>
            </a:r>
            <a:r>
              <a:rPr sz="1800" spc="459" dirty="0">
                <a:latin typeface="Calibri"/>
                <a:cs typeface="Calibri"/>
              </a:rPr>
              <a:t> </a:t>
            </a:r>
            <a:r>
              <a:rPr sz="1800" dirty="0">
                <a:latin typeface="Calibri"/>
                <a:cs typeface="Calibri"/>
              </a:rPr>
              <a:t>of</a:t>
            </a:r>
            <a:r>
              <a:rPr sz="1800" spc="470" dirty="0">
                <a:latin typeface="Calibri"/>
                <a:cs typeface="Calibri"/>
              </a:rPr>
              <a:t> </a:t>
            </a:r>
            <a:r>
              <a:rPr sz="1800" dirty="0">
                <a:latin typeface="Calibri"/>
                <a:cs typeface="Calibri"/>
              </a:rPr>
              <a:t>rare</a:t>
            </a:r>
            <a:r>
              <a:rPr sz="1800" spc="455" dirty="0">
                <a:latin typeface="Calibri"/>
                <a:cs typeface="Calibri"/>
              </a:rPr>
              <a:t> </a:t>
            </a:r>
            <a:r>
              <a:rPr sz="1800" dirty="0">
                <a:latin typeface="Calibri"/>
                <a:cs typeface="Calibri"/>
              </a:rPr>
              <a:t>brain</a:t>
            </a:r>
            <a:r>
              <a:rPr sz="1800" spc="459" dirty="0">
                <a:latin typeface="Calibri"/>
                <a:cs typeface="Calibri"/>
              </a:rPr>
              <a:t> </a:t>
            </a:r>
            <a:r>
              <a:rPr sz="1800" dirty="0">
                <a:latin typeface="Calibri"/>
                <a:cs typeface="Calibri"/>
              </a:rPr>
              <a:t>tumors.</a:t>
            </a:r>
            <a:r>
              <a:rPr sz="1800" spc="465" dirty="0">
                <a:latin typeface="Calibri"/>
                <a:cs typeface="Calibri"/>
              </a:rPr>
              <a:t> </a:t>
            </a:r>
            <a:r>
              <a:rPr sz="1800" dirty="0">
                <a:latin typeface="Calibri"/>
                <a:cs typeface="Calibri"/>
              </a:rPr>
              <a:t>By</a:t>
            </a:r>
            <a:r>
              <a:rPr sz="1800" spc="475" dirty="0">
                <a:latin typeface="Calibri"/>
                <a:cs typeface="Calibri"/>
              </a:rPr>
              <a:t> </a:t>
            </a:r>
            <a:r>
              <a:rPr sz="1800" dirty="0">
                <a:latin typeface="Calibri"/>
                <a:cs typeface="Calibri"/>
              </a:rPr>
              <a:t>applying</a:t>
            </a:r>
            <a:r>
              <a:rPr sz="1800" spc="465" dirty="0">
                <a:latin typeface="Calibri"/>
                <a:cs typeface="Calibri"/>
              </a:rPr>
              <a:t> </a:t>
            </a:r>
            <a:r>
              <a:rPr sz="1800" dirty="0">
                <a:latin typeface="Calibri"/>
                <a:cs typeface="Calibri"/>
              </a:rPr>
              <a:t>deep</a:t>
            </a:r>
            <a:r>
              <a:rPr sz="1800" spc="455" dirty="0">
                <a:latin typeface="Calibri"/>
                <a:cs typeface="Calibri"/>
              </a:rPr>
              <a:t> </a:t>
            </a:r>
            <a:r>
              <a:rPr sz="1800" dirty="0">
                <a:latin typeface="Calibri"/>
                <a:cs typeface="Calibri"/>
              </a:rPr>
              <a:t>learning</a:t>
            </a:r>
            <a:r>
              <a:rPr sz="1800" spc="484" dirty="0">
                <a:latin typeface="Calibri"/>
                <a:cs typeface="Calibri"/>
              </a:rPr>
              <a:t> </a:t>
            </a:r>
            <a:r>
              <a:rPr sz="1800" dirty="0">
                <a:latin typeface="Calibri"/>
                <a:cs typeface="Calibri"/>
              </a:rPr>
              <a:t>to</a:t>
            </a:r>
            <a:r>
              <a:rPr sz="1800" spc="470" dirty="0">
                <a:latin typeface="Calibri"/>
                <a:cs typeface="Calibri"/>
              </a:rPr>
              <a:t> </a:t>
            </a:r>
            <a:r>
              <a:rPr sz="1800" dirty="0">
                <a:latin typeface="Calibri"/>
                <a:cs typeface="Calibri"/>
              </a:rPr>
              <a:t>MRI</a:t>
            </a:r>
            <a:r>
              <a:rPr sz="1800" spc="450" dirty="0">
                <a:latin typeface="Calibri"/>
                <a:cs typeface="Calibri"/>
              </a:rPr>
              <a:t> </a:t>
            </a:r>
            <a:r>
              <a:rPr sz="1800" spc="-10" dirty="0">
                <a:latin typeface="Calibri"/>
                <a:cs typeface="Calibri"/>
              </a:rPr>
              <a:t>image classification,</a:t>
            </a:r>
            <a:r>
              <a:rPr sz="1800" dirty="0">
                <a:latin typeface="Calibri"/>
                <a:cs typeface="Calibri"/>
              </a:rPr>
              <a:t>	</a:t>
            </a:r>
            <a:r>
              <a:rPr sz="1800" spc="-25" dirty="0">
                <a:latin typeface="Calibri"/>
                <a:cs typeface="Calibri"/>
              </a:rPr>
              <a:t>the</a:t>
            </a:r>
            <a:r>
              <a:rPr sz="1800" dirty="0">
                <a:latin typeface="Calibri"/>
                <a:cs typeface="Calibri"/>
              </a:rPr>
              <a:t>	</a:t>
            </a:r>
            <a:r>
              <a:rPr sz="1800" spc="-10" dirty="0">
                <a:latin typeface="Calibri"/>
                <a:cs typeface="Calibri"/>
              </a:rPr>
              <a:t>system</a:t>
            </a:r>
            <a:r>
              <a:rPr sz="1800" dirty="0">
                <a:latin typeface="Calibri"/>
                <a:cs typeface="Calibri"/>
              </a:rPr>
              <a:t>	</a:t>
            </a:r>
            <a:r>
              <a:rPr sz="1800" spc="-20" dirty="0">
                <a:latin typeface="Calibri"/>
                <a:cs typeface="Calibri"/>
              </a:rPr>
              <a:t>seeks</a:t>
            </a:r>
            <a:r>
              <a:rPr sz="1800" dirty="0">
                <a:latin typeface="Calibri"/>
                <a:cs typeface="Calibri"/>
              </a:rPr>
              <a:t>	</a:t>
            </a:r>
            <a:r>
              <a:rPr sz="1800" spc="-25" dirty="0">
                <a:latin typeface="Calibri"/>
                <a:cs typeface="Calibri"/>
              </a:rPr>
              <a:t>to</a:t>
            </a:r>
            <a:r>
              <a:rPr sz="1800" dirty="0">
                <a:latin typeface="Calibri"/>
                <a:cs typeface="Calibri"/>
              </a:rPr>
              <a:t>	</a:t>
            </a:r>
            <a:r>
              <a:rPr sz="1800" spc="-10" dirty="0">
                <a:latin typeface="Calibri"/>
                <a:cs typeface="Calibri"/>
              </a:rPr>
              <a:t>enhance</a:t>
            </a:r>
            <a:r>
              <a:rPr sz="1800" dirty="0">
                <a:latin typeface="Calibri"/>
                <a:cs typeface="Calibri"/>
              </a:rPr>
              <a:t>	</a:t>
            </a:r>
            <a:r>
              <a:rPr sz="1800" spc="-10" dirty="0">
                <a:latin typeface="Calibri"/>
                <a:cs typeface="Calibri"/>
              </a:rPr>
              <a:t>diagnostic</a:t>
            </a:r>
            <a:r>
              <a:rPr sz="1800" dirty="0">
                <a:latin typeface="Calibri"/>
                <a:cs typeface="Calibri"/>
              </a:rPr>
              <a:t>	</a:t>
            </a:r>
            <a:r>
              <a:rPr sz="1800" spc="-10" dirty="0">
                <a:latin typeface="Calibri"/>
                <a:cs typeface="Calibri"/>
              </a:rPr>
              <a:t>accuracy</a:t>
            </a:r>
            <a:r>
              <a:rPr sz="1800" dirty="0">
                <a:latin typeface="Calibri"/>
                <a:cs typeface="Calibri"/>
              </a:rPr>
              <a:t>	</a:t>
            </a:r>
            <a:r>
              <a:rPr sz="1800" spc="-10" dirty="0">
                <a:latin typeface="Calibri"/>
                <a:cs typeface="Calibri"/>
              </a:rPr>
              <a:t>while</a:t>
            </a:r>
            <a:r>
              <a:rPr sz="1800" dirty="0">
                <a:latin typeface="Calibri"/>
                <a:cs typeface="Calibri"/>
              </a:rPr>
              <a:t>	</a:t>
            </a:r>
            <a:r>
              <a:rPr sz="1800" spc="-10" dirty="0">
                <a:latin typeface="Calibri"/>
                <a:cs typeface="Calibri"/>
              </a:rPr>
              <a:t>reducing</a:t>
            </a:r>
            <a:r>
              <a:rPr sz="1800" dirty="0">
                <a:latin typeface="Calibri"/>
                <a:cs typeface="Calibri"/>
              </a:rPr>
              <a:t>	</a:t>
            </a:r>
            <a:r>
              <a:rPr sz="1800" spc="-10" dirty="0">
                <a:latin typeface="Calibri"/>
                <a:cs typeface="Calibri"/>
              </a:rPr>
              <a:t>dependency</a:t>
            </a:r>
            <a:r>
              <a:rPr sz="1800" dirty="0">
                <a:latin typeface="Calibri"/>
                <a:cs typeface="Calibri"/>
              </a:rPr>
              <a:t>	</a:t>
            </a:r>
            <a:r>
              <a:rPr sz="1800" spc="-25" dirty="0">
                <a:latin typeface="Calibri"/>
                <a:cs typeface="Calibri"/>
              </a:rPr>
              <a:t>on</a:t>
            </a:r>
            <a:r>
              <a:rPr sz="1800" dirty="0">
                <a:latin typeface="Calibri"/>
                <a:cs typeface="Calibri"/>
              </a:rPr>
              <a:t>	</a:t>
            </a:r>
            <a:r>
              <a:rPr sz="1800" spc="-10" dirty="0">
                <a:latin typeface="Calibri"/>
                <a:cs typeface="Calibri"/>
              </a:rPr>
              <a:t>manual</a:t>
            </a:r>
            <a:endParaRPr sz="1800" dirty="0">
              <a:latin typeface="Calibri"/>
              <a:cs typeface="Calibri"/>
            </a:endParaRPr>
          </a:p>
          <a:p>
            <a:pPr marL="12700" algn="just">
              <a:lnSpc>
                <a:spcPct val="100000"/>
              </a:lnSpc>
              <a:spcBef>
                <a:spcPts val="1560"/>
              </a:spcBef>
            </a:pPr>
            <a:r>
              <a:rPr sz="1800" spc="-10" dirty="0">
                <a:latin typeface="Calibri"/>
                <a:cs typeface="Calibri"/>
              </a:rPr>
              <a:t>interpretation.</a:t>
            </a:r>
            <a:endParaRPr sz="1800" dirty="0">
              <a:latin typeface="Calibri"/>
              <a:cs typeface="Calibri"/>
            </a:endParaRPr>
          </a:p>
          <a:p>
            <a:pPr marL="12700" marR="365125" algn="just">
              <a:lnSpc>
                <a:spcPct val="171200"/>
              </a:lnSpc>
            </a:pPr>
            <a:r>
              <a:rPr sz="1800" dirty="0">
                <a:latin typeface="Calibri"/>
                <a:cs typeface="Calibri"/>
              </a:rPr>
              <a:t>The</a:t>
            </a:r>
            <a:r>
              <a:rPr sz="1800" spc="275" dirty="0">
                <a:latin typeface="Calibri"/>
                <a:cs typeface="Calibri"/>
              </a:rPr>
              <a:t> </a:t>
            </a:r>
            <a:r>
              <a:rPr sz="1800" dirty="0">
                <a:latin typeface="Calibri"/>
                <a:cs typeface="Calibri"/>
              </a:rPr>
              <a:t>development</a:t>
            </a:r>
            <a:r>
              <a:rPr sz="1800" spc="305" dirty="0">
                <a:latin typeface="Calibri"/>
                <a:cs typeface="Calibri"/>
              </a:rPr>
              <a:t> </a:t>
            </a:r>
            <a:r>
              <a:rPr sz="1800" dirty="0">
                <a:latin typeface="Calibri"/>
                <a:cs typeface="Calibri"/>
              </a:rPr>
              <a:t>of</a:t>
            </a:r>
            <a:r>
              <a:rPr sz="1800" spc="290" dirty="0">
                <a:latin typeface="Calibri"/>
                <a:cs typeface="Calibri"/>
              </a:rPr>
              <a:t> </a:t>
            </a:r>
            <a:r>
              <a:rPr sz="1800" dirty="0">
                <a:latin typeface="Calibri"/>
                <a:cs typeface="Calibri"/>
              </a:rPr>
              <a:t>a</a:t>
            </a:r>
            <a:r>
              <a:rPr sz="1800" spc="285" dirty="0">
                <a:latin typeface="Calibri"/>
                <a:cs typeface="Calibri"/>
              </a:rPr>
              <a:t> </a:t>
            </a:r>
            <a:r>
              <a:rPr sz="1800" dirty="0">
                <a:latin typeface="Calibri"/>
                <a:cs typeface="Calibri"/>
              </a:rPr>
              <a:t>custom</a:t>
            </a:r>
            <a:r>
              <a:rPr sz="1800" spc="315" dirty="0">
                <a:latin typeface="Calibri"/>
                <a:cs typeface="Calibri"/>
              </a:rPr>
              <a:t> </a:t>
            </a:r>
            <a:r>
              <a:rPr sz="1800" dirty="0">
                <a:latin typeface="Calibri"/>
                <a:cs typeface="Calibri"/>
              </a:rPr>
              <a:t>AI</a:t>
            </a:r>
            <a:r>
              <a:rPr sz="1800" spc="290" dirty="0">
                <a:latin typeface="Calibri"/>
                <a:cs typeface="Calibri"/>
              </a:rPr>
              <a:t> </a:t>
            </a:r>
            <a:r>
              <a:rPr sz="1800" dirty="0">
                <a:latin typeface="Calibri"/>
                <a:cs typeface="Calibri"/>
              </a:rPr>
              <a:t>model,</a:t>
            </a:r>
            <a:r>
              <a:rPr sz="1800" spc="295" dirty="0">
                <a:latin typeface="Calibri"/>
                <a:cs typeface="Calibri"/>
              </a:rPr>
              <a:t> </a:t>
            </a:r>
            <a:r>
              <a:rPr sz="1800" dirty="0">
                <a:latin typeface="Calibri"/>
                <a:cs typeface="Calibri"/>
              </a:rPr>
              <a:t>along</a:t>
            </a:r>
            <a:r>
              <a:rPr sz="1800" spc="300" dirty="0">
                <a:latin typeface="Calibri"/>
                <a:cs typeface="Calibri"/>
              </a:rPr>
              <a:t> </a:t>
            </a:r>
            <a:r>
              <a:rPr sz="1800" dirty="0">
                <a:latin typeface="Calibri"/>
                <a:cs typeface="Calibri"/>
              </a:rPr>
              <a:t>with</a:t>
            </a:r>
            <a:r>
              <a:rPr sz="1800" spc="270" dirty="0">
                <a:latin typeface="Calibri"/>
                <a:cs typeface="Calibri"/>
              </a:rPr>
              <a:t> </a:t>
            </a:r>
            <a:r>
              <a:rPr sz="1800" dirty="0">
                <a:latin typeface="Calibri"/>
                <a:cs typeface="Calibri"/>
              </a:rPr>
              <a:t>comparative</a:t>
            </a:r>
            <a:r>
              <a:rPr sz="1800" spc="280" dirty="0">
                <a:latin typeface="Calibri"/>
                <a:cs typeface="Calibri"/>
              </a:rPr>
              <a:t> </a:t>
            </a:r>
            <a:r>
              <a:rPr sz="1800" dirty="0">
                <a:latin typeface="Calibri"/>
                <a:cs typeface="Calibri"/>
              </a:rPr>
              <a:t>analysis</a:t>
            </a:r>
            <a:r>
              <a:rPr sz="1800" spc="285" dirty="0">
                <a:latin typeface="Calibri"/>
                <a:cs typeface="Calibri"/>
              </a:rPr>
              <a:t> </a:t>
            </a:r>
            <a:r>
              <a:rPr sz="1800" dirty="0">
                <a:latin typeface="Calibri"/>
                <a:cs typeface="Calibri"/>
              </a:rPr>
              <a:t>against</a:t>
            </a:r>
            <a:r>
              <a:rPr sz="1800" spc="305" dirty="0">
                <a:latin typeface="Calibri"/>
                <a:cs typeface="Calibri"/>
              </a:rPr>
              <a:t> </a:t>
            </a:r>
            <a:r>
              <a:rPr sz="1800" dirty="0">
                <a:latin typeface="Calibri"/>
                <a:cs typeface="Calibri"/>
              </a:rPr>
              <a:t>standard</a:t>
            </a:r>
            <a:r>
              <a:rPr sz="1800" spc="275" dirty="0">
                <a:latin typeface="Calibri"/>
                <a:cs typeface="Calibri"/>
              </a:rPr>
              <a:t> </a:t>
            </a:r>
            <a:r>
              <a:rPr sz="1800" dirty="0">
                <a:latin typeface="Calibri"/>
                <a:cs typeface="Calibri"/>
              </a:rPr>
              <a:t>architectures</a:t>
            </a:r>
            <a:r>
              <a:rPr sz="1800" spc="305" dirty="0">
                <a:latin typeface="Calibri"/>
                <a:cs typeface="Calibri"/>
              </a:rPr>
              <a:t> </a:t>
            </a:r>
            <a:r>
              <a:rPr sz="1800" spc="-20" dirty="0">
                <a:latin typeface="Calibri"/>
                <a:cs typeface="Calibri"/>
              </a:rPr>
              <a:t>like </a:t>
            </a:r>
            <a:r>
              <a:rPr sz="1800" dirty="0">
                <a:latin typeface="Calibri"/>
                <a:cs typeface="Calibri"/>
              </a:rPr>
              <a:t>VGG16</a:t>
            </a:r>
            <a:r>
              <a:rPr sz="1800" spc="260" dirty="0">
                <a:latin typeface="Calibri"/>
                <a:cs typeface="Calibri"/>
              </a:rPr>
              <a:t> </a:t>
            </a:r>
            <a:r>
              <a:rPr sz="1800" dirty="0">
                <a:latin typeface="Calibri"/>
                <a:cs typeface="Calibri"/>
              </a:rPr>
              <a:t>and</a:t>
            </a:r>
            <a:r>
              <a:rPr sz="1800" spc="254" dirty="0">
                <a:latin typeface="Calibri"/>
                <a:cs typeface="Calibri"/>
              </a:rPr>
              <a:t> </a:t>
            </a:r>
            <a:r>
              <a:rPr sz="1800" dirty="0">
                <a:latin typeface="Calibri"/>
                <a:cs typeface="Calibri"/>
              </a:rPr>
              <a:t>ResNet50,</a:t>
            </a:r>
            <a:r>
              <a:rPr sz="1800" spc="265" dirty="0">
                <a:latin typeface="Calibri"/>
                <a:cs typeface="Calibri"/>
              </a:rPr>
              <a:t> </a:t>
            </a:r>
            <a:r>
              <a:rPr sz="1800" dirty="0">
                <a:latin typeface="Calibri"/>
                <a:cs typeface="Calibri"/>
              </a:rPr>
              <a:t>provides</a:t>
            </a:r>
            <a:r>
              <a:rPr sz="1800" spc="260" dirty="0">
                <a:latin typeface="Calibri"/>
                <a:cs typeface="Calibri"/>
              </a:rPr>
              <a:t> </a:t>
            </a:r>
            <a:r>
              <a:rPr sz="1800" dirty="0">
                <a:latin typeface="Calibri"/>
                <a:cs typeface="Calibri"/>
              </a:rPr>
              <a:t>both</a:t>
            </a:r>
            <a:r>
              <a:rPr sz="1800" spc="254" dirty="0">
                <a:latin typeface="Calibri"/>
                <a:cs typeface="Calibri"/>
              </a:rPr>
              <a:t> </a:t>
            </a:r>
            <a:r>
              <a:rPr sz="1800" dirty="0">
                <a:latin typeface="Calibri"/>
                <a:cs typeface="Calibri"/>
              </a:rPr>
              <a:t>technical</a:t>
            </a:r>
            <a:r>
              <a:rPr sz="1800" spc="260" dirty="0">
                <a:latin typeface="Calibri"/>
                <a:cs typeface="Calibri"/>
              </a:rPr>
              <a:t> </a:t>
            </a:r>
            <a:r>
              <a:rPr sz="1800" dirty="0">
                <a:latin typeface="Calibri"/>
                <a:cs typeface="Calibri"/>
              </a:rPr>
              <a:t>insight</a:t>
            </a:r>
            <a:r>
              <a:rPr sz="1800" spc="265" dirty="0">
                <a:latin typeface="Calibri"/>
                <a:cs typeface="Calibri"/>
              </a:rPr>
              <a:t> </a:t>
            </a:r>
            <a:r>
              <a:rPr sz="1800" dirty="0">
                <a:latin typeface="Calibri"/>
                <a:cs typeface="Calibri"/>
              </a:rPr>
              <a:t>and</a:t>
            </a:r>
            <a:r>
              <a:rPr sz="1800" spc="254" dirty="0">
                <a:latin typeface="Calibri"/>
                <a:cs typeface="Calibri"/>
              </a:rPr>
              <a:t> </a:t>
            </a:r>
            <a:r>
              <a:rPr sz="1800" dirty="0">
                <a:latin typeface="Calibri"/>
                <a:cs typeface="Calibri"/>
              </a:rPr>
              <a:t>practical</a:t>
            </a:r>
            <a:r>
              <a:rPr sz="1800" spc="260" dirty="0">
                <a:latin typeface="Calibri"/>
                <a:cs typeface="Calibri"/>
              </a:rPr>
              <a:t> </a:t>
            </a:r>
            <a:r>
              <a:rPr sz="1800" dirty="0">
                <a:latin typeface="Calibri"/>
                <a:cs typeface="Calibri"/>
              </a:rPr>
              <a:t>value.</a:t>
            </a:r>
            <a:r>
              <a:rPr sz="1800" spc="270" dirty="0">
                <a:latin typeface="Calibri"/>
                <a:cs typeface="Calibri"/>
              </a:rPr>
              <a:t> </a:t>
            </a:r>
            <a:r>
              <a:rPr sz="1800" dirty="0">
                <a:latin typeface="Calibri"/>
                <a:cs typeface="Calibri"/>
              </a:rPr>
              <a:t>The</a:t>
            </a:r>
            <a:r>
              <a:rPr sz="1800" spc="254" dirty="0">
                <a:latin typeface="Calibri"/>
                <a:cs typeface="Calibri"/>
              </a:rPr>
              <a:t> </a:t>
            </a:r>
            <a:r>
              <a:rPr sz="1800" dirty="0">
                <a:latin typeface="Calibri"/>
                <a:cs typeface="Calibri"/>
              </a:rPr>
              <a:t>model</a:t>
            </a:r>
            <a:r>
              <a:rPr sz="1800" spc="260" dirty="0">
                <a:latin typeface="Calibri"/>
                <a:cs typeface="Calibri"/>
              </a:rPr>
              <a:t> </a:t>
            </a:r>
            <a:r>
              <a:rPr sz="1800" dirty="0">
                <a:latin typeface="Calibri"/>
                <a:cs typeface="Calibri"/>
              </a:rPr>
              <a:t>is</a:t>
            </a:r>
            <a:r>
              <a:rPr sz="1800" spc="260" dirty="0">
                <a:latin typeface="Calibri"/>
                <a:cs typeface="Calibri"/>
              </a:rPr>
              <a:t> </a:t>
            </a:r>
            <a:r>
              <a:rPr sz="1800" dirty="0">
                <a:latin typeface="Calibri"/>
                <a:cs typeface="Calibri"/>
              </a:rPr>
              <a:t>expected</a:t>
            </a:r>
            <a:r>
              <a:rPr sz="1800" spc="250" dirty="0">
                <a:latin typeface="Calibri"/>
                <a:cs typeface="Calibri"/>
              </a:rPr>
              <a:t> </a:t>
            </a:r>
            <a:r>
              <a:rPr sz="1800" dirty="0">
                <a:latin typeface="Calibri"/>
                <a:cs typeface="Calibri"/>
              </a:rPr>
              <a:t>to</a:t>
            </a:r>
            <a:r>
              <a:rPr sz="1800" spc="275" dirty="0">
                <a:latin typeface="Calibri"/>
                <a:cs typeface="Calibri"/>
              </a:rPr>
              <a:t> </a:t>
            </a:r>
            <a:r>
              <a:rPr sz="1800" spc="-10" dirty="0">
                <a:latin typeface="Calibri"/>
                <a:cs typeface="Calibri"/>
              </a:rPr>
              <a:t>perform</a:t>
            </a:r>
            <a:endParaRPr sz="1800" dirty="0">
              <a:latin typeface="Calibri"/>
              <a:cs typeface="Calibri"/>
            </a:endParaRPr>
          </a:p>
          <a:p>
            <a:pPr marL="12700" marR="361950" algn="just">
              <a:lnSpc>
                <a:spcPct val="171100"/>
              </a:lnSpc>
              <a:spcBef>
                <a:spcPts val="25"/>
              </a:spcBef>
            </a:pPr>
            <a:r>
              <a:rPr sz="1800" dirty="0">
                <a:latin typeface="Calibri"/>
                <a:cs typeface="Calibri"/>
              </a:rPr>
              <a:t>efficiently</a:t>
            </a:r>
            <a:r>
              <a:rPr sz="1800" spc="60" dirty="0">
                <a:latin typeface="Calibri"/>
                <a:cs typeface="Calibri"/>
              </a:rPr>
              <a:t> </a:t>
            </a:r>
            <a:r>
              <a:rPr sz="1800" dirty="0">
                <a:latin typeface="Calibri"/>
                <a:cs typeface="Calibri"/>
              </a:rPr>
              <a:t>across</a:t>
            </a:r>
            <a:r>
              <a:rPr sz="1800" spc="75" dirty="0">
                <a:latin typeface="Calibri"/>
                <a:cs typeface="Calibri"/>
              </a:rPr>
              <a:t> </a:t>
            </a:r>
            <a:r>
              <a:rPr sz="1800" dirty="0">
                <a:latin typeface="Calibri"/>
                <a:cs typeface="Calibri"/>
              </a:rPr>
              <a:t>various</a:t>
            </a:r>
            <a:r>
              <a:rPr sz="1800" spc="50" dirty="0">
                <a:latin typeface="Calibri"/>
                <a:cs typeface="Calibri"/>
              </a:rPr>
              <a:t> </a:t>
            </a:r>
            <a:r>
              <a:rPr sz="1800" dirty="0">
                <a:latin typeface="Calibri"/>
                <a:cs typeface="Calibri"/>
              </a:rPr>
              <a:t>tumor</a:t>
            </a:r>
            <a:r>
              <a:rPr sz="1800" spc="60" dirty="0">
                <a:latin typeface="Calibri"/>
                <a:cs typeface="Calibri"/>
              </a:rPr>
              <a:t> </a:t>
            </a:r>
            <a:r>
              <a:rPr sz="1800" dirty="0">
                <a:latin typeface="Calibri"/>
                <a:cs typeface="Calibri"/>
              </a:rPr>
              <a:t>types,</a:t>
            </a:r>
            <a:r>
              <a:rPr sz="1800" spc="65" dirty="0">
                <a:latin typeface="Calibri"/>
                <a:cs typeface="Calibri"/>
              </a:rPr>
              <a:t> </a:t>
            </a:r>
            <a:r>
              <a:rPr sz="1800" dirty="0">
                <a:latin typeface="Calibri"/>
                <a:cs typeface="Calibri"/>
              </a:rPr>
              <a:t>particularly</a:t>
            </a:r>
            <a:r>
              <a:rPr sz="1800" spc="80" dirty="0">
                <a:latin typeface="Calibri"/>
                <a:cs typeface="Calibri"/>
              </a:rPr>
              <a:t> </a:t>
            </a:r>
            <a:r>
              <a:rPr sz="1800" dirty="0">
                <a:latin typeface="Calibri"/>
                <a:cs typeface="Calibri"/>
              </a:rPr>
              <a:t>those</a:t>
            </a:r>
            <a:r>
              <a:rPr sz="1800" spc="80" dirty="0">
                <a:latin typeface="Calibri"/>
                <a:cs typeface="Calibri"/>
              </a:rPr>
              <a:t> </a:t>
            </a:r>
            <a:r>
              <a:rPr sz="1800" dirty="0">
                <a:latin typeface="Calibri"/>
                <a:cs typeface="Calibri"/>
              </a:rPr>
              <a:t>that</a:t>
            </a:r>
            <a:r>
              <a:rPr sz="1800" spc="55" dirty="0">
                <a:latin typeface="Calibri"/>
                <a:cs typeface="Calibri"/>
              </a:rPr>
              <a:t> </a:t>
            </a:r>
            <a:r>
              <a:rPr sz="1800" dirty="0">
                <a:latin typeface="Calibri"/>
                <a:cs typeface="Calibri"/>
              </a:rPr>
              <a:t>are</a:t>
            </a:r>
            <a:r>
              <a:rPr sz="1800" spc="80" dirty="0">
                <a:latin typeface="Calibri"/>
                <a:cs typeface="Calibri"/>
              </a:rPr>
              <a:t> </a:t>
            </a:r>
            <a:r>
              <a:rPr sz="1800" dirty="0">
                <a:latin typeface="Calibri"/>
                <a:cs typeface="Calibri"/>
              </a:rPr>
              <a:t>rare</a:t>
            </a:r>
            <a:r>
              <a:rPr sz="1800" spc="55" dirty="0">
                <a:latin typeface="Calibri"/>
                <a:cs typeface="Calibri"/>
              </a:rPr>
              <a:t> </a:t>
            </a:r>
            <a:r>
              <a:rPr sz="1800" dirty="0">
                <a:latin typeface="Calibri"/>
                <a:cs typeface="Calibri"/>
              </a:rPr>
              <a:t>or</a:t>
            </a:r>
            <a:r>
              <a:rPr sz="1800" spc="55" dirty="0">
                <a:latin typeface="Calibri"/>
                <a:cs typeface="Calibri"/>
              </a:rPr>
              <a:t> </a:t>
            </a:r>
            <a:r>
              <a:rPr sz="1800" dirty="0">
                <a:latin typeface="Calibri"/>
                <a:cs typeface="Calibri"/>
              </a:rPr>
              <a:t>subtle,</a:t>
            </a:r>
            <a:r>
              <a:rPr sz="1800" spc="65" dirty="0">
                <a:latin typeface="Calibri"/>
                <a:cs typeface="Calibri"/>
              </a:rPr>
              <a:t> </a:t>
            </a:r>
            <a:r>
              <a:rPr sz="1800" dirty="0">
                <a:latin typeface="Calibri"/>
                <a:cs typeface="Calibri"/>
              </a:rPr>
              <a:t>making</a:t>
            </a:r>
            <a:r>
              <a:rPr sz="1800" spc="75" dirty="0">
                <a:latin typeface="Calibri"/>
                <a:cs typeface="Calibri"/>
              </a:rPr>
              <a:t> </a:t>
            </a:r>
            <a:r>
              <a:rPr sz="1800" dirty="0">
                <a:latin typeface="Calibri"/>
                <a:cs typeface="Calibri"/>
              </a:rPr>
              <a:t>it</a:t>
            </a:r>
            <a:r>
              <a:rPr sz="1800" spc="60" dirty="0">
                <a:latin typeface="Calibri"/>
                <a:cs typeface="Calibri"/>
              </a:rPr>
              <a:t> </a:t>
            </a:r>
            <a:r>
              <a:rPr sz="1800" dirty="0">
                <a:latin typeface="Calibri"/>
                <a:cs typeface="Calibri"/>
              </a:rPr>
              <a:t>a</a:t>
            </a:r>
            <a:r>
              <a:rPr sz="1800" spc="85" dirty="0">
                <a:latin typeface="Calibri"/>
                <a:cs typeface="Calibri"/>
              </a:rPr>
              <a:t> </a:t>
            </a:r>
            <a:r>
              <a:rPr sz="1800" dirty="0">
                <a:latin typeface="Calibri"/>
                <a:cs typeface="Calibri"/>
              </a:rPr>
              <a:t>strong</a:t>
            </a:r>
            <a:r>
              <a:rPr sz="1800" spc="80" dirty="0">
                <a:latin typeface="Calibri"/>
                <a:cs typeface="Calibri"/>
              </a:rPr>
              <a:t> </a:t>
            </a:r>
            <a:r>
              <a:rPr sz="1800" dirty="0">
                <a:latin typeface="Calibri"/>
                <a:cs typeface="Calibri"/>
              </a:rPr>
              <a:t>candidate</a:t>
            </a:r>
            <a:r>
              <a:rPr sz="1800" spc="55" dirty="0">
                <a:latin typeface="Calibri"/>
                <a:cs typeface="Calibri"/>
              </a:rPr>
              <a:t> </a:t>
            </a:r>
            <a:r>
              <a:rPr sz="1800" spc="-25" dirty="0">
                <a:latin typeface="Calibri"/>
                <a:cs typeface="Calibri"/>
              </a:rPr>
              <a:t>for </a:t>
            </a:r>
            <a:r>
              <a:rPr sz="1800" spc="-10" dirty="0">
                <a:latin typeface="Calibri"/>
                <a:cs typeface="Calibri"/>
              </a:rPr>
              <a:t>real-</a:t>
            </a:r>
            <a:r>
              <a:rPr sz="1800" dirty="0">
                <a:latin typeface="Calibri"/>
                <a:cs typeface="Calibri"/>
              </a:rPr>
              <a:t>world</a:t>
            </a:r>
            <a:r>
              <a:rPr sz="1800" spc="-50" dirty="0">
                <a:latin typeface="Calibri"/>
                <a:cs typeface="Calibri"/>
              </a:rPr>
              <a:t> </a:t>
            </a:r>
            <a:r>
              <a:rPr sz="1800" dirty="0">
                <a:latin typeface="Calibri"/>
                <a:cs typeface="Calibri"/>
              </a:rPr>
              <a:t>clinical</a:t>
            </a:r>
            <a:r>
              <a:rPr sz="1800" spc="-35" dirty="0">
                <a:latin typeface="Calibri"/>
                <a:cs typeface="Calibri"/>
              </a:rPr>
              <a:t> </a:t>
            </a:r>
            <a:r>
              <a:rPr sz="1800" dirty="0">
                <a:latin typeface="Calibri"/>
                <a:cs typeface="Calibri"/>
              </a:rPr>
              <a:t>support</a:t>
            </a:r>
            <a:r>
              <a:rPr sz="1800" spc="-20" dirty="0">
                <a:latin typeface="Calibri"/>
                <a:cs typeface="Calibri"/>
              </a:rPr>
              <a:t> </a:t>
            </a:r>
            <a:r>
              <a:rPr sz="1800" spc="-10" dirty="0">
                <a:latin typeface="Calibri"/>
                <a:cs typeface="Calibri"/>
              </a:rPr>
              <a:t>systems.</a:t>
            </a:r>
            <a:endParaRPr sz="1800" dirty="0">
              <a:latin typeface="Calibri"/>
              <a:cs typeface="Calibri"/>
            </a:endParaRPr>
          </a:p>
          <a:p>
            <a:pPr marL="12700" marR="5080" algn="just">
              <a:lnSpc>
                <a:spcPct val="171200"/>
              </a:lnSpc>
              <a:spcBef>
                <a:spcPts val="25"/>
              </a:spcBef>
            </a:pPr>
            <a:r>
              <a:rPr sz="1800" dirty="0">
                <a:latin typeface="Calibri"/>
                <a:cs typeface="Calibri"/>
              </a:rPr>
              <a:t>If</a:t>
            </a:r>
            <a:r>
              <a:rPr sz="1800" spc="-55" dirty="0">
                <a:latin typeface="Calibri"/>
                <a:cs typeface="Calibri"/>
              </a:rPr>
              <a:t> </a:t>
            </a:r>
            <a:r>
              <a:rPr sz="1800" spc="-20" dirty="0">
                <a:latin typeface="Calibri"/>
                <a:cs typeface="Calibri"/>
              </a:rPr>
              <a:t>successful,</a:t>
            </a:r>
            <a:r>
              <a:rPr sz="1800" spc="-55" dirty="0">
                <a:latin typeface="Calibri"/>
                <a:cs typeface="Calibri"/>
              </a:rPr>
              <a:t> </a:t>
            </a:r>
            <a:r>
              <a:rPr sz="1800" dirty="0">
                <a:latin typeface="Calibri"/>
                <a:cs typeface="Calibri"/>
              </a:rPr>
              <a:t>this</a:t>
            </a:r>
            <a:r>
              <a:rPr sz="1800" spc="-45" dirty="0">
                <a:latin typeface="Calibri"/>
                <a:cs typeface="Calibri"/>
              </a:rPr>
              <a:t> </a:t>
            </a:r>
            <a:r>
              <a:rPr sz="1800" spc="-10" dirty="0">
                <a:latin typeface="Calibri"/>
                <a:cs typeface="Calibri"/>
              </a:rPr>
              <a:t>system</a:t>
            </a:r>
            <a:r>
              <a:rPr sz="1800" spc="-60" dirty="0">
                <a:latin typeface="Calibri"/>
                <a:cs typeface="Calibri"/>
              </a:rPr>
              <a:t> </a:t>
            </a:r>
            <a:r>
              <a:rPr sz="1800" dirty="0">
                <a:latin typeface="Calibri"/>
                <a:cs typeface="Calibri"/>
              </a:rPr>
              <a:t>can</a:t>
            </a:r>
            <a:r>
              <a:rPr sz="1800" spc="-40" dirty="0">
                <a:latin typeface="Calibri"/>
                <a:cs typeface="Calibri"/>
              </a:rPr>
              <a:t> </a:t>
            </a:r>
            <a:r>
              <a:rPr sz="1800" dirty="0">
                <a:latin typeface="Calibri"/>
                <a:cs typeface="Calibri"/>
              </a:rPr>
              <a:t>be</a:t>
            </a:r>
            <a:r>
              <a:rPr sz="1800" spc="-70" dirty="0">
                <a:latin typeface="Calibri"/>
                <a:cs typeface="Calibri"/>
              </a:rPr>
              <a:t> </a:t>
            </a:r>
            <a:r>
              <a:rPr sz="1800" spc="-10" dirty="0">
                <a:latin typeface="Calibri"/>
                <a:cs typeface="Calibri"/>
              </a:rPr>
              <a:t>adapted</a:t>
            </a:r>
            <a:r>
              <a:rPr sz="1800" spc="-65" dirty="0">
                <a:latin typeface="Calibri"/>
                <a:cs typeface="Calibri"/>
              </a:rPr>
              <a:t> </a:t>
            </a:r>
            <a:r>
              <a:rPr sz="1800" dirty="0">
                <a:latin typeface="Calibri"/>
                <a:cs typeface="Calibri"/>
              </a:rPr>
              <a:t>for</a:t>
            </a:r>
            <a:r>
              <a:rPr sz="1800" spc="-65" dirty="0">
                <a:latin typeface="Calibri"/>
                <a:cs typeface="Calibri"/>
              </a:rPr>
              <a:t> </a:t>
            </a:r>
            <a:r>
              <a:rPr sz="1800" spc="-10" dirty="0">
                <a:latin typeface="Calibri"/>
                <a:cs typeface="Calibri"/>
              </a:rPr>
              <a:t>other</a:t>
            </a:r>
            <a:r>
              <a:rPr sz="1800" spc="-65" dirty="0">
                <a:latin typeface="Calibri"/>
                <a:cs typeface="Calibri"/>
              </a:rPr>
              <a:t> </a:t>
            </a:r>
            <a:r>
              <a:rPr sz="1800" dirty="0">
                <a:latin typeface="Calibri"/>
                <a:cs typeface="Calibri"/>
              </a:rPr>
              <a:t>rare</a:t>
            </a:r>
            <a:r>
              <a:rPr sz="1800" spc="-45" dirty="0">
                <a:latin typeface="Calibri"/>
                <a:cs typeface="Calibri"/>
              </a:rPr>
              <a:t> </a:t>
            </a:r>
            <a:r>
              <a:rPr sz="1800" spc="-10" dirty="0">
                <a:latin typeface="Calibri"/>
                <a:cs typeface="Calibri"/>
              </a:rPr>
              <a:t>disease</a:t>
            </a:r>
            <a:r>
              <a:rPr sz="1800" spc="-70" dirty="0">
                <a:latin typeface="Calibri"/>
                <a:cs typeface="Calibri"/>
              </a:rPr>
              <a:t> </a:t>
            </a:r>
            <a:r>
              <a:rPr sz="1800" spc="-10" dirty="0">
                <a:latin typeface="Calibri"/>
                <a:cs typeface="Calibri"/>
              </a:rPr>
              <a:t>applications</a:t>
            </a:r>
            <a:r>
              <a:rPr sz="1800" spc="-65" dirty="0">
                <a:latin typeface="Calibri"/>
                <a:cs typeface="Calibri"/>
              </a:rPr>
              <a:t> </a:t>
            </a:r>
            <a:r>
              <a:rPr sz="1800" dirty="0">
                <a:latin typeface="Calibri"/>
                <a:cs typeface="Calibri"/>
              </a:rPr>
              <a:t>and</a:t>
            </a:r>
            <a:r>
              <a:rPr sz="1800" spc="-70" dirty="0">
                <a:latin typeface="Calibri"/>
                <a:cs typeface="Calibri"/>
              </a:rPr>
              <a:t> </a:t>
            </a:r>
            <a:r>
              <a:rPr sz="1800" spc="-10" dirty="0">
                <a:latin typeface="Calibri"/>
                <a:cs typeface="Calibri"/>
              </a:rPr>
              <a:t>integrated</a:t>
            </a:r>
            <a:r>
              <a:rPr sz="1800" spc="-45" dirty="0">
                <a:latin typeface="Calibri"/>
                <a:cs typeface="Calibri"/>
              </a:rPr>
              <a:t> </a:t>
            </a:r>
            <a:r>
              <a:rPr sz="1800" dirty="0">
                <a:latin typeface="Calibri"/>
                <a:cs typeface="Calibri"/>
              </a:rPr>
              <a:t>into</a:t>
            </a:r>
            <a:r>
              <a:rPr sz="1800" spc="-55" dirty="0">
                <a:latin typeface="Calibri"/>
                <a:cs typeface="Calibri"/>
              </a:rPr>
              <a:t> </a:t>
            </a:r>
            <a:r>
              <a:rPr sz="1800" spc="-20" dirty="0">
                <a:latin typeface="Calibri"/>
                <a:cs typeface="Calibri"/>
              </a:rPr>
              <a:t>telemedicine</a:t>
            </a:r>
            <a:r>
              <a:rPr sz="1800" spc="-40" dirty="0">
                <a:latin typeface="Calibri"/>
                <a:cs typeface="Calibri"/>
              </a:rPr>
              <a:t> </a:t>
            </a:r>
            <a:r>
              <a:rPr sz="1800" spc="-10" dirty="0">
                <a:latin typeface="Calibri"/>
                <a:cs typeface="Calibri"/>
              </a:rPr>
              <a:t>platforms, particularly</a:t>
            </a:r>
            <a:r>
              <a:rPr sz="1800" spc="-15" dirty="0">
                <a:latin typeface="Calibri"/>
                <a:cs typeface="Calibri"/>
              </a:rPr>
              <a:t> </a:t>
            </a:r>
            <a:r>
              <a:rPr sz="1800" dirty="0">
                <a:latin typeface="Calibri"/>
                <a:cs typeface="Calibri"/>
              </a:rPr>
              <a:t>in</a:t>
            </a:r>
            <a:r>
              <a:rPr sz="1800" spc="-55" dirty="0">
                <a:latin typeface="Calibri"/>
                <a:cs typeface="Calibri"/>
              </a:rPr>
              <a:t> </a:t>
            </a:r>
            <a:r>
              <a:rPr sz="1800" spc="-20" dirty="0">
                <a:latin typeface="Calibri"/>
                <a:cs typeface="Calibri"/>
              </a:rPr>
              <a:t>underserved</a:t>
            </a:r>
            <a:r>
              <a:rPr sz="1800" spc="-75" dirty="0">
                <a:latin typeface="Calibri"/>
                <a:cs typeface="Calibri"/>
              </a:rPr>
              <a:t> </a:t>
            </a:r>
            <a:r>
              <a:rPr sz="1800" dirty="0">
                <a:latin typeface="Calibri"/>
                <a:cs typeface="Calibri"/>
              </a:rPr>
              <a:t>or</a:t>
            </a:r>
            <a:r>
              <a:rPr sz="1800" spc="-40" dirty="0">
                <a:latin typeface="Calibri"/>
                <a:cs typeface="Calibri"/>
              </a:rPr>
              <a:t> </a:t>
            </a:r>
            <a:r>
              <a:rPr sz="1800" spc="-10" dirty="0">
                <a:latin typeface="Calibri"/>
                <a:cs typeface="Calibri"/>
              </a:rPr>
              <a:t>remote</a:t>
            </a:r>
            <a:r>
              <a:rPr sz="1800" spc="-50" dirty="0">
                <a:latin typeface="Calibri"/>
                <a:cs typeface="Calibri"/>
              </a:rPr>
              <a:t> </a:t>
            </a:r>
            <a:r>
              <a:rPr sz="1800" spc="-10" dirty="0">
                <a:latin typeface="Calibri"/>
                <a:cs typeface="Calibri"/>
              </a:rPr>
              <a:t>areas.</a:t>
            </a:r>
            <a:endParaRPr sz="1800" dirty="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5A9B48-07AF-E5EF-B34B-27E11E01F299}"/>
              </a:ext>
            </a:extLst>
          </p:cNvPr>
          <p:cNvPicPr>
            <a:picLocks noChangeAspect="1"/>
          </p:cNvPicPr>
          <p:nvPr/>
        </p:nvPicPr>
        <p:blipFill>
          <a:blip r:embed="rId2"/>
          <a:stretch>
            <a:fillRect/>
          </a:stretch>
        </p:blipFill>
        <p:spPr>
          <a:xfrm>
            <a:off x="1376515" y="383459"/>
            <a:ext cx="8180439" cy="5563446"/>
          </a:xfrm>
          <a:prstGeom prst="rect">
            <a:avLst/>
          </a:prstGeom>
        </p:spPr>
      </p:pic>
    </p:spTree>
    <p:extLst>
      <p:ext uri="{BB962C8B-B14F-4D97-AF65-F5344CB8AC3E}">
        <p14:creationId xmlns:p14="http://schemas.microsoft.com/office/powerpoint/2010/main" val="951137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6FE078-6349-93F2-B4C0-F14777FA2847}"/>
              </a:ext>
            </a:extLst>
          </p:cNvPr>
          <p:cNvPicPr>
            <a:picLocks noChangeAspect="1"/>
          </p:cNvPicPr>
          <p:nvPr/>
        </p:nvPicPr>
        <p:blipFill>
          <a:blip r:embed="rId2"/>
          <a:stretch>
            <a:fillRect/>
          </a:stretch>
        </p:blipFill>
        <p:spPr>
          <a:xfrm>
            <a:off x="471948" y="488921"/>
            <a:ext cx="5624052" cy="5597246"/>
          </a:xfrm>
          <a:prstGeom prst="rect">
            <a:avLst/>
          </a:prstGeom>
        </p:spPr>
      </p:pic>
      <p:pic>
        <p:nvPicPr>
          <p:cNvPr id="5" name="Picture 4">
            <a:extLst>
              <a:ext uri="{FF2B5EF4-FFF2-40B4-BE49-F238E27FC236}">
                <a16:creationId xmlns:a16="http://schemas.microsoft.com/office/drawing/2014/main" id="{DAC5A39F-D2AD-EDE9-1BE4-9DC5AB6E7DBE}"/>
              </a:ext>
            </a:extLst>
          </p:cNvPr>
          <p:cNvPicPr>
            <a:picLocks noChangeAspect="1"/>
          </p:cNvPicPr>
          <p:nvPr/>
        </p:nvPicPr>
        <p:blipFill>
          <a:blip r:embed="rId3"/>
          <a:stretch>
            <a:fillRect/>
          </a:stretch>
        </p:blipFill>
        <p:spPr>
          <a:xfrm>
            <a:off x="6499123" y="779165"/>
            <a:ext cx="4916131" cy="5016758"/>
          </a:xfrm>
          <a:prstGeom prst="rect">
            <a:avLst/>
          </a:prstGeom>
        </p:spPr>
      </p:pic>
    </p:spTree>
    <p:extLst>
      <p:ext uri="{BB962C8B-B14F-4D97-AF65-F5344CB8AC3E}">
        <p14:creationId xmlns:p14="http://schemas.microsoft.com/office/powerpoint/2010/main" val="2269058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88060" y="0"/>
            <a:ext cx="10515600" cy="1325563"/>
          </a:xfrm>
          <a:prstGeom prst="rect">
            <a:avLst/>
          </a:prstGeom>
        </p:spPr>
        <p:txBody>
          <a:bodyPr vert="horz" wrap="square" lIns="0" tIns="244093" rIns="0" bIns="0" rtlCol="0">
            <a:spAutoFit/>
          </a:bodyPr>
          <a:lstStyle/>
          <a:p>
            <a:pPr marL="128270">
              <a:lnSpc>
                <a:spcPct val="100000"/>
              </a:lnSpc>
              <a:spcBef>
                <a:spcPts val="95"/>
              </a:spcBef>
            </a:pPr>
            <a:r>
              <a:rPr spc="-10" dirty="0"/>
              <a:t>References</a:t>
            </a:r>
          </a:p>
        </p:txBody>
      </p:sp>
      <p:sp>
        <p:nvSpPr>
          <p:cNvPr id="3" name="object 3"/>
          <p:cNvSpPr txBox="1"/>
          <p:nvPr/>
        </p:nvSpPr>
        <p:spPr>
          <a:xfrm>
            <a:off x="588060" y="1231519"/>
            <a:ext cx="10755630" cy="5005070"/>
          </a:xfrm>
          <a:prstGeom prst="rect">
            <a:avLst/>
          </a:prstGeom>
        </p:spPr>
        <p:txBody>
          <a:bodyPr vert="horz" wrap="square" lIns="0" tIns="12700" rIns="0" bIns="0" rtlCol="0">
            <a:spAutoFit/>
          </a:bodyPr>
          <a:lstStyle/>
          <a:p>
            <a:pPr marL="506095" indent="-493395">
              <a:lnSpc>
                <a:spcPct val="100000"/>
              </a:lnSpc>
              <a:spcBef>
                <a:spcPts val="100"/>
              </a:spcBef>
              <a:buSzPct val="66666"/>
              <a:buFont typeface="Cambria"/>
              <a:buAutoNum type="arabicPlain"/>
              <a:tabLst>
                <a:tab pos="506095" algn="l"/>
              </a:tabLst>
            </a:pPr>
            <a:r>
              <a:rPr sz="1800" dirty="0">
                <a:latin typeface="Calibri"/>
                <a:cs typeface="Calibri"/>
              </a:rPr>
              <a:t>[1]</a:t>
            </a:r>
            <a:r>
              <a:rPr sz="1800" spc="325" dirty="0">
                <a:latin typeface="Calibri"/>
                <a:cs typeface="Calibri"/>
              </a:rPr>
              <a:t> </a:t>
            </a:r>
            <a:r>
              <a:rPr sz="1800" dirty="0">
                <a:latin typeface="Calibri"/>
                <a:cs typeface="Calibri"/>
              </a:rPr>
              <a:t>Kumar,</a:t>
            </a:r>
            <a:r>
              <a:rPr sz="1800" spc="325" dirty="0">
                <a:latin typeface="Calibri"/>
                <a:cs typeface="Calibri"/>
              </a:rPr>
              <a:t> </a:t>
            </a:r>
            <a:r>
              <a:rPr sz="1800" dirty="0">
                <a:latin typeface="Calibri"/>
                <a:cs typeface="Calibri"/>
              </a:rPr>
              <a:t>D.,</a:t>
            </a:r>
            <a:r>
              <a:rPr sz="1800" spc="330" dirty="0">
                <a:latin typeface="Calibri"/>
                <a:cs typeface="Calibri"/>
              </a:rPr>
              <a:t> </a:t>
            </a:r>
            <a:r>
              <a:rPr sz="1800" dirty="0">
                <a:latin typeface="Calibri"/>
                <a:cs typeface="Calibri"/>
              </a:rPr>
              <a:t>Sethi,</a:t>
            </a:r>
            <a:r>
              <a:rPr sz="1800" spc="330" dirty="0">
                <a:latin typeface="Calibri"/>
                <a:cs typeface="Calibri"/>
              </a:rPr>
              <a:t> </a:t>
            </a:r>
            <a:r>
              <a:rPr sz="1800" dirty="0">
                <a:latin typeface="Calibri"/>
                <a:cs typeface="Calibri"/>
              </a:rPr>
              <a:t>S.,</a:t>
            </a:r>
            <a:r>
              <a:rPr sz="1800" spc="335" dirty="0">
                <a:latin typeface="Calibri"/>
                <a:cs typeface="Calibri"/>
              </a:rPr>
              <a:t> </a:t>
            </a:r>
            <a:r>
              <a:rPr sz="1800" dirty="0">
                <a:latin typeface="Calibri"/>
                <a:cs typeface="Calibri"/>
              </a:rPr>
              <a:t>&amp;</a:t>
            </a:r>
            <a:r>
              <a:rPr sz="1800" spc="320" dirty="0">
                <a:latin typeface="Calibri"/>
                <a:cs typeface="Calibri"/>
              </a:rPr>
              <a:t> </a:t>
            </a:r>
            <a:r>
              <a:rPr sz="1800" dirty="0">
                <a:latin typeface="Calibri"/>
                <a:cs typeface="Calibri"/>
              </a:rPr>
              <a:t>Arora,</a:t>
            </a:r>
            <a:r>
              <a:rPr sz="1800" spc="330" dirty="0">
                <a:latin typeface="Calibri"/>
                <a:cs typeface="Calibri"/>
              </a:rPr>
              <a:t> </a:t>
            </a:r>
            <a:r>
              <a:rPr sz="1800" dirty="0">
                <a:latin typeface="Calibri"/>
                <a:cs typeface="Calibri"/>
              </a:rPr>
              <a:t>A.</a:t>
            </a:r>
            <a:r>
              <a:rPr sz="1800" spc="325" dirty="0">
                <a:latin typeface="Calibri"/>
                <a:cs typeface="Calibri"/>
              </a:rPr>
              <a:t> </a:t>
            </a:r>
            <a:r>
              <a:rPr sz="1800" dirty="0">
                <a:latin typeface="Calibri"/>
                <a:cs typeface="Calibri"/>
              </a:rPr>
              <a:t>(2020).</a:t>
            </a:r>
            <a:r>
              <a:rPr sz="1800" spc="370" dirty="0">
                <a:latin typeface="Calibri"/>
                <a:cs typeface="Calibri"/>
              </a:rPr>
              <a:t> </a:t>
            </a:r>
            <a:r>
              <a:rPr sz="1800" i="1" dirty="0">
                <a:latin typeface="Calibri"/>
                <a:cs typeface="Calibri"/>
              </a:rPr>
              <a:t>Brain</a:t>
            </a:r>
            <a:r>
              <a:rPr sz="1800" i="1" spc="310" dirty="0">
                <a:latin typeface="Calibri"/>
                <a:cs typeface="Calibri"/>
              </a:rPr>
              <a:t> </a:t>
            </a:r>
            <a:r>
              <a:rPr sz="1800" i="1" dirty="0">
                <a:latin typeface="Calibri"/>
                <a:cs typeface="Calibri"/>
              </a:rPr>
              <a:t>Tumor</a:t>
            </a:r>
            <a:r>
              <a:rPr sz="1800" i="1" spc="330" dirty="0">
                <a:latin typeface="Calibri"/>
                <a:cs typeface="Calibri"/>
              </a:rPr>
              <a:t> </a:t>
            </a:r>
            <a:r>
              <a:rPr sz="1800" i="1" dirty="0">
                <a:latin typeface="Calibri"/>
                <a:cs typeface="Calibri"/>
              </a:rPr>
              <a:t>Detection</a:t>
            </a:r>
            <a:r>
              <a:rPr sz="1800" i="1" spc="335" dirty="0">
                <a:latin typeface="Calibri"/>
                <a:cs typeface="Calibri"/>
              </a:rPr>
              <a:t> </a:t>
            </a:r>
            <a:r>
              <a:rPr sz="1800" i="1" dirty="0">
                <a:latin typeface="Calibri"/>
                <a:cs typeface="Calibri"/>
              </a:rPr>
              <a:t>Using</a:t>
            </a:r>
            <a:r>
              <a:rPr sz="1800" i="1" spc="335" dirty="0">
                <a:latin typeface="Calibri"/>
                <a:cs typeface="Calibri"/>
              </a:rPr>
              <a:t> </a:t>
            </a:r>
            <a:r>
              <a:rPr sz="1800" i="1" dirty="0">
                <a:latin typeface="Calibri"/>
                <a:cs typeface="Calibri"/>
              </a:rPr>
              <a:t>Convolutional</a:t>
            </a:r>
            <a:r>
              <a:rPr sz="1800" i="1" spc="320" dirty="0">
                <a:latin typeface="Calibri"/>
                <a:cs typeface="Calibri"/>
              </a:rPr>
              <a:t> </a:t>
            </a:r>
            <a:r>
              <a:rPr sz="1800" i="1" dirty="0">
                <a:latin typeface="Calibri"/>
                <a:cs typeface="Calibri"/>
              </a:rPr>
              <a:t>Neural</a:t>
            </a:r>
            <a:r>
              <a:rPr sz="1800" i="1" spc="320" dirty="0">
                <a:latin typeface="Calibri"/>
                <a:cs typeface="Calibri"/>
              </a:rPr>
              <a:t> </a:t>
            </a:r>
            <a:r>
              <a:rPr sz="1800" i="1" spc="-10" dirty="0">
                <a:latin typeface="Calibri"/>
                <a:cs typeface="Calibri"/>
              </a:rPr>
              <a:t>Network.</a:t>
            </a:r>
            <a:endParaRPr sz="1800" dirty="0">
              <a:latin typeface="Calibri"/>
              <a:cs typeface="Calibri"/>
            </a:endParaRPr>
          </a:p>
          <a:p>
            <a:pPr marL="12700">
              <a:lnSpc>
                <a:spcPct val="100000"/>
              </a:lnSpc>
              <a:spcBef>
                <a:spcPts val="1535"/>
              </a:spcBef>
            </a:pPr>
            <a:r>
              <a:rPr sz="1800" dirty="0">
                <a:latin typeface="Calibri"/>
                <a:cs typeface="Calibri"/>
              </a:rPr>
              <a:t>International</a:t>
            </a:r>
            <a:r>
              <a:rPr sz="1800" spc="-55" dirty="0">
                <a:latin typeface="Calibri"/>
                <a:cs typeface="Calibri"/>
              </a:rPr>
              <a:t> </a:t>
            </a:r>
            <a:r>
              <a:rPr sz="1800" dirty="0">
                <a:latin typeface="Calibri"/>
                <a:cs typeface="Calibri"/>
              </a:rPr>
              <a:t>Journal</a:t>
            </a:r>
            <a:r>
              <a:rPr sz="1800" spc="-50" dirty="0">
                <a:latin typeface="Calibri"/>
                <a:cs typeface="Calibri"/>
              </a:rPr>
              <a:t> </a:t>
            </a:r>
            <a:r>
              <a:rPr sz="1800" dirty="0">
                <a:latin typeface="Calibri"/>
                <a:cs typeface="Calibri"/>
              </a:rPr>
              <a:t>of</a:t>
            </a:r>
            <a:r>
              <a:rPr sz="1800" spc="-50" dirty="0">
                <a:latin typeface="Calibri"/>
                <a:cs typeface="Calibri"/>
              </a:rPr>
              <a:t> </a:t>
            </a:r>
            <a:r>
              <a:rPr sz="1800" dirty="0">
                <a:latin typeface="Calibri"/>
                <a:cs typeface="Calibri"/>
              </a:rPr>
              <a:t>Engineering</a:t>
            </a:r>
            <a:r>
              <a:rPr sz="1800" spc="-60" dirty="0">
                <a:latin typeface="Calibri"/>
                <a:cs typeface="Calibri"/>
              </a:rPr>
              <a:t> </a:t>
            </a:r>
            <a:r>
              <a:rPr sz="1800" dirty="0">
                <a:latin typeface="Calibri"/>
                <a:cs typeface="Calibri"/>
              </a:rPr>
              <a:t>Research</a:t>
            </a:r>
            <a:r>
              <a:rPr sz="1800" spc="-40" dirty="0">
                <a:latin typeface="Calibri"/>
                <a:cs typeface="Calibri"/>
              </a:rPr>
              <a:t> </a:t>
            </a:r>
            <a:r>
              <a:rPr sz="1800" dirty="0">
                <a:latin typeface="Calibri"/>
                <a:cs typeface="Calibri"/>
              </a:rPr>
              <a:t>&amp;</a:t>
            </a:r>
            <a:r>
              <a:rPr sz="1800" spc="-50" dirty="0">
                <a:latin typeface="Calibri"/>
                <a:cs typeface="Calibri"/>
              </a:rPr>
              <a:t> </a:t>
            </a:r>
            <a:r>
              <a:rPr sz="1800" dirty="0">
                <a:latin typeface="Calibri"/>
                <a:cs typeface="Calibri"/>
              </a:rPr>
              <a:t>Technology</a:t>
            </a:r>
            <a:r>
              <a:rPr sz="1800" spc="-55" dirty="0">
                <a:latin typeface="Calibri"/>
                <a:cs typeface="Calibri"/>
              </a:rPr>
              <a:t> </a:t>
            </a:r>
            <a:r>
              <a:rPr sz="1800" dirty="0">
                <a:latin typeface="Calibri"/>
                <a:cs typeface="Calibri"/>
              </a:rPr>
              <a:t>(IJERT),</a:t>
            </a:r>
            <a:r>
              <a:rPr sz="1800" spc="-50" dirty="0">
                <a:latin typeface="Calibri"/>
                <a:cs typeface="Calibri"/>
              </a:rPr>
              <a:t> </a:t>
            </a:r>
            <a:r>
              <a:rPr sz="1800" dirty="0">
                <a:latin typeface="Calibri"/>
                <a:cs typeface="Calibri"/>
              </a:rPr>
              <a:t>Vol.</a:t>
            </a:r>
            <a:r>
              <a:rPr sz="1800" spc="-50" dirty="0">
                <a:latin typeface="Calibri"/>
                <a:cs typeface="Calibri"/>
              </a:rPr>
              <a:t> </a:t>
            </a:r>
            <a:r>
              <a:rPr sz="1800" dirty="0">
                <a:latin typeface="Calibri"/>
                <a:cs typeface="Calibri"/>
              </a:rPr>
              <a:t>9</a:t>
            </a:r>
            <a:r>
              <a:rPr sz="1800" spc="-50" dirty="0">
                <a:latin typeface="Calibri"/>
                <a:cs typeface="Calibri"/>
              </a:rPr>
              <a:t> </a:t>
            </a:r>
            <a:r>
              <a:rPr sz="1800" dirty="0">
                <a:latin typeface="Calibri"/>
                <a:cs typeface="Calibri"/>
              </a:rPr>
              <a:t>Issue</a:t>
            </a:r>
            <a:r>
              <a:rPr sz="1800" spc="-60" dirty="0">
                <a:latin typeface="Calibri"/>
                <a:cs typeface="Calibri"/>
              </a:rPr>
              <a:t> </a:t>
            </a:r>
            <a:r>
              <a:rPr sz="1800" spc="-25" dirty="0">
                <a:latin typeface="Calibri"/>
                <a:cs typeface="Calibri"/>
              </a:rPr>
              <a:t>8.</a:t>
            </a:r>
            <a:endParaRPr sz="1800" dirty="0">
              <a:latin typeface="Calibri"/>
              <a:cs typeface="Calibri"/>
            </a:endParaRPr>
          </a:p>
          <a:p>
            <a:pPr marL="506095" indent="-493395">
              <a:lnSpc>
                <a:spcPct val="100000"/>
              </a:lnSpc>
              <a:spcBef>
                <a:spcPts val="1540"/>
              </a:spcBef>
              <a:buSzPct val="66666"/>
              <a:buFont typeface="Cambria"/>
              <a:buAutoNum type="arabicPlain" startAt="2"/>
              <a:tabLst>
                <a:tab pos="506095" algn="l"/>
              </a:tabLst>
            </a:pPr>
            <a:r>
              <a:rPr sz="1800" dirty="0">
                <a:latin typeface="Calibri"/>
                <a:cs typeface="Calibri"/>
              </a:rPr>
              <a:t>Rani,</a:t>
            </a:r>
            <a:r>
              <a:rPr sz="1800" spc="-40" dirty="0">
                <a:latin typeface="Calibri"/>
                <a:cs typeface="Calibri"/>
              </a:rPr>
              <a:t> </a:t>
            </a:r>
            <a:r>
              <a:rPr sz="1800" dirty="0">
                <a:latin typeface="Calibri"/>
                <a:cs typeface="Calibri"/>
              </a:rPr>
              <a:t>A.,</a:t>
            </a:r>
            <a:r>
              <a:rPr sz="1800" spc="-30" dirty="0">
                <a:latin typeface="Calibri"/>
                <a:cs typeface="Calibri"/>
              </a:rPr>
              <a:t> </a:t>
            </a:r>
            <a:r>
              <a:rPr sz="1800" dirty="0">
                <a:latin typeface="Calibri"/>
                <a:cs typeface="Calibri"/>
              </a:rPr>
              <a:t>&amp;</a:t>
            </a:r>
            <a:r>
              <a:rPr sz="1800" spc="-45" dirty="0">
                <a:latin typeface="Calibri"/>
                <a:cs typeface="Calibri"/>
              </a:rPr>
              <a:t> </a:t>
            </a:r>
            <a:r>
              <a:rPr sz="1800" dirty="0">
                <a:latin typeface="Calibri"/>
                <a:cs typeface="Calibri"/>
              </a:rPr>
              <a:t>Kaur,</a:t>
            </a:r>
            <a:r>
              <a:rPr sz="1800" spc="-35" dirty="0">
                <a:latin typeface="Calibri"/>
                <a:cs typeface="Calibri"/>
              </a:rPr>
              <a:t> </a:t>
            </a:r>
            <a:r>
              <a:rPr sz="1800" dirty="0">
                <a:latin typeface="Calibri"/>
                <a:cs typeface="Calibri"/>
              </a:rPr>
              <a:t>P.</a:t>
            </a:r>
            <a:r>
              <a:rPr sz="1800" spc="-40" dirty="0">
                <a:latin typeface="Calibri"/>
                <a:cs typeface="Calibri"/>
              </a:rPr>
              <a:t> </a:t>
            </a:r>
            <a:r>
              <a:rPr sz="1800" dirty="0">
                <a:latin typeface="Calibri"/>
                <a:cs typeface="Calibri"/>
              </a:rPr>
              <a:t>(2021).</a:t>
            </a:r>
            <a:r>
              <a:rPr sz="1800" spc="-20" dirty="0">
                <a:latin typeface="Calibri"/>
                <a:cs typeface="Calibri"/>
              </a:rPr>
              <a:t> </a:t>
            </a:r>
            <a:r>
              <a:rPr sz="1800" i="1" dirty="0">
                <a:latin typeface="Calibri"/>
                <a:cs typeface="Calibri"/>
              </a:rPr>
              <a:t>Deep</a:t>
            </a:r>
            <a:r>
              <a:rPr sz="1800" i="1" spc="-50" dirty="0">
                <a:latin typeface="Calibri"/>
                <a:cs typeface="Calibri"/>
              </a:rPr>
              <a:t> </a:t>
            </a:r>
            <a:r>
              <a:rPr sz="1800" i="1" dirty="0">
                <a:latin typeface="Calibri"/>
                <a:cs typeface="Calibri"/>
              </a:rPr>
              <a:t>Learning</a:t>
            </a:r>
            <a:r>
              <a:rPr sz="1800" i="1" spc="-30" dirty="0">
                <a:latin typeface="Calibri"/>
                <a:cs typeface="Calibri"/>
              </a:rPr>
              <a:t> </a:t>
            </a:r>
            <a:r>
              <a:rPr sz="1800" i="1" dirty="0">
                <a:latin typeface="Calibri"/>
                <a:cs typeface="Calibri"/>
              </a:rPr>
              <a:t>Based</a:t>
            </a:r>
            <a:r>
              <a:rPr sz="1800" i="1" spc="-35" dirty="0">
                <a:latin typeface="Calibri"/>
                <a:cs typeface="Calibri"/>
              </a:rPr>
              <a:t> </a:t>
            </a:r>
            <a:r>
              <a:rPr sz="1800" i="1" dirty="0">
                <a:latin typeface="Calibri"/>
                <a:cs typeface="Calibri"/>
              </a:rPr>
              <a:t>Brain</a:t>
            </a:r>
            <a:r>
              <a:rPr sz="1800" i="1" spc="-30" dirty="0">
                <a:latin typeface="Calibri"/>
                <a:cs typeface="Calibri"/>
              </a:rPr>
              <a:t> </a:t>
            </a:r>
            <a:r>
              <a:rPr sz="1800" i="1" dirty="0">
                <a:latin typeface="Calibri"/>
                <a:cs typeface="Calibri"/>
              </a:rPr>
              <a:t>Tumor</a:t>
            </a:r>
            <a:r>
              <a:rPr sz="1800" i="1" spc="-35" dirty="0">
                <a:latin typeface="Calibri"/>
                <a:cs typeface="Calibri"/>
              </a:rPr>
              <a:t> </a:t>
            </a:r>
            <a:r>
              <a:rPr sz="1800" i="1" dirty="0">
                <a:latin typeface="Calibri"/>
                <a:cs typeface="Calibri"/>
              </a:rPr>
              <a:t>Detection</a:t>
            </a:r>
            <a:r>
              <a:rPr sz="1800" i="1" spc="-30" dirty="0">
                <a:latin typeface="Calibri"/>
                <a:cs typeface="Calibri"/>
              </a:rPr>
              <a:t> </a:t>
            </a:r>
            <a:r>
              <a:rPr sz="1800" i="1" spc="-10" dirty="0">
                <a:latin typeface="Calibri"/>
                <a:cs typeface="Calibri"/>
              </a:rPr>
              <a:t>Using</a:t>
            </a:r>
            <a:endParaRPr sz="1800" dirty="0">
              <a:latin typeface="Calibri"/>
              <a:cs typeface="Calibri"/>
            </a:endParaRPr>
          </a:p>
          <a:p>
            <a:pPr marL="36830" marR="18415">
              <a:lnSpc>
                <a:spcPct val="171200"/>
              </a:lnSpc>
              <a:spcBef>
                <a:spcPts val="25"/>
              </a:spcBef>
            </a:pPr>
            <a:r>
              <a:rPr sz="1800" i="1" dirty="0">
                <a:latin typeface="Calibri"/>
                <a:cs typeface="Calibri"/>
              </a:rPr>
              <a:t>MRI</a:t>
            </a:r>
            <a:r>
              <a:rPr sz="1800" i="1" spc="70" dirty="0">
                <a:latin typeface="Calibri"/>
                <a:cs typeface="Calibri"/>
              </a:rPr>
              <a:t> </a:t>
            </a:r>
            <a:r>
              <a:rPr sz="1800" i="1" dirty="0">
                <a:latin typeface="Calibri"/>
                <a:cs typeface="Calibri"/>
              </a:rPr>
              <a:t>Images.</a:t>
            </a:r>
            <a:r>
              <a:rPr sz="1800" i="1" spc="90" dirty="0">
                <a:latin typeface="Calibri"/>
                <a:cs typeface="Calibri"/>
              </a:rPr>
              <a:t> </a:t>
            </a:r>
            <a:r>
              <a:rPr sz="1800" dirty="0">
                <a:latin typeface="Calibri"/>
                <a:cs typeface="Calibri"/>
              </a:rPr>
              <a:t>International</a:t>
            </a:r>
            <a:r>
              <a:rPr sz="1800" spc="70" dirty="0">
                <a:latin typeface="Calibri"/>
                <a:cs typeface="Calibri"/>
              </a:rPr>
              <a:t> </a:t>
            </a:r>
            <a:r>
              <a:rPr sz="1800" dirty="0">
                <a:latin typeface="Calibri"/>
                <a:cs typeface="Calibri"/>
              </a:rPr>
              <a:t>Journal</a:t>
            </a:r>
            <a:r>
              <a:rPr sz="1800" spc="70" dirty="0">
                <a:latin typeface="Calibri"/>
                <a:cs typeface="Calibri"/>
              </a:rPr>
              <a:t> </a:t>
            </a:r>
            <a:r>
              <a:rPr sz="1800" dirty="0">
                <a:latin typeface="Calibri"/>
                <a:cs typeface="Calibri"/>
              </a:rPr>
              <a:t>for</a:t>
            </a:r>
            <a:r>
              <a:rPr sz="1800" spc="70" dirty="0">
                <a:latin typeface="Calibri"/>
                <a:cs typeface="Calibri"/>
              </a:rPr>
              <a:t> </a:t>
            </a:r>
            <a:r>
              <a:rPr sz="1800" dirty="0">
                <a:latin typeface="Calibri"/>
                <a:cs typeface="Calibri"/>
              </a:rPr>
              <a:t>Research</a:t>
            </a:r>
            <a:r>
              <a:rPr sz="1800" spc="65" dirty="0">
                <a:latin typeface="Calibri"/>
                <a:cs typeface="Calibri"/>
              </a:rPr>
              <a:t> </a:t>
            </a:r>
            <a:r>
              <a:rPr sz="1800" dirty="0">
                <a:latin typeface="Calibri"/>
                <a:cs typeface="Calibri"/>
              </a:rPr>
              <a:t>in</a:t>
            </a:r>
            <a:r>
              <a:rPr sz="1800" spc="60" dirty="0">
                <a:latin typeface="Calibri"/>
                <a:cs typeface="Calibri"/>
              </a:rPr>
              <a:t> </a:t>
            </a:r>
            <a:r>
              <a:rPr sz="1800" dirty="0">
                <a:latin typeface="Calibri"/>
                <a:cs typeface="Calibri"/>
              </a:rPr>
              <a:t>Applied</a:t>
            </a:r>
            <a:r>
              <a:rPr sz="1800" spc="85" dirty="0">
                <a:latin typeface="Calibri"/>
                <a:cs typeface="Calibri"/>
              </a:rPr>
              <a:t> </a:t>
            </a:r>
            <a:r>
              <a:rPr sz="1800" dirty="0">
                <a:latin typeface="Calibri"/>
                <a:cs typeface="Calibri"/>
              </a:rPr>
              <a:t>Science</a:t>
            </a:r>
            <a:r>
              <a:rPr sz="1800" spc="65" dirty="0">
                <a:latin typeface="Calibri"/>
                <a:cs typeface="Calibri"/>
              </a:rPr>
              <a:t> </a:t>
            </a:r>
            <a:r>
              <a:rPr sz="1800" dirty="0">
                <a:latin typeface="Calibri"/>
                <a:cs typeface="Calibri"/>
              </a:rPr>
              <a:t>&amp;</a:t>
            </a:r>
            <a:r>
              <a:rPr sz="1800" spc="65" dirty="0">
                <a:latin typeface="Calibri"/>
                <a:cs typeface="Calibri"/>
              </a:rPr>
              <a:t> </a:t>
            </a:r>
            <a:r>
              <a:rPr sz="1800" dirty="0">
                <a:latin typeface="Calibri"/>
                <a:cs typeface="Calibri"/>
              </a:rPr>
              <a:t>Engineering</a:t>
            </a:r>
            <a:r>
              <a:rPr sz="1800" spc="85" dirty="0">
                <a:latin typeface="Calibri"/>
                <a:cs typeface="Calibri"/>
              </a:rPr>
              <a:t> </a:t>
            </a:r>
            <a:r>
              <a:rPr sz="1800" dirty="0">
                <a:latin typeface="Calibri"/>
                <a:cs typeface="Calibri"/>
              </a:rPr>
              <a:t>Technology</a:t>
            </a:r>
            <a:r>
              <a:rPr sz="1800" spc="75" dirty="0">
                <a:latin typeface="Calibri"/>
                <a:cs typeface="Calibri"/>
              </a:rPr>
              <a:t> </a:t>
            </a:r>
            <a:r>
              <a:rPr sz="1800" dirty="0">
                <a:latin typeface="Calibri"/>
                <a:cs typeface="Calibri"/>
              </a:rPr>
              <a:t>(IJRASET),</a:t>
            </a:r>
            <a:r>
              <a:rPr sz="1800" spc="75" dirty="0">
                <a:latin typeface="Calibri"/>
                <a:cs typeface="Calibri"/>
              </a:rPr>
              <a:t> </a:t>
            </a:r>
            <a:r>
              <a:rPr sz="1800" dirty="0">
                <a:latin typeface="Calibri"/>
                <a:cs typeface="Calibri"/>
              </a:rPr>
              <a:t>Volume</a:t>
            </a:r>
            <a:r>
              <a:rPr sz="1800" spc="65" dirty="0">
                <a:latin typeface="Calibri"/>
                <a:cs typeface="Calibri"/>
              </a:rPr>
              <a:t> </a:t>
            </a:r>
            <a:r>
              <a:rPr sz="1800" spc="-50" dirty="0">
                <a:latin typeface="Calibri"/>
                <a:cs typeface="Calibri"/>
              </a:rPr>
              <a:t>9 </a:t>
            </a:r>
            <a:r>
              <a:rPr sz="1800" dirty="0">
                <a:latin typeface="Calibri"/>
                <a:cs typeface="Calibri"/>
              </a:rPr>
              <a:t>Issue</a:t>
            </a:r>
            <a:r>
              <a:rPr sz="1800" spc="-65" dirty="0">
                <a:latin typeface="Calibri"/>
                <a:cs typeface="Calibri"/>
              </a:rPr>
              <a:t> </a:t>
            </a:r>
            <a:r>
              <a:rPr sz="1800" spc="-25" dirty="0">
                <a:latin typeface="Calibri"/>
                <a:cs typeface="Calibri"/>
              </a:rPr>
              <a:t>V.</a:t>
            </a:r>
            <a:endParaRPr sz="1800" dirty="0">
              <a:latin typeface="Calibri"/>
              <a:cs typeface="Calibri"/>
            </a:endParaRPr>
          </a:p>
          <a:p>
            <a:pPr marL="506095" indent="-493395">
              <a:lnSpc>
                <a:spcPct val="100000"/>
              </a:lnSpc>
              <a:spcBef>
                <a:spcPts val="1535"/>
              </a:spcBef>
              <a:buSzPct val="66666"/>
              <a:buFont typeface="Cambria"/>
              <a:buAutoNum type="arabicPlain" startAt="3"/>
              <a:tabLst>
                <a:tab pos="506095" algn="l"/>
              </a:tabLst>
            </a:pPr>
            <a:r>
              <a:rPr sz="1800" dirty="0">
                <a:latin typeface="Calibri"/>
                <a:cs typeface="Calibri"/>
              </a:rPr>
              <a:t>Prajapati,</a:t>
            </a:r>
            <a:r>
              <a:rPr sz="1800" spc="350" dirty="0">
                <a:latin typeface="Calibri"/>
                <a:cs typeface="Calibri"/>
              </a:rPr>
              <a:t> </a:t>
            </a:r>
            <a:r>
              <a:rPr sz="1800" dirty="0">
                <a:latin typeface="Calibri"/>
                <a:cs typeface="Calibri"/>
              </a:rPr>
              <a:t>J.,</a:t>
            </a:r>
            <a:r>
              <a:rPr sz="1800" spc="360" dirty="0">
                <a:latin typeface="Calibri"/>
                <a:cs typeface="Calibri"/>
              </a:rPr>
              <a:t> </a:t>
            </a:r>
            <a:r>
              <a:rPr sz="1800" dirty="0">
                <a:latin typeface="Calibri"/>
                <a:cs typeface="Calibri"/>
              </a:rPr>
              <a:t>Trivedi,</a:t>
            </a:r>
            <a:r>
              <a:rPr sz="1800" spc="350" dirty="0">
                <a:latin typeface="Calibri"/>
                <a:cs typeface="Calibri"/>
              </a:rPr>
              <a:t> </a:t>
            </a:r>
            <a:r>
              <a:rPr sz="1800" dirty="0">
                <a:latin typeface="Calibri"/>
                <a:cs typeface="Calibri"/>
              </a:rPr>
              <a:t>H.,</a:t>
            </a:r>
            <a:r>
              <a:rPr sz="1800" spc="355" dirty="0">
                <a:latin typeface="Calibri"/>
                <a:cs typeface="Calibri"/>
              </a:rPr>
              <a:t> </a:t>
            </a:r>
            <a:r>
              <a:rPr sz="1800" dirty="0">
                <a:latin typeface="Calibri"/>
                <a:cs typeface="Calibri"/>
              </a:rPr>
              <a:t>&amp;</a:t>
            </a:r>
            <a:r>
              <a:rPr sz="1800" spc="340" dirty="0">
                <a:latin typeface="Calibri"/>
                <a:cs typeface="Calibri"/>
              </a:rPr>
              <a:t> </a:t>
            </a:r>
            <a:r>
              <a:rPr sz="1800" dirty="0">
                <a:latin typeface="Calibri"/>
                <a:cs typeface="Calibri"/>
              </a:rPr>
              <a:t>Patel,</a:t>
            </a:r>
            <a:r>
              <a:rPr sz="1800" spc="355" dirty="0">
                <a:latin typeface="Calibri"/>
                <a:cs typeface="Calibri"/>
              </a:rPr>
              <a:t> </a:t>
            </a:r>
            <a:r>
              <a:rPr sz="1800" dirty="0">
                <a:latin typeface="Calibri"/>
                <a:cs typeface="Calibri"/>
              </a:rPr>
              <a:t>D.</a:t>
            </a:r>
            <a:r>
              <a:rPr sz="1800" spc="345" dirty="0">
                <a:latin typeface="Calibri"/>
                <a:cs typeface="Calibri"/>
              </a:rPr>
              <a:t> </a:t>
            </a:r>
            <a:r>
              <a:rPr sz="1800" dirty="0">
                <a:latin typeface="Calibri"/>
                <a:cs typeface="Calibri"/>
              </a:rPr>
              <a:t>(2021).</a:t>
            </a:r>
            <a:r>
              <a:rPr sz="1800" spc="395" dirty="0">
                <a:latin typeface="Calibri"/>
                <a:cs typeface="Calibri"/>
              </a:rPr>
              <a:t> </a:t>
            </a:r>
            <a:r>
              <a:rPr sz="1800" i="1" dirty="0">
                <a:latin typeface="Calibri"/>
                <a:cs typeface="Calibri"/>
              </a:rPr>
              <a:t>Brain</a:t>
            </a:r>
            <a:r>
              <a:rPr sz="1800" i="1" spc="330" dirty="0">
                <a:latin typeface="Calibri"/>
                <a:cs typeface="Calibri"/>
              </a:rPr>
              <a:t> </a:t>
            </a:r>
            <a:r>
              <a:rPr sz="1800" i="1" dirty="0">
                <a:latin typeface="Calibri"/>
                <a:cs typeface="Calibri"/>
              </a:rPr>
              <a:t>Tumor</a:t>
            </a:r>
            <a:r>
              <a:rPr sz="1800" i="1" spc="355" dirty="0">
                <a:latin typeface="Calibri"/>
                <a:cs typeface="Calibri"/>
              </a:rPr>
              <a:t> </a:t>
            </a:r>
            <a:r>
              <a:rPr sz="1800" i="1" dirty="0">
                <a:latin typeface="Calibri"/>
                <a:cs typeface="Calibri"/>
              </a:rPr>
              <a:t>Detection</a:t>
            </a:r>
            <a:r>
              <a:rPr sz="1800" i="1" spc="355" dirty="0">
                <a:latin typeface="Calibri"/>
                <a:cs typeface="Calibri"/>
              </a:rPr>
              <a:t> </a:t>
            </a:r>
            <a:r>
              <a:rPr sz="1800" i="1" dirty="0">
                <a:latin typeface="Calibri"/>
                <a:cs typeface="Calibri"/>
              </a:rPr>
              <a:t>Using</a:t>
            </a:r>
            <a:r>
              <a:rPr sz="1800" i="1" spc="360" dirty="0">
                <a:latin typeface="Calibri"/>
                <a:cs typeface="Calibri"/>
              </a:rPr>
              <a:t> </a:t>
            </a:r>
            <a:r>
              <a:rPr sz="1800" i="1" dirty="0">
                <a:latin typeface="Calibri"/>
                <a:cs typeface="Calibri"/>
              </a:rPr>
              <a:t>Convolutional</a:t>
            </a:r>
            <a:r>
              <a:rPr sz="1800" i="1" spc="345" dirty="0">
                <a:latin typeface="Calibri"/>
                <a:cs typeface="Calibri"/>
              </a:rPr>
              <a:t> </a:t>
            </a:r>
            <a:r>
              <a:rPr sz="1800" i="1" dirty="0">
                <a:latin typeface="Calibri"/>
                <a:cs typeface="Calibri"/>
              </a:rPr>
              <a:t>Neural</a:t>
            </a:r>
            <a:r>
              <a:rPr sz="1800" i="1" spc="340" dirty="0">
                <a:latin typeface="Calibri"/>
                <a:cs typeface="Calibri"/>
              </a:rPr>
              <a:t> </a:t>
            </a:r>
            <a:r>
              <a:rPr sz="1800" i="1" spc="-10" dirty="0">
                <a:latin typeface="Calibri"/>
                <a:cs typeface="Calibri"/>
              </a:rPr>
              <a:t>Network.</a:t>
            </a:r>
            <a:endParaRPr sz="1800" dirty="0">
              <a:latin typeface="Calibri"/>
              <a:cs typeface="Calibri"/>
            </a:endParaRPr>
          </a:p>
          <a:p>
            <a:pPr marL="12700">
              <a:lnSpc>
                <a:spcPct val="100000"/>
              </a:lnSpc>
              <a:spcBef>
                <a:spcPts val="1565"/>
              </a:spcBef>
            </a:pPr>
            <a:r>
              <a:rPr sz="1800" dirty="0">
                <a:latin typeface="Calibri"/>
                <a:cs typeface="Calibri"/>
              </a:rPr>
              <a:t>International</a:t>
            </a:r>
            <a:r>
              <a:rPr sz="1800" spc="-55" dirty="0">
                <a:latin typeface="Calibri"/>
                <a:cs typeface="Calibri"/>
              </a:rPr>
              <a:t> </a:t>
            </a:r>
            <a:r>
              <a:rPr sz="1800" dirty="0">
                <a:latin typeface="Calibri"/>
                <a:cs typeface="Calibri"/>
              </a:rPr>
              <a:t>Journal</a:t>
            </a:r>
            <a:r>
              <a:rPr sz="1800" spc="-55" dirty="0">
                <a:latin typeface="Calibri"/>
                <a:cs typeface="Calibri"/>
              </a:rPr>
              <a:t> </a:t>
            </a:r>
            <a:r>
              <a:rPr sz="1800" dirty="0">
                <a:latin typeface="Calibri"/>
                <a:cs typeface="Calibri"/>
              </a:rPr>
              <a:t>of</a:t>
            </a:r>
            <a:r>
              <a:rPr sz="1800" spc="-60" dirty="0">
                <a:latin typeface="Calibri"/>
                <a:cs typeface="Calibri"/>
              </a:rPr>
              <a:t> </a:t>
            </a:r>
            <a:r>
              <a:rPr sz="1800" dirty="0">
                <a:latin typeface="Calibri"/>
                <a:cs typeface="Calibri"/>
              </a:rPr>
              <a:t>Engineering</a:t>
            </a:r>
            <a:r>
              <a:rPr sz="1800" spc="-60" dirty="0">
                <a:latin typeface="Calibri"/>
                <a:cs typeface="Calibri"/>
              </a:rPr>
              <a:t> </a:t>
            </a:r>
            <a:r>
              <a:rPr sz="1800" dirty="0">
                <a:latin typeface="Calibri"/>
                <a:cs typeface="Calibri"/>
              </a:rPr>
              <a:t>Sciences</a:t>
            </a:r>
            <a:r>
              <a:rPr sz="1800" spc="-60" dirty="0">
                <a:latin typeface="Calibri"/>
                <a:cs typeface="Calibri"/>
              </a:rPr>
              <a:t> </a:t>
            </a:r>
            <a:r>
              <a:rPr sz="1800" dirty="0">
                <a:latin typeface="Calibri"/>
                <a:cs typeface="Calibri"/>
              </a:rPr>
              <a:t>&amp;</a:t>
            </a:r>
            <a:r>
              <a:rPr sz="1800" spc="-60" dirty="0">
                <a:latin typeface="Calibri"/>
                <a:cs typeface="Calibri"/>
              </a:rPr>
              <a:t> </a:t>
            </a:r>
            <a:r>
              <a:rPr sz="1800" dirty="0">
                <a:latin typeface="Calibri"/>
                <a:cs typeface="Calibri"/>
              </a:rPr>
              <a:t>Research</a:t>
            </a:r>
            <a:r>
              <a:rPr sz="1800" spc="-60" dirty="0">
                <a:latin typeface="Calibri"/>
                <a:cs typeface="Calibri"/>
              </a:rPr>
              <a:t> </a:t>
            </a:r>
            <a:r>
              <a:rPr sz="1800" dirty="0">
                <a:latin typeface="Calibri"/>
                <a:cs typeface="Calibri"/>
              </a:rPr>
              <a:t>Technology,</a:t>
            </a:r>
            <a:r>
              <a:rPr sz="1800" spc="-45" dirty="0">
                <a:latin typeface="Calibri"/>
                <a:cs typeface="Calibri"/>
              </a:rPr>
              <a:t> </a:t>
            </a:r>
            <a:r>
              <a:rPr sz="1800" dirty="0">
                <a:latin typeface="Calibri"/>
                <a:cs typeface="Calibri"/>
              </a:rPr>
              <a:t>Volume</a:t>
            </a:r>
            <a:r>
              <a:rPr sz="1800" spc="-65" dirty="0">
                <a:latin typeface="Calibri"/>
                <a:cs typeface="Calibri"/>
              </a:rPr>
              <a:t> </a:t>
            </a:r>
            <a:r>
              <a:rPr sz="1800" dirty="0">
                <a:latin typeface="Calibri"/>
                <a:cs typeface="Calibri"/>
              </a:rPr>
              <a:t>10</a:t>
            </a:r>
            <a:r>
              <a:rPr sz="1800" spc="-55" dirty="0">
                <a:latin typeface="Calibri"/>
                <a:cs typeface="Calibri"/>
              </a:rPr>
              <a:t> </a:t>
            </a:r>
            <a:r>
              <a:rPr sz="1800" dirty="0">
                <a:latin typeface="Calibri"/>
                <a:cs typeface="Calibri"/>
              </a:rPr>
              <a:t>Issue</a:t>
            </a:r>
            <a:r>
              <a:rPr sz="1800" spc="-60" dirty="0">
                <a:latin typeface="Calibri"/>
                <a:cs typeface="Calibri"/>
              </a:rPr>
              <a:t> </a:t>
            </a:r>
            <a:r>
              <a:rPr sz="1800" spc="-25" dirty="0">
                <a:latin typeface="Calibri"/>
                <a:cs typeface="Calibri"/>
              </a:rPr>
              <a:t>5.</a:t>
            </a:r>
            <a:endParaRPr sz="1800" dirty="0">
              <a:latin typeface="Calibri"/>
              <a:cs typeface="Calibri"/>
            </a:endParaRPr>
          </a:p>
          <a:p>
            <a:pPr marL="12700" marR="5080" indent="493395" algn="just">
              <a:lnSpc>
                <a:spcPts val="3720"/>
              </a:lnSpc>
              <a:spcBef>
                <a:spcPts val="360"/>
              </a:spcBef>
              <a:buSzPct val="66666"/>
              <a:buFont typeface="Cambria"/>
              <a:buAutoNum type="arabicPlain" startAt="4"/>
              <a:tabLst>
                <a:tab pos="506095" algn="l"/>
              </a:tabLst>
            </a:pPr>
            <a:r>
              <a:rPr sz="1800" dirty="0">
                <a:latin typeface="Calibri"/>
                <a:cs typeface="Calibri"/>
              </a:rPr>
              <a:t>Ali,</a:t>
            </a:r>
            <a:r>
              <a:rPr sz="1800" spc="160" dirty="0">
                <a:latin typeface="Calibri"/>
                <a:cs typeface="Calibri"/>
              </a:rPr>
              <a:t> </a:t>
            </a:r>
            <a:r>
              <a:rPr sz="1800" dirty="0">
                <a:latin typeface="Calibri"/>
                <a:cs typeface="Calibri"/>
              </a:rPr>
              <a:t>S.,</a:t>
            </a:r>
            <a:r>
              <a:rPr sz="1800" spc="160" dirty="0">
                <a:latin typeface="Calibri"/>
                <a:cs typeface="Calibri"/>
              </a:rPr>
              <a:t> </a:t>
            </a:r>
            <a:r>
              <a:rPr sz="1800" dirty="0">
                <a:latin typeface="Calibri"/>
                <a:cs typeface="Calibri"/>
              </a:rPr>
              <a:t>Nandhini,</a:t>
            </a:r>
            <a:r>
              <a:rPr sz="1800" spc="160" dirty="0">
                <a:latin typeface="Calibri"/>
                <a:cs typeface="Calibri"/>
              </a:rPr>
              <a:t> </a:t>
            </a:r>
            <a:r>
              <a:rPr sz="1800" dirty="0">
                <a:latin typeface="Calibri"/>
                <a:cs typeface="Calibri"/>
              </a:rPr>
              <a:t>K.,</a:t>
            </a:r>
            <a:r>
              <a:rPr sz="1800" spc="160" dirty="0">
                <a:latin typeface="Calibri"/>
                <a:cs typeface="Calibri"/>
              </a:rPr>
              <a:t> </a:t>
            </a:r>
            <a:r>
              <a:rPr sz="1800" dirty="0">
                <a:latin typeface="Calibri"/>
                <a:cs typeface="Calibri"/>
              </a:rPr>
              <a:t>&amp;</a:t>
            </a:r>
            <a:r>
              <a:rPr sz="1800" spc="150" dirty="0">
                <a:latin typeface="Calibri"/>
                <a:cs typeface="Calibri"/>
              </a:rPr>
              <a:t> </a:t>
            </a:r>
            <a:r>
              <a:rPr sz="1800" dirty="0">
                <a:latin typeface="Calibri"/>
                <a:cs typeface="Calibri"/>
              </a:rPr>
              <a:t>Nivedhitha,</a:t>
            </a:r>
            <a:r>
              <a:rPr sz="1800" spc="160" dirty="0">
                <a:latin typeface="Calibri"/>
                <a:cs typeface="Calibri"/>
              </a:rPr>
              <a:t> </a:t>
            </a:r>
            <a:r>
              <a:rPr sz="1800" dirty="0">
                <a:latin typeface="Calibri"/>
                <a:cs typeface="Calibri"/>
              </a:rPr>
              <a:t>R.</a:t>
            </a:r>
            <a:r>
              <a:rPr sz="1800" spc="155" dirty="0">
                <a:latin typeface="Calibri"/>
                <a:cs typeface="Calibri"/>
              </a:rPr>
              <a:t> </a:t>
            </a:r>
            <a:r>
              <a:rPr sz="1800" dirty="0">
                <a:latin typeface="Calibri"/>
                <a:cs typeface="Calibri"/>
              </a:rPr>
              <a:t>(2022).</a:t>
            </a:r>
            <a:r>
              <a:rPr sz="1800" spc="195" dirty="0">
                <a:latin typeface="Calibri"/>
                <a:cs typeface="Calibri"/>
              </a:rPr>
              <a:t> </a:t>
            </a:r>
            <a:r>
              <a:rPr sz="1800" i="1" dirty="0">
                <a:latin typeface="Calibri"/>
                <a:cs typeface="Calibri"/>
              </a:rPr>
              <a:t>Brain</a:t>
            </a:r>
            <a:r>
              <a:rPr sz="1800" i="1" spc="140" dirty="0">
                <a:latin typeface="Calibri"/>
                <a:cs typeface="Calibri"/>
              </a:rPr>
              <a:t> </a:t>
            </a:r>
            <a:r>
              <a:rPr sz="1800" i="1" dirty="0">
                <a:latin typeface="Calibri"/>
                <a:cs typeface="Calibri"/>
              </a:rPr>
              <a:t>Tumor</a:t>
            </a:r>
            <a:r>
              <a:rPr sz="1800" i="1" spc="160" dirty="0">
                <a:latin typeface="Calibri"/>
                <a:cs typeface="Calibri"/>
              </a:rPr>
              <a:t> </a:t>
            </a:r>
            <a:r>
              <a:rPr sz="1800" i="1" dirty="0">
                <a:latin typeface="Calibri"/>
                <a:cs typeface="Calibri"/>
              </a:rPr>
              <a:t>Detection</a:t>
            </a:r>
            <a:r>
              <a:rPr sz="1800" i="1" spc="160" dirty="0">
                <a:latin typeface="Calibri"/>
                <a:cs typeface="Calibri"/>
              </a:rPr>
              <a:t> </a:t>
            </a:r>
            <a:r>
              <a:rPr sz="1800" i="1" dirty="0">
                <a:latin typeface="Calibri"/>
                <a:cs typeface="Calibri"/>
              </a:rPr>
              <a:t>Using</a:t>
            </a:r>
            <a:r>
              <a:rPr sz="1800" i="1" spc="160" dirty="0">
                <a:latin typeface="Calibri"/>
                <a:cs typeface="Calibri"/>
              </a:rPr>
              <a:t> </a:t>
            </a:r>
            <a:r>
              <a:rPr sz="1800" i="1" dirty="0">
                <a:latin typeface="Calibri"/>
                <a:cs typeface="Calibri"/>
              </a:rPr>
              <a:t>CNN</a:t>
            </a:r>
            <a:r>
              <a:rPr sz="1800" i="1" spc="150" dirty="0">
                <a:latin typeface="Calibri"/>
                <a:cs typeface="Calibri"/>
              </a:rPr>
              <a:t> </a:t>
            </a:r>
            <a:r>
              <a:rPr sz="1800" i="1" dirty="0">
                <a:latin typeface="Calibri"/>
                <a:cs typeface="Calibri"/>
              </a:rPr>
              <a:t>and</a:t>
            </a:r>
            <a:r>
              <a:rPr sz="1800" i="1" spc="140" dirty="0">
                <a:latin typeface="Calibri"/>
                <a:cs typeface="Calibri"/>
              </a:rPr>
              <a:t> </a:t>
            </a:r>
            <a:r>
              <a:rPr sz="1800" i="1" dirty="0">
                <a:latin typeface="Calibri"/>
                <a:cs typeface="Calibri"/>
              </a:rPr>
              <a:t>Transfer</a:t>
            </a:r>
            <a:r>
              <a:rPr sz="1800" i="1" spc="160" dirty="0">
                <a:latin typeface="Calibri"/>
                <a:cs typeface="Calibri"/>
              </a:rPr>
              <a:t> </a:t>
            </a:r>
            <a:r>
              <a:rPr sz="1800" i="1" dirty="0">
                <a:latin typeface="Calibri"/>
                <a:cs typeface="Calibri"/>
              </a:rPr>
              <a:t>Learning.</a:t>
            </a:r>
            <a:r>
              <a:rPr sz="1800" i="1" spc="190" dirty="0">
                <a:latin typeface="Calibri"/>
                <a:cs typeface="Calibri"/>
              </a:rPr>
              <a:t> </a:t>
            </a:r>
            <a:r>
              <a:rPr sz="1800" spc="-20" dirty="0">
                <a:latin typeface="Calibri"/>
                <a:cs typeface="Calibri"/>
              </a:rPr>
              <a:t>IEEE </a:t>
            </a:r>
            <a:r>
              <a:rPr sz="1800" dirty="0">
                <a:latin typeface="Calibri"/>
                <a:cs typeface="Calibri"/>
              </a:rPr>
              <a:t>Xplore,</a:t>
            </a:r>
            <a:r>
              <a:rPr sz="1800" spc="-55" dirty="0">
                <a:latin typeface="Calibri"/>
                <a:cs typeface="Calibri"/>
              </a:rPr>
              <a:t> </a:t>
            </a:r>
            <a:r>
              <a:rPr sz="1800" dirty="0">
                <a:latin typeface="Calibri"/>
                <a:cs typeface="Calibri"/>
              </a:rPr>
              <a:t>2022</a:t>
            </a:r>
            <a:r>
              <a:rPr sz="1800" spc="-50" dirty="0">
                <a:latin typeface="Calibri"/>
                <a:cs typeface="Calibri"/>
              </a:rPr>
              <a:t> </a:t>
            </a:r>
            <a:r>
              <a:rPr sz="1800" dirty="0">
                <a:latin typeface="Calibri"/>
                <a:cs typeface="Calibri"/>
              </a:rPr>
              <a:t>International</a:t>
            </a:r>
            <a:r>
              <a:rPr sz="1800" spc="-50" dirty="0">
                <a:latin typeface="Calibri"/>
                <a:cs typeface="Calibri"/>
              </a:rPr>
              <a:t> </a:t>
            </a:r>
            <a:r>
              <a:rPr sz="1800" spc="-10" dirty="0">
                <a:latin typeface="Calibri"/>
                <a:cs typeface="Calibri"/>
              </a:rPr>
              <a:t>Conference</a:t>
            </a:r>
            <a:r>
              <a:rPr sz="1800" spc="-60" dirty="0">
                <a:latin typeface="Calibri"/>
                <a:cs typeface="Calibri"/>
              </a:rPr>
              <a:t> </a:t>
            </a:r>
            <a:r>
              <a:rPr sz="1800" dirty="0">
                <a:latin typeface="Calibri"/>
                <a:cs typeface="Calibri"/>
              </a:rPr>
              <a:t>on</a:t>
            </a:r>
            <a:r>
              <a:rPr sz="1800" spc="-60" dirty="0">
                <a:latin typeface="Calibri"/>
                <a:cs typeface="Calibri"/>
              </a:rPr>
              <a:t> </a:t>
            </a:r>
            <a:r>
              <a:rPr sz="1800" dirty="0">
                <a:latin typeface="Calibri"/>
                <a:cs typeface="Calibri"/>
              </a:rPr>
              <a:t>Computer</a:t>
            </a:r>
            <a:r>
              <a:rPr sz="1800" spc="-55" dirty="0">
                <a:latin typeface="Calibri"/>
                <a:cs typeface="Calibri"/>
              </a:rPr>
              <a:t> </a:t>
            </a:r>
            <a:r>
              <a:rPr sz="1800" dirty="0">
                <a:latin typeface="Calibri"/>
                <a:cs typeface="Calibri"/>
              </a:rPr>
              <a:t>Communication</a:t>
            </a:r>
            <a:r>
              <a:rPr sz="1800" spc="-60" dirty="0">
                <a:latin typeface="Calibri"/>
                <a:cs typeface="Calibri"/>
              </a:rPr>
              <a:t> </a:t>
            </a:r>
            <a:r>
              <a:rPr sz="1800" dirty="0">
                <a:latin typeface="Calibri"/>
                <a:cs typeface="Calibri"/>
              </a:rPr>
              <a:t>and</a:t>
            </a:r>
            <a:r>
              <a:rPr sz="1800" spc="-60" dirty="0">
                <a:latin typeface="Calibri"/>
                <a:cs typeface="Calibri"/>
              </a:rPr>
              <a:t> </a:t>
            </a:r>
            <a:r>
              <a:rPr sz="1800" dirty="0">
                <a:latin typeface="Calibri"/>
                <a:cs typeface="Calibri"/>
              </a:rPr>
              <a:t>Informatics</a:t>
            </a:r>
            <a:r>
              <a:rPr sz="1800" spc="-60" dirty="0">
                <a:latin typeface="Calibri"/>
                <a:cs typeface="Calibri"/>
              </a:rPr>
              <a:t> </a:t>
            </a:r>
            <a:r>
              <a:rPr sz="1800" spc="-10" dirty="0">
                <a:latin typeface="Calibri"/>
                <a:cs typeface="Calibri"/>
              </a:rPr>
              <a:t>(ICCCI).</a:t>
            </a:r>
            <a:endParaRPr sz="1800" dirty="0">
              <a:latin typeface="Calibri"/>
              <a:cs typeface="Calibri"/>
            </a:endParaRPr>
          </a:p>
          <a:p>
            <a:pPr marL="506095" indent="-493395">
              <a:lnSpc>
                <a:spcPct val="100000"/>
              </a:lnSpc>
              <a:spcBef>
                <a:spcPts val="1155"/>
              </a:spcBef>
              <a:buSzPct val="66666"/>
              <a:buFont typeface="Cambria"/>
              <a:buAutoNum type="arabicPlain" startAt="4"/>
              <a:tabLst>
                <a:tab pos="506095" algn="l"/>
              </a:tabLst>
            </a:pPr>
            <a:r>
              <a:rPr sz="1800" dirty="0">
                <a:latin typeface="Calibri"/>
                <a:cs typeface="Calibri"/>
              </a:rPr>
              <a:t>Sahu,</a:t>
            </a:r>
            <a:r>
              <a:rPr sz="1800" spc="345" dirty="0">
                <a:latin typeface="Calibri"/>
                <a:cs typeface="Calibri"/>
              </a:rPr>
              <a:t> </a:t>
            </a:r>
            <a:r>
              <a:rPr sz="1800" dirty="0">
                <a:latin typeface="Calibri"/>
                <a:cs typeface="Calibri"/>
              </a:rPr>
              <a:t>S.,</a:t>
            </a:r>
            <a:r>
              <a:rPr sz="1800" spc="345" dirty="0">
                <a:latin typeface="Calibri"/>
                <a:cs typeface="Calibri"/>
              </a:rPr>
              <a:t> </a:t>
            </a:r>
            <a:r>
              <a:rPr sz="1800" dirty="0">
                <a:latin typeface="Calibri"/>
                <a:cs typeface="Calibri"/>
              </a:rPr>
              <a:t>&amp;</a:t>
            </a:r>
            <a:r>
              <a:rPr sz="1800" spc="340" dirty="0">
                <a:latin typeface="Calibri"/>
                <a:cs typeface="Calibri"/>
              </a:rPr>
              <a:t> </a:t>
            </a:r>
            <a:r>
              <a:rPr sz="1800" dirty="0">
                <a:latin typeface="Calibri"/>
                <a:cs typeface="Calibri"/>
              </a:rPr>
              <a:t>Mahapatra,</a:t>
            </a:r>
            <a:r>
              <a:rPr sz="1800" spc="350" dirty="0">
                <a:latin typeface="Calibri"/>
                <a:cs typeface="Calibri"/>
              </a:rPr>
              <a:t> </a:t>
            </a:r>
            <a:r>
              <a:rPr sz="1800" dirty="0">
                <a:latin typeface="Calibri"/>
                <a:cs typeface="Calibri"/>
              </a:rPr>
              <a:t>A.</a:t>
            </a:r>
            <a:r>
              <a:rPr sz="1800" spc="340" dirty="0">
                <a:latin typeface="Calibri"/>
                <a:cs typeface="Calibri"/>
              </a:rPr>
              <a:t> </a:t>
            </a:r>
            <a:r>
              <a:rPr sz="1800" dirty="0">
                <a:latin typeface="Calibri"/>
                <a:cs typeface="Calibri"/>
              </a:rPr>
              <a:t>(2023).</a:t>
            </a:r>
            <a:r>
              <a:rPr sz="1800" spc="375" dirty="0">
                <a:latin typeface="Calibri"/>
                <a:cs typeface="Calibri"/>
              </a:rPr>
              <a:t> </a:t>
            </a:r>
            <a:r>
              <a:rPr sz="1800" i="1" dirty="0">
                <a:latin typeface="Calibri"/>
                <a:cs typeface="Calibri"/>
              </a:rPr>
              <a:t>Comparative</a:t>
            </a:r>
            <a:r>
              <a:rPr sz="1800" i="1" spc="350" dirty="0">
                <a:latin typeface="Calibri"/>
                <a:cs typeface="Calibri"/>
              </a:rPr>
              <a:t> </a:t>
            </a:r>
            <a:r>
              <a:rPr sz="1800" i="1" dirty="0">
                <a:latin typeface="Calibri"/>
                <a:cs typeface="Calibri"/>
              </a:rPr>
              <a:t>Study</a:t>
            </a:r>
            <a:r>
              <a:rPr sz="1800" i="1" spc="330" dirty="0">
                <a:latin typeface="Calibri"/>
                <a:cs typeface="Calibri"/>
              </a:rPr>
              <a:t> </a:t>
            </a:r>
            <a:r>
              <a:rPr sz="1800" i="1" dirty="0">
                <a:latin typeface="Calibri"/>
                <a:cs typeface="Calibri"/>
              </a:rPr>
              <a:t>of</a:t>
            </a:r>
            <a:r>
              <a:rPr sz="1800" i="1" spc="340" dirty="0">
                <a:latin typeface="Calibri"/>
                <a:cs typeface="Calibri"/>
              </a:rPr>
              <a:t> </a:t>
            </a:r>
            <a:r>
              <a:rPr sz="1800" i="1" dirty="0">
                <a:latin typeface="Calibri"/>
                <a:cs typeface="Calibri"/>
              </a:rPr>
              <a:t>Brain</a:t>
            </a:r>
            <a:r>
              <a:rPr sz="1800" i="1" spc="330" dirty="0">
                <a:latin typeface="Calibri"/>
                <a:cs typeface="Calibri"/>
              </a:rPr>
              <a:t> </a:t>
            </a:r>
            <a:r>
              <a:rPr sz="1800" i="1" dirty="0">
                <a:latin typeface="Calibri"/>
                <a:cs typeface="Calibri"/>
              </a:rPr>
              <a:t>Tumor</a:t>
            </a:r>
            <a:r>
              <a:rPr sz="1800" i="1" spc="345" dirty="0">
                <a:latin typeface="Calibri"/>
                <a:cs typeface="Calibri"/>
              </a:rPr>
              <a:t> </a:t>
            </a:r>
            <a:r>
              <a:rPr sz="1800" i="1" dirty="0">
                <a:latin typeface="Calibri"/>
                <a:cs typeface="Calibri"/>
              </a:rPr>
              <a:t>Classification</a:t>
            </a:r>
            <a:r>
              <a:rPr sz="1800" i="1" spc="355" dirty="0">
                <a:latin typeface="Calibri"/>
                <a:cs typeface="Calibri"/>
              </a:rPr>
              <a:t> </a:t>
            </a:r>
            <a:r>
              <a:rPr sz="1800" i="1" dirty="0">
                <a:latin typeface="Calibri"/>
                <a:cs typeface="Calibri"/>
              </a:rPr>
              <a:t>Using</a:t>
            </a:r>
            <a:r>
              <a:rPr sz="1800" i="1" spc="350" dirty="0">
                <a:latin typeface="Calibri"/>
                <a:cs typeface="Calibri"/>
              </a:rPr>
              <a:t> </a:t>
            </a:r>
            <a:r>
              <a:rPr sz="1800" i="1" dirty="0">
                <a:latin typeface="Calibri"/>
                <a:cs typeface="Calibri"/>
              </a:rPr>
              <a:t>Deep</a:t>
            </a:r>
            <a:r>
              <a:rPr sz="1800" i="1" spc="355" dirty="0">
                <a:latin typeface="Calibri"/>
                <a:cs typeface="Calibri"/>
              </a:rPr>
              <a:t> </a:t>
            </a:r>
            <a:r>
              <a:rPr sz="1800" i="1" spc="-10" dirty="0">
                <a:latin typeface="Calibri"/>
                <a:cs typeface="Calibri"/>
              </a:rPr>
              <a:t>Learning</a:t>
            </a:r>
            <a:endParaRPr sz="1800" dirty="0">
              <a:latin typeface="Calibri"/>
              <a:cs typeface="Calibri"/>
            </a:endParaRPr>
          </a:p>
          <a:p>
            <a:pPr marL="12700">
              <a:lnSpc>
                <a:spcPct val="100000"/>
              </a:lnSpc>
              <a:spcBef>
                <a:spcPts val="1535"/>
              </a:spcBef>
            </a:pPr>
            <a:r>
              <a:rPr sz="1800" i="1" dirty="0">
                <a:latin typeface="Calibri"/>
                <a:cs typeface="Calibri"/>
              </a:rPr>
              <a:t>Models.</a:t>
            </a:r>
            <a:r>
              <a:rPr sz="1800" i="1" spc="-40" dirty="0">
                <a:latin typeface="Calibri"/>
                <a:cs typeface="Calibri"/>
              </a:rPr>
              <a:t> </a:t>
            </a:r>
            <a:r>
              <a:rPr sz="1800" spc="-10" dirty="0">
                <a:latin typeface="Calibri"/>
                <a:cs typeface="Calibri"/>
              </a:rPr>
              <a:t>International</a:t>
            </a:r>
            <a:r>
              <a:rPr sz="1800" spc="-40" dirty="0">
                <a:latin typeface="Calibri"/>
                <a:cs typeface="Calibri"/>
              </a:rPr>
              <a:t> </a:t>
            </a:r>
            <a:r>
              <a:rPr sz="1800" dirty="0">
                <a:latin typeface="Calibri"/>
                <a:cs typeface="Calibri"/>
              </a:rPr>
              <a:t>Journal</a:t>
            </a:r>
            <a:r>
              <a:rPr sz="1800" spc="-45" dirty="0">
                <a:latin typeface="Calibri"/>
                <a:cs typeface="Calibri"/>
              </a:rPr>
              <a:t> </a:t>
            </a:r>
            <a:r>
              <a:rPr sz="1800" dirty="0">
                <a:latin typeface="Calibri"/>
                <a:cs typeface="Calibri"/>
              </a:rPr>
              <a:t>of</a:t>
            </a:r>
            <a:r>
              <a:rPr sz="1800" spc="-20" dirty="0">
                <a:latin typeface="Calibri"/>
                <a:cs typeface="Calibri"/>
              </a:rPr>
              <a:t> </a:t>
            </a:r>
            <a:r>
              <a:rPr sz="1800" spc="-10" dirty="0">
                <a:latin typeface="Calibri"/>
                <a:cs typeface="Calibri"/>
              </a:rPr>
              <a:t>Advanced</a:t>
            </a:r>
            <a:r>
              <a:rPr sz="1800" spc="-50" dirty="0">
                <a:latin typeface="Calibri"/>
                <a:cs typeface="Calibri"/>
              </a:rPr>
              <a:t> </a:t>
            </a:r>
            <a:r>
              <a:rPr sz="1800" dirty="0">
                <a:latin typeface="Calibri"/>
                <a:cs typeface="Calibri"/>
              </a:rPr>
              <a:t>Computer</a:t>
            </a:r>
            <a:r>
              <a:rPr sz="1800" spc="-25" dirty="0">
                <a:latin typeface="Calibri"/>
                <a:cs typeface="Calibri"/>
              </a:rPr>
              <a:t> </a:t>
            </a:r>
            <a:r>
              <a:rPr sz="1800" dirty="0">
                <a:latin typeface="Calibri"/>
                <a:cs typeface="Calibri"/>
              </a:rPr>
              <a:t>Science</a:t>
            </a:r>
            <a:r>
              <a:rPr sz="1800" spc="-50" dirty="0">
                <a:latin typeface="Calibri"/>
                <a:cs typeface="Calibri"/>
              </a:rPr>
              <a:t> </a:t>
            </a:r>
            <a:r>
              <a:rPr sz="1800" dirty="0">
                <a:latin typeface="Calibri"/>
                <a:cs typeface="Calibri"/>
              </a:rPr>
              <a:t>and</a:t>
            </a:r>
            <a:r>
              <a:rPr sz="1800" spc="-30" dirty="0">
                <a:latin typeface="Calibri"/>
                <a:cs typeface="Calibri"/>
              </a:rPr>
              <a:t> </a:t>
            </a:r>
            <a:r>
              <a:rPr sz="1800" dirty="0">
                <a:latin typeface="Calibri"/>
                <a:cs typeface="Calibri"/>
              </a:rPr>
              <a:t>Applications</a:t>
            </a:r>
            <a:r>
              <a:rPr sz="1800" spc="-55" dirty="0">
                <a:latin typeface="Calibri"/>
                <a:cs typeface="Calibri"/>
              </a:rPr>
              <a:t> </a:t>
            </a:r>
            <a:r>
              <a:rPr sz="1800" dirty="0">
                <a:latin typeface="Calibri"/>
                <a:cs typeface="Calibri"/>
              </a:rPr>
              <a:t>(IJACSA),</a:t>
            </a:r>
            <a:r>
              <a:rPr sz="1800" spc="-40" dirty="0">
                <a:latin typeface="Calibri"/>
                <a:cs typeface="Calibri"/>
              </a:rPr>
              <a:t> </a:t>
            </a:r>
            <a:r>
              <a:rPr sz="1800" dirty="0">
                <a:latin typeface="Calibri"/>
                <a:cs typeface="Calibri"/>
              </a:rPr>
              <a:t>Volume</a:t>
            </a:r>
            <a:r>
              <a:rPr sz="1800" spc="-50" dirty="0">
                <a:latin typeface="Calibri"/>
                <a:cs typeface="Calibri"/>
              </a:rPr>
              <a:t> </a:t>
            </a:r>
            <a:r>
              <a:rPr sz="1800" dirty="0">
                <a:latin typeface="Calibri"/>
                <a:cs typeface="Calibri"/>
              </a:rPr>
              <a:t>14</a:t>
            </a:r>
            <a:r>
              <a:rPr sz="1800" spc="-40" dirty="0">
                <a:latin typeface="Calibri"/>
                <a:cs typeface="Calibri"/>
              </a:rPr>
              <a:t> </a:t>
            </a:r>
            <a:r>
              <a:rPr sz="1800" dirty="0">
                <a:latin typeface="Calibri"/>
                <a:cs typeface="Calibri"/>
              </a:rPr>
              <a:t>Issue</a:t>
            </a:r>
            <a:r>
              <a:rPr sz="1800" spc="-55" dirty="0">
                <a:latin typeface="Calibri"/>
                <a:cs typeface="Calibri"/>
              </a:rPr>
              <a:t> </a:t>
            </a:r>
            <a:r>
              <a:rPr sz="1800" spc="-25" dirty="0">
                <a:latin typeface="Calibri"/>
                <a:cs typeface="Calibri"/>
              </a:rPr>
              <a:t>3.</a:t>
            </a:r>
            <a:endParaRPr sz="1800" dirty="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8060" y="759078"/>
            <a:ext cx="10756265" cy="4538345"/>
          </a:xfrm>
          <a:prstGeom prst="rect">
            <a:avLst/>
          </a:prstGeom>
        </p:spPr>
        <p:txBody>
          <a:bodyPr vert="horz" wrap="square" lIns="0" tIns="12700" rIns="0" bIns="0" rtlCol="0">
            <a:spAutoFit/>
          </a:bodyPr>
          <a:lstStyle/>
          <a:p>
            <a:pPr marL="506095" indent="-493395">
              <a:lnSpc>
                <a:spcPct val="100000"/>
              </a:lnSpc>
              <a:spcBef>
                <a:spcPts val="100"/>
              </a:spcBef>
              <a:buSzPct val="66666"/>
              <a:buFont typeface="Cambria"/>
              <a:buAutoNum type="arabicPlain" startAt="6"/>
              <a:tabLst>
                <a:tab pos="506095" algn="l"/>
              </a:tabLst>
            </a:pPr>
            <a:r>
              <a:rPr sz="1800" dirty="0">
                <a:latin typeface="Calibri"/>
                <a:cs typeface="Calibri"/>
              </a:rPr>
              <a:t>Afshar,</a:t>
            </a:r>
            <a:r>
              <a:rPr sz="1800" spc="114" dirty="0">
                <a:latin typeface="Calibri"/>
                <a:cs typeface="Calibri"/>
              </a:rPr>
              <a:t> </a:t>
            </a:r>
            <a:r>
              <a:rPr sz="1800" dirty="0">
                <a:latin typeface="Calibri"/>
                <a:cs typeface="Calibri"/>
              </a:rPr>
              <a:t>P.,</a:t>
            </a:r>
            <a:r>
              <a:rPr sz="1800" spc="114" dirty="0">
                <a:latin typeface="Calibri"/>
                <a:cs typeface="Calibri"/>
              </a:rPr>
              <a:t> </a:t>
            </a:r>
            <a:r>
              <a:rPr sz="1800" dirty="0">
                <a:latin typeface="Calibri"/>
                <a:cs typeface="Calibri"/>
              </a:rPr>
              <a:t>Mohammadi,</a:t>
            </a:r>
            <a:r>
              <a:rPr sz="1800" spc="135" dirty="0">
                <a:latin typeface="Calibri"/>
                <a:cs typeface="Calibri"/>
              </a:rPr>
              <a:t> </a:t>
            </a:r>
            <a:r>
              <a:rPr sz="1800" dirty="0">
                <a:latin typeface="Calibri"/>
                <a:cs typeface="Calibri"/>
              </a:rPr>
              <a:t>A.,</a:t>
            </a:r>
            <a:r>
              <a:rPr sz="1800" spc="120" dirty="0">
                <a:latin typeface="Calibri"/>
                <a:cs typeface="Calibri"/>
              </a:rPr>
              <a:t> </a:t>
            </a:r>
            <a:r>
              <a:rPr sz="1800" dirty="0">
                <a:latin typeface="Calibri"/>
                <a:cs typeface="Calibri"/>
              </a:rPr>
              <a:t>&amp;</a:t>
            </a:r>
            <a:r>
              <a:rPr sz="1800" spc="110" dirty="0">
                <a:latin typeface="Calibri"/>
                <a:cs typeface="Calibri"/>
              </a:rPr>
              <a:t> </a:t>
            </a:r>
            <a:r>
              <a:rPr sz="1800" dirty="0">
                <a:latin typeface="Calibri"/>
                <a:cs typeface="Calibri"/>
              </a:rPr>
              <a:t>Plataniotis,</a:t>
            </a:r>
            <a:r>
              <a:rPr sz="1800" spc="120" dirty="0">
                <a:latin typeface="Calibri"/>
                <a:cs typeface="Calibri"/>
              </a:rPr>
              <a:t> </a:t>
            </a:r>
            <a:r>
              <a:rPr sz="1800" dirty="0">
                <a:latin typeface="Calibri"/>
                <a:cs typeface="Calibri"/>
              </a:rPr>
              <a:t>K.</a:t>
            </a:r>
            <a:r>
              <a:rPr sz="1800" spc="130" dirty="0">
                <a:latin typeface="Calibri"/>
                <a:cs typeface="Calibri"/>
              </a:rPr>
              <a:t> </a:t>
            </a:r>
            <a:r>
              <a:rPr sz="1800" dirty="0">
                <a:latin typeface="Calibri"/>
                <a:cs typeface="Calibri"/>
              </a:rPr>
              <a:t>N.</a:t>
            </a:r>
            <a:r>
              <a:rPr sz="1800" spc="110" dirty="0">
                <a:latin typeface="Calibri"/>
                <a:cs typeface="Calibri"/>
              </a:rPr>
              <a:t> </a:t>
            </a:r>
            <a:r>
              <a:rPr sz="1800" dirty="0">
                <a:latin typeface="Calibri"/>
                <a:cs typeface="Calibri"/>
              </a:rPr>
              <a:t>(2020).</a:t>
            </a:r>
            <a:r>
              <a:rPr sz="1800" spc="140" dirty="0">
                <a:latin typeface="Calibri"/>
                <a:cs typeface="Calibri"/>
              </a:rPr>
              <a:t> </a:t>
            </a:r>
            <a:r>
              <a:rPr sz="1800" i="1" dirty="0">
                <a:latin typeface="Calibri"/>
                <a:cs typeface="Calibri"/>
              </a:rPr>
              <a:t>Brain</a:t>
            </a:r>
            <a:r>
              <a:rPr sz="1800" i="1" spc="120" dirty="0">
                <a:latin typeface="Calibri"/>
                <a:cs typeface="Calibri"/>
              </a:rPr>
              <a:t> </a:t>
            </a:r>
            <a:r>
              <a:rPr sz="1800" i="1" dirty="0">
                <a:latin typeface="Calibri"/>
                <a:cs typeface="Calibri"/>
              </a:rPr>
              <a:t>tumor</a:t>
            </a:r>
            <a:r>
              <a:rPr sz="1800" i="1" spc="114" dirty="0">
                <a:latin typeface="Calibri"/>
                <a:cs typeface="Calibri"/>
              </a:rPr>
              <a:t> </a:t>
            </a:r>
            <a:r>
              <a:rPr sz="1800" i="1" dirty="0">
                <a:latin typeface="Calibri"/>
                <a:cs typeface="Calibri"/>
              </a:rPr>
              <a:t>type</a:t>
            </a:r>
            <a:r>
              <a:rPr sz="1800" i="1" spc="114" dirty="0">
                <a:latin typeface="Calibri"/>
                <a:cs typeface="Calibri"/>
              </a:rPr>
              <a:t> </a:t>
            </a:r>
            <a:r>
              <a:rPr sz="1800" i="1" dirty="0">
                <a:latin typeface="Calibri"/>
                <a:cs typeface="Calibri"/>
              </a:rPr>
              <a:t>classification</a:t>
            </a:r>
            <a:r>
              <a:rPr sz="1800" i="1" spc="120" dirty="0">
                <a:latin typeface="Calibri"/>
                <a:cs typeface="Calibri"/>
              </a:rPr>
              <a:t> </a:t>
            </a:r>
            <a:r>
              <a:rPr sz="1800" i="1" dirty="0">
                <a:latin typeface="Calibri"/>
                <a:cs typeface="Calibri"/>
              </a:rPr>
              <a:t>via</a:t>
            </a:r>
            <a:r>
              <a:rPr sz="1800" i="1" spc="120" dirty="0">
                <a:latin typeface="Calibri"/>
                <a:cs typeface="Calibri"/>
              </a:rPr>
              <a:t> </a:t>
            </a:r>
            <a:r>
              <a:rPr sz="1800" i="1" dirty="0">
                <a:latin typeface="Calibri"/>
                <a:cs typeface="Calibri"/>
              </a:rPr>
              <a:t>capsule</a:t>
            </a:r>
            <a:r>
              <a:rPr sz="1800" i="1" spc="114" dirty="0">
                <a:latin typeface="Calibri"/>
                <a:cs typeface="Calibri"/>
              </a:rPr>
              <a:t> </a:t>
            </a:r>
            <a:r>
              <a:rPr sz="1800" i="1" spc="-10" dirty="0">
                <a:latin typeface="Calibri"/>
                <a:cs typeface="Calibri"/>
              </a:rPr>
              <a:t>networks.</a:t>
            </a:r>
            <a:endParaRPr sz="1800" dirty="0">
              <a:latin typeface="Calibri"/>
              <a:cs typeface="Calibri"/>
            </a:endParaRPr>
          </a:p>
          <a:p>
            <a:pPr marL="12700">
              <a:lnSpc>
                <a:spcPct val="100000"/>
              </a:lnSpc>
              <a:spcBef>
                <a:spcPts val="1560"/>
              </a:spcBef>
            </a:pPr>
            <a:r>
              <a:rPr sz="1800" dirty="0">
                <a:latin typeface="Calibri"/>
                <a:cs typeface="Calibri"/>
              </a:rPr>
              <a:t>Expert</a:t>
            </a:r>
            <a:r>
              <a:rPr sz="1800" spc="-50" dirty="0">
                <a:latin typeface="Calibri"/>
                <a:cs typeface="Calibri"/>
              </a:rPr>
              <a:t> </a:t>
            </a:r>
            <a:r>
              <a:rPr sz="1800" dirty="0">
                <a:latin typeface="Calibri"/>
                <a:cs typeface="Calibri"/>
              </a:rPr>
              <a:t>Systems</a:t>
            </a:r>
            <a:r>
              <a:rPr sz="1800" spc="-45" dirty="0">
                <a:latin typeface="Calibri"/>
                <a:cs typeface="Calibri"/>
              </a:rPr>
              <a:t> </a:t>
            </a:r>
            <a:r>
              <a:rPr sz="1800" dirty="0">
                <a:latin typeface="Calibri"/>
                <a:cs typeface="Calibri"/>
              </a:rPr>
              <a:t>with</a:t>
            </a:r>
            <a:r>
              <a:rPr sz="1800" spc="-50" dirty="0">
                <a:latin typeface="Calibri"/>
                <a:cs typeface="Calibri"/>
              </a:rPr>
              <a:t> </a:t>
            </a:r>
            <a:r>
              <a:rPr sz="1800" dirty="0">
                <a:latin typeface="Calibri"/>
                <a:cs typeface="Calibri"/>
              </a:rPr>
              <a:t>Applications,</a:t>
            </a:r>
            <a:r>
              <a:rPr sz="1800" spc="-35" dirty="0">
                <a:latin typeface="Calibri"/>
                <a:cs typeface="Calibri"/>
              </a:rPr>
              <a:t> </a:t>
            </a:r>
            <a:r>
              <a:rPr sz="1800" dirty="0">
                <a:latin typeface="Calibri"/>
                <a:cs typeface="Calibri"/>
              </a:rPr>
              <a:t>141,</a:t>
            </a:r>
            <a:r>
              <a:rPr sz="1800" spc="-40" dirty="0">
                <a:latin typeface="Calibri"/>
                <a:cs typeface="Calibri"/>
              </a:rPr>
              <a:t> </a:t>
            </a:r>
            <a:r>
              <a:rPr sz="1800" spc="-10" dirty="0">
                <a:latin typeface="Calibri"/>
                <a:cs typeface="Calibri"/>
              </a:rPr>
              <a:t>112957.</a:t>
            </a:r>
            <a:endParaRPr sz="1800" dirty="0">
              <a:latin typeface="Calibri"/>
              <a:cs typeface="Calibri"/>
            </a:endParaRPr>
          </a:p>
          <a:p>
            <a:pPr marL="12700" marR="10160" indent="493395">
              <a:lnSpc>
                <a:spcPct val="171200"/>
              </a:lnSpc>
              <a:buSzPct val="66666"/>
              <a:buFont typeface="Cambria"/>
              <a:buAutoNum type="arabicPlain" startAt="7"/>
              <a:tabLst>
                <a:tab pos="506095" algn="l"/>
              </a:tabLst>
            </a:pPr>
            <a:r>
              <a:rPr sz="1800" dirty="0">
                <a:latin typeface="Calibri"/>
                <a:cs typeface="Calibri"/>
              </a:rPr>
              <a:t>Iqbal,</a:t>
            </a:r>
            <a:r>
              <a:rPr sz="1800" spc="-15" dirty="0">
                <a:latin typeface="Calibri"/>
                <a:cs typeface="Calibri"/>
              </a:rPr>
              <a:t> </a:t>
            </a:r>
            <a:r>
              <a:rPr sz="1800" dirty="0">
                <a:latin typeface="Calibri"/>
                <a:cs typeface="Calibri"/>
              </a:rPr>
              <a:t>S.,</a:t>
            </a:r>
            <a:r>
              <a:rPr sz="1800" spc="-5" dirty="0">
                <a:latin typeface="Calibri"/>
                <a:cs typeface="Calibri"/>
              </a:rPr>
              <a:t> </a:t>
            </a:r>
            <a:r>
              <a:rPr sz="1800" dirty="0">
                <a:latin typeface="Calibri"/>
                <a:cs typeface="Calibri"/>
              </a:rPr>
              <a:t>Qureshi,</a:t>
            </a:r>
            <a:r>
              <a:rPr sz="1800" spc="15" dirty="0">
                <a:latin typeface="Calibri"/>
                <a:cs typeface="Calibri"/>
              </a:rPr>
              <a:t> </a:t>
            </a:r>
            <a:r>
              <a:rPr sz="1800" dirty="0">
                <a:latin typeface="Calibri"/>
                <a:cs typeface="Calibri"/>
              </a:rPr>
              <a:t>S.</a:t>
            </a:r>
            <a:r>
              <a:rPr sz="1800" spc="-20" dirty="0">
                <a:latin typeface="Calibri"/>
                <a:cs typeface="Calibri"/>
              </a:rPr>
              <a:t> </a:t>
            </a:r>
            <a:r>
              <a:rPr sz="1800" dirty="0">
                <a:latin typeface="Calibri"/>
                <a:cs typeface="Calibri"/>
              </a:rPr>
              <a:t>A.,</a:t>
            </a:r>
            <a:r>
              <a:rPr sz="1800" spc="-5" dirty="0">
                <a:latin typeface="Calibri"/>
                <a:cs typeface="Calibri"/>
              </a:rPr>
              <a:t> </a:t>
            </a:r>
            <a:r>
              <a:rPr sz="1800" dirty="0">
                <a:latin typeface="Calibri"/>
                <a:cs typeface="Calibri"/>
              </a:rPr>
              <a:t>&amp;</a:t>
            </a:r>
            <a:r>
              <a:rPr sz="1800" spc="-20" dirty="0">
                <a:latin typeface="Calibri"/>
                <a:cs typeface="Calibri"/>
              </a:rPr>
              <a:t> </a:t>
            </a:r>
            <a:r>
              <a:rPr sz="1800" dirty="0">
                <a:latin typeface="Calibri"/>
                <a:cs typeface="Calibri"/>
              </a:rPr>
              <a:t>Javed,</a:t>
            </a:r>
            <a:r>
              <a:rPr sz="1800" spc="-10" dirty="0">
                <a:latin typeface="Calibri"/>
                <a:cs typeface="Calibri"/>
              </a:rPr>
              <a:t> </a:t>
            </a:r>
            <a:r>
              <a:rPr sz="1800" dirty="0">
                <a:latin typeface="Calibri"/>
                <a:cs typeface="Calibri"/>
              </a:rPr>
              <a:t>M.</a:t>
            </a:r>
            <a:r>
              <a:rPr sz="1800" spc="-15" dirty="0">
                <a:latin typeface="Calibri"/>
                <a:cs typeface="Calibri"/>
              </a:rPr>
              <a:t> </a:t>
            </a:r>
            <a:r>
              <a:rPr sz="1800" dirty="0">
                <a:latin typeface="Calibri"/>
                <a:cs typeface="Calibri"/>
              </a:rPr>
              <a:t>Y.</a:t>
            </a:r>
            <a:r>
              <a:rPr sz="1800" spc="-15" dirty="0">
                <a:latin typeface="Calibri"/>
                <a:cs typeface="Calibri"/>
              </a:rPr>
              <a:t> </a:t>
            </a:r>
            <a:r>
              <a:rPr sz="1800" dirty="0">
                <a:latin typeface="Calibri"/>
                <a:cs typeface="Calibri"/>
              </a:rPr>
              <a:t>(2021).</a:t>
            </a:r>
            <a:r>
              <a:rPr sz="1800" spc="35" dirty="0">
                <a:latin typeface="Calibri"/>
                <a:cs typeface="Calibri"/>
              </a:rPr>
              <a:t> </a:t>
            </a:r>
            <a:r>
              <a:rPr sz="1800" i="1" dirty="0">
                <a:latin typeface="Calibri"/>
                <a:cs typeface="Calibri"/>
              </a:rPr>
              <a:t>Deep learning</a:t>
            </a:r>
            <a:r>
              <a:rPr sz="1800" i="1" spc="-10" dirty="0">
                <a:latin typeface="Calibri"/>
                <a:cs typeface="Calibri"/>
              </a:rPr>
              <a:t> </a:t>
            </a:r>
            <a:r>
              <a:rPr sz="1800" i="1" dirty="0">
                <a:latin typeface="Calibri"/>
                <a:cs typeface="Calibri"/>
              </a:rPr>
              <a:t>model</a:t>
            </a:r>
            <a:r>
              <a:rPr sz="1800" i="1" spc="-15" dirty="0">
                <a:latin typeface="Calibri"/>
                <a:cs typeface="Calibri"/>
              </a:rPr>
              <a:t> </a:t>
            </a:r>
            <a:r>
              <a:rPr sz="1800" i="1" dirty="0">
                <a:latin typeface="Calibri"/>
                <a:cs typeface="Calibri"/>
              </a:rPr>
              <a:t>for</a:t>
            </a:r>
            <a:r>
              <a:rPr sz="1800" i="1" spc="-10" dirty="0">
                <a:latin typeface="Calibri"/>
                <a:cs typeface="Calibri"/>
              </a:rPr>
              <a:t> </a:t>
            </a:r>
            <a:r>
              <a:rPr sz="1800" i="1" dirty="0">
                <a:latin typeface="Calibri"/>
                <a:cs typeface="Calibri"/>
              </a:rPr>
              <a:t>classification</a:t>
            </a:r>
            <a:r>
              <a:rPr sz="1800" i="1" spc="-5" dirty="0">
                <a:latin typeface="Calibri"/>
                <a:cs typeface="Calibri"/>
              </a:rPr>
              <a:t> </a:t>
            </a:r>
            <a:r>
              <a:rPr sz="1800" i="1" dirty="0">
                <a:latin typeface="Calibri"/>
                <a:cs typeface="Calibri"/>
              </a:rPr>
              <a:t>of</a:t>
            </a:r>
            <a:r>
              <a:rPr sz="1800" i="1" spc="-10" dirty="0">
                <a:latin typeface="Calibri"/>
                <a:cs typeface="Calibri"/>
              </a:rPr>
              <a:t> </a:t>
            </a:r>
            <a:r>
              <a:rPr sz="1800" i="1" dirty="0">
                <a:latin typeface="Calibri"/>
                <a:cs typeface="Calibri"/>
              </a:rPr>
              <a:t>glioma</a:t>
            </a:r>
            <a:r>
              <a:rPr sz="1800" i="1" spc="-10" dirty="0">
                <a:latin typeface="Calibri"/>
                <a:cs typeface="Calibri"/>
              </a:rPr>
              <a:t> </a:t>
            </a:r>
            <a:r>
              <a:rPr sz="1800" i="1" dirty="0">
                <a:latin typeface="Calibri"/>
                <a:cs typeface="Calibri"/>
              </a:rPr>
              <a:t>tumor</a:t>
            </a:r>
            <a:r>
              <a:rPr sz="1800" i="1" spc="-10" dirty="0">
                <a:latin typeface="Calibri"/>
                <a:cs typeface="Calibri"/>
              </a:rPr>
              <a:t> subtypes </a:t>
            </a:r>
            <a:r>
              <a:rPr sz="1800" i="1" dirty="0">
                <a:latin typeface="Calibri"/>
                <a:cs typeface="Calibri"/>
              </a:rPr>
              <a:t>using</a:t>
            </a:r>
            <a:r>
              <a:rPr sz="1800" i="1" spc="-30" dirty="0">
                <a:latin typeface="Calibri"/>
                <a:cs typeface="Calibri"/>
              </a:rPr>
              <a:t> </a:t>
            </a:r>
            <a:r>
              <a:rPr sz="1800" i="1" dirty="0">
                <a:latin typeface="Calibri"/>
                <a:cs typeface="Calibri"/>
              </a:rPr>
              <a:t>MRI</a:t>
            </a:r>
            <a:r>
              <a:rPr sz="1800" i="1" spc="-55" dirty="0">
                <a:latin typeface="Calibri"/>
                <a:cs typeface="Calibri"/>
              </a:rPr>
              <a:t> </a:t>
            </a:r>
            <a:r>
              <a:rPr sz="1800" i="1" dirty="0">
                <a:latin typeface="Calibri"/>
                <a:cs typeface="Calibri"/>
              </a:rPr>
              <a:t>data.</a:t>
            </a:r>
            <a:r>
              <a:rPr sz="1800" i="1" spc="-20" dirty="0">
                <a:latin typeface="Calibri"/>
                <a:cs typeface="Calibri"/>
              </a:rPr>
              <a:t> </a:t>
            </a:r>
            <a:r>
              <a:rPr sz="1800" dirty="0">
                <a:latin typeface="Calibri"/>
                <a:cs typeface="Calibri"/>
              </a:rPr>
              <a:t>Biomedical</a:t>
            </a:r>
            <a:r>
              <a:rPr sz="1800" spc="-30" dirty="0">
                <a:latin typeface="Calibri"/>
                <a:cs typeface="Calibri"/>
              </a:rPr>
              <a:t> </a:t>
            </a:r>
            <a:r>
              <a:rPr sz="1800" dirty="0">
                <a:latin typeface="Calibri"/>
                <a:cs typeface="Calibri"/>
              </a:rPr>
              <a:t>Signal</a:t>
            </a:r>
            <a:r>
              <a:rPr sz="1800" spc="-40" dirty="0">
                <a:latin typeface="Calibri"/>
                <a:cs typeface="Calibri"/>
              </a:rPr>
              <a:t> </a:t>
            </a:r>
            <a:r>
              <a:rPr sz="1800" dirty="0">
                <a:latin typeface="Calibri"/>
                <a:cs typeface="Calibri"/>
              </a:rPr>
              <a:t>Processing</a:t>
            </a:r>
            <a:r>
              <a:rPr sz="1800" spc="-40" dirty="0">
                <a:latin typeface="Calibri"/>
                <a:cs typeface="Calibri"/>
              </a:rPr>
              <a:t> </a:t>
            </a:r>
            <a:r>
              <a:rPr sz="1800" dirty="0">
                <a:latin typeface="Calibri"/>
                <a:cs typeface="Calibri"/>
              </a:rPr>
              <a:t>and</a:t>
            </a:r>
            <a:r>
              <a:rPr sz="1800" spc="-45" dirty="0">
                <a:latin typeface="Calibri"/>
                <a:cs typeface="Calibri"/>
              </a:rPr>
              <a:t> </a:t>
            </a:r>
            <a:r>
              <a:rPr sz="1800" dirty="0">
                <a:latin typeface="Calibri"/>
                <a:cs typeface="Calibri"/>
              </a:rPr>
              <a:t>Control,</a:t>
            </a:r>
            <a:r>
              <a:rPr sz="1800" spc="-35" dirty="0">
                <a:latin typeface="Calibri"/>
                <a:cs typeface="Calibri"/>
              </a:rPr>
              <a:t> </a:t>
            </a:r>
            <a:r>
              <a:rPr sz="1800" dirty="0">
                <a:latin typeface="Calibri"/>
                <a:cs typeface="Calibri"/>
              </a:rPr>
              <a:t>63,</a:t>
            </a:r>
            <a:r>
              <a:rPr sz="1800" spc="-30" dirty="0">
                <a:latin typeface="Calibri"/>
                <a:cs typeface="Calibri"/>
              </a:rPr>
              <a:t> </a:t>
            </a:r>
            <a:r>
              <a:rPr sz="1800" spc="-10" dirty="0">
                <a:latin typeface="Calibri"/>
                <a:cs typeface="Calibri"/>
              </a:rPr>
              <a:t>102172.</a:t>
            </a:r>
            <a:endParaRPr sz="1800" dirty="0">
              <a:latin typeface="Calibri"/>
              <a:cs typeface="Calibri"/>
            </a:endParaRPr>
          </a:p>
          <a:p>
            <a:pPr marL="12700" marR="7620" indent="493395" algn="just">
              <a:lnSpc>
                <a:spcPct val="171200"/>
              </a:lnSpc>
              <a:spcBef>
                <a:spcPts val="20"/>
              </a:spcBef>
              <a:buSzPct val="66666"/>
              <a:buFont typeface="Cambria"/>
              <a:buAutoNum type="arabicPlain" startAt="7"/>
              <a:tabLst>
                <a:tab pos="506095" algn="l"/>
              </a:tabLst>
            </a:pPr>
            <a:r>
              <a:rPr sz="1800" dirty="0">
                <a:latin typeface="Calibri"/>
                <a:cs typeface="Calibri"/>
              </a:rPr>
              <a:t>Rehman,</a:t>
            </a:r>
            <a:r>
              <a:rPr sz="1800" spc="130" dirty="0">
                <a:latin typeface="Calibri"/>
                <a:cs typeface="Calibri"/>
              </a:rPr>
              <a:t> </a:t>
            </a:r>
            <a:r>
              <a:rPr sz="1800" dirty="0">
                <a:latin typeface="Calibri"/>
                <a:cs typeface="Calibri"/>
              </a:rPr>
              <a:t>A.,</a:t>
            </a:r>
            <a:r>
              <a:rPr sz="1800" spc="135" dirty="0">
                <a:latin typeface="Calibri"/>
                <a:cs typeface="Calibri"/>
              </a:rPr>
              <a:t> </a:t>
            </a:r>
            <a:r>
              <a:rPr sz="1800" dirty="0">
                <a:latin typeface="Calibri"/>
                <a:cs typeface="Calibri"/>
              </a:rPr>
              <a:t>Khan,</a:t>
            </a:r>
            <a:r>
              <a:rPr sz="1800" spc="135" dirty="0">
                <a:latin typeface="Calibri"/>
                <a:cs typeface="Calibri"/>
              </a:rPr>
              <a:t> </a:t>
            </a:r>
            <a:r>
              <a:rPr sz="1800" dirty="0">
                <a:latin typeface="Calibri"/>
                <a:cs typeface="Calibri"/>
              </a:rPr>
              <a:t>M.</a:t>
            </a:r>
            <a:r>
              <a:rPr sz="1800" spc="125" dirty="0">
                <a:latin typeface="Calibri"/>
                <a:cs typeface="Calibri"/>
              </a:rPr>
              <a:t> </a:t>
            </a:r>
            <a:r>
              <a:rPr sz="1800" dirty="0">
                <a:latin typeface="Calibri"/>
                <a:cs typeface="Calibri"/>
              </a:rPr>
              <a:t>A.,</a:t>
            </a:r>
            <a:r>
              <a:rPr sz="1800" spc="135" dirty="0">
                <a:latin typeface="Calibri"/>
                <a:cs typeface="Calibri"/>
              </a:rPr>
              <a:t> </a:t>
            </a:r>
            <a:r>
              <a:rPr sz="1800" dirty="0">
                <a:latin typeface="Calibri"/>
                <a:cs typeface="Calibri"/>
              </a:rPr>
              <a:t>Saba,</a:t>
            </a:r>
            <a:r>
              <a:rPr sz="1800" spc="160" dirty="0">
                <a:latin typeface="Calibri"/>
                <a:cs typeface="Calibri"/>
              </a:rPr>
              <a:t> </a:t>
            </a:r>
            <a:r>
              <a:rPr sz="1800" dirty="0">
                <a:latin typeface="Calibri"/>
                <a:cs typeface="Calibri"/>
              </a:rPr>
              <a:t>T.,</a:t>
            </a:r>
            <a:r>
              <a:rPr sz="1800" spc="135" dirty="0">
                <a:latin typeface="Calibri"/>
                <a:cs typeface="Calibri"/>
              </a:rPr>
              <a:t> </a:t>
            </a:r>
            <a:r>
              <a:rPr sz="1800" dirty="0">
                <a:latin typeface="Calibri"/>
                <a:cs typeface="Calibri"/>
              </a:rPr>
              <a:t>&amp;</a:t>
            </a:r>
            <a:r>
              <a:rPr sz="1800" spc="120" dirty="0">
                <a:latin typeface="Calibri"/>
                <a:cs typeface="Calibri"/>
              </a:rPr>
              <a:t> </a:t>
            </a:r>
            <a:r>
              <a:rPr sz="1800" dirty="0">
                <a:latin typeface="Calibri"/>
                <a:cs typeface="Calibri"/>
              </a:rPr>
              <a:t>Mehmood,</a:t>
            </a:r>
            <a:r>
              <a:rPr sz="1800" spc="135" dirty="0">
                <a:latin typeface="Calibri"/>
                <a:cs typeface="Calibri"/>
              </a:rPr>
              <a:t> </a:t>
            </a:r>
            <a:r>
              <a:rPr sz="1800" dirty="0">
                <a:latin typeface="Calibri"/>
                <a:cs typeface="Calibri"/>
              </a:rPr>
              <a:t>Z.</a:t>
            </a:r>
            <a:r>
              <a:rPr sz="1800" spc="125" dirty="0">
                <a:latin typeface="Calibri"/>
                <a:cs typeface="Calibri"/>
              </a:rPr>
              <a:t> </a:t>
            </a:r>
            <a:r>
              <a:rPr sz="1800" dirty="0">
                <a:latin typeface="Calibri"/>
                <a:cs typeface="Calibri"/>
              </a:rPr>
              <a:t>(2022).</a:t>
            </a:r>
            <a:r>
              <a:rPr sz="1800" spc="185" dirty="0">
                <a:latin typeface="Calibri"/>
                <a:cs typeface="Calibri"/>
              </a:rPr>
              <a:t> </a:t>
            </a:r>
            <a:r>
              <a:rPr sz="1800" i="1" dirty="0">
                <a:latin typeface="Calibri"/>
                <a:cs typeface="Calibri"/>
              </a:rPr>
              <a:t>Brain</a:t>
            </a:r>
            <a:r>
              <a:rPr sz="1800" i="1" spc="114" dirty="0">
                <a:latin typeface="Calibri"/>
                <a:cs typeface="Calibri"/>
              </a:rPr>
              <a:t> </a:t>
            </a:r>
            <a:r>
              <a:rPr sz="1800" i="1" dirty="0">
                <a:latin typeface="Calibri"/>
                <a:cs typeface="Calibri"/>
              </a:rPr>
              <a:t>tumor</a:t>
            </a:r>
            <a:r>
              <a:rPr sz="1800" i="1" spc="130" dirty="0">
                <a:latin typeface="Calibri"/>
                <a:cs typeface="Calibri"/>
              </a:rPr>
              <a:t> </a:t>
            </a:r>
            <a:r>
              <a:rPr sz="1800" i="1" dirty="0">
                <a:latin typeface="Calibri"/>
                <a:cs typeface="Calibri"/>
              </a:rPr>
              <a:t>classification</a:t>
            </a:r>
            <a:r>
              <a:rPr sz="1800" i="1" spc="135" dirty="0">
                <a:latin typeface="Calibri"/>
                <a:cs typeface="Calibri"/>
              </a:rPr>
              <a:t> </a:t>
            </a:r>
            <a:r>
              <a:rPr sz="1800" i="1" dirty="0">
                <a:latin typeface="Calibri"/>
                <a:cs typeface="Calibri"/>
              </a:rPr>
              <a:t>using</a:t>
            </a:r>
            <a:r>
              <a:rPr sz="1800" i="1" spc="140" dirty="0">
                <a:latin typeface="Calibri"/>
                <a:cs typeface="Calibri"/>
              </a:rPr>
              <a:t> </a:t>
            </a:r>
            <a:r>
              <a:rPr sz="1800" i="1" dirty="0">
                <a:latin typeface="Calibri"/>
                <a:cs typeface="Calibri"/>
              </a:rPr>
              <a:t>deep</a:t>
            </a:r>
            <a:r>
              <a:rPr sz="1800" i="1" spc="110" dirty="0">
                <a:latin typeface="Calibri"/>
                <a:cs typeface="Calibri"/>
              </a:rPr>
              <a:t> </a:t>
            </a:r>
            <a:r>
              <a:rPr sz="1800" i="1" dirty="0">
                <a:latin typeface="Calibri"/>
                <a:cs typeface="Calibri"/>
              </a:rPr>
              <a:t>learning:</a:t>
            </a:r>
            <a:r>
              <a:rPr sz="1800" i="1" spc="130" dirty="0">
                <a:latin typeface="Calibri"/>
                <a:cs typeface="Calibri"/>
              </a:rPr>
              <a:t> </a:t>
            </a:r>
            <a:r>
              <a:rPr sz="1800" i="1" spc="-50" dirty="0">
                <a:latin typeface="Calibri"/>
                <a:cs typeface="Calibri"/>
              </a:rPr>
              <a:t>A </a:t>
            </a:r>
            <a:r>
              <a:rPr sz="1800" i="1" dirty="0">
                <a:latin typeface="Calibri"/>
                <a:cs typeface="Calibri"/>
              </a:rPr>
              <a:t>review.</a:t>
            </a:r>
            <a:r>
              <a:rPr sz="1800" i="1" spc="-45" dirty="0">
                <a:latin typeface="Calibri"/>
                <a:cs typeface="Calibri"/>
              </a:rPr>
              <a:t> </a:t>
            </a:r>
            <a:r>
              <a:rPr sz="1800" dirty="0">
                <a:latin typeface="Calibri"/>
                <a:cs typeface="Calibri"/>
              </a:rPr>
              <a:t>Healthcare</a:t>
            </a:r>
            <a:r>
              <a:rPr sz="1800" spc="-65" dirty="0">
                <a:latin typeface="Calibri"/>
                <a:cs typeface="Calibri"/>
              </a:rPr>
              <a:t> </a:t>
            </a:r>
            <a:r>
              <a:rPr sz="1800" dirty="0">
                <a:latin typeface="Calibri"/>
                <a:cs typeface="Calibri"/>
              </a:rPr>
              <a:t>Analytics,</a:t>
            </a:r>
            <a:r>
              <a:rPr sz="1800" spc="-50" dirty="0">
                <a:latin typeface="Calibri"/>
                <a:cs typeface="Calibri"/>
              </a:rPr>
              <a:t> </a:t>
            </a:r>
            <a:r>
              <a:rPr sz="1800" dirty="0">
                <a:latin typeface="Calibri"/>
                <a:cs typeface="Calibri"/>
              </a:rPr>
              <a:t>2,</a:t>
            </a:r>
            <a:r>
              <a:rPr sz="1800" spc="-40" dirty="0">
                <a:latin typeface="Calibri"/>
                <a:cs typeface="Calibri"/>
              </a:rPr>
              <a:t> </a:t>
            </a:r>
            <a:r>
              <a:rPr sz="1800" spc="-10" dirty="0">
                <a:latin typeface="Calibri"/>
                <a:cs typeface="Calibri"/>
              </a:rPr>
              <a:t>100041.</a:t>
            </a:r>
            <a:endParaRPr sz="1800" dirty="0">
              <a:latin typeface="Calibri"/>
              <a:cs typeface="Calibri"/>
            </a:endParaRPr>
          </a:p>
          <a:p>
            <a:pPr marL="12700" marR="5715" indent="493395">
              <a:lnSpc>
                <a:spcPts val="3720"/>
              </a:lnSpc>
              <a:spcBef>
                <a:spcPts val="365"/>
              </a:spcBef>
              <a:buSzPct val="66666"/>
              <a:buFont typeface="Cambria"/>
              <a:buAutoNum type="arabicPlain" startAt="7"/>
              <a:tabLst>
                <a:tab pos="506095" algn="l"/>
              </a:tabLst>
            </a:pPr>
            <a:r>
              <a:rPr sz="1800" dirty="0">
                <a:latin typeface="Calibri"/>
                <a:cs typeface="Calibri"/>
              </a:rPr>
              <a:t>Islam,</a:t>
            </a:r>
            <a:r>
              <a:rPr sz="1800" spc="20" dirty="0">
                <a:latin typeface="Calibri"/>
                <a:cs typeface="Calibri"/>
              </a:rPr>
              <a:t> </a:t>
            </a:r>
            <a:r>
              <a:rPr sz="1800" dirty="0">
                <a:latin typeface="Calibri"/>
                <a:cs typeface="Calibri"/>
              </a:rPr>
              <a:t>M.,</a:t>
            </a:r>
            <a:r>
              <a:rPr sz="1800" spc="25" dirty="0">
                <a:latin typeface="Calibri"/>
                <a:cs typeface="Calibri"/>
              </a:rPr>
              <a:t> </a:t>
            </a:r>
            <a:r>
              <a:rPr sz="1800" dirty="0">
                <a:latin typeface="Calibri"/>
                <a:cs typeface="Calibri"/>
              </a:rPr>
              <a:t>Zhang,</a:t>
            </a:r>
            <a:r>
              <a:rPr sz="1800" spc="20" dirty="0">
                <a:latin typeface="Calibri"/>
                <a:cs typeface="Calibri"/>
              </a:rPr>
              <a:t> </a:t>
            </a:r>
            <a:r>
              <a:rPr sz="1800" dirty="0">
                <a:latin typeface="Calibri"/>
                <a:cs typeface="Calibri"/>
              </a:rPr>
              <a:t>Y.,</a:t>
            </a:r>
            <a:r>
              <a:rPr sz="1800" spc="25" dirty="0">
                <a:latin typeface="Calibri"/>
                <a:cs typeface="Calibri"/>
              </a:rPr>
              <a:t> </a:t>
            </a:r>
            <a:r>
              <a:rPr sz="1800" dirty="0">
                <a:latin typeface="Calibri"/>
                <a:cs typeface="Calibri"/>
              </a:rPr>
              <a:t>&amp;</a:t>
            </a:r>
            <a:r>
              <a:rPr sz="1800" spc="15" dirty="0">
                <a:latin typeface="Calibri"/>
                <a:cs typeface="Calibri"/>
              </a:rPr>
              <a:t> </a:t>
            </a:r>
            <a:r>
              <a:rPr sz="1800" dirty="0">
                <a:latin typeface="Calibri"/>
                <a:cs typeface="Calibri"/>
              </a:rPr>
              <a:t>Ren,</a:t>
            </a:r>
            <a:r>
              <a:rPr sz="1800" spc="20" dirty="0">
                <a:latin typeface="Calibri"/>
                <a:cs typeface="Calibri"/>
              </a:rPr>
              <a:t> </a:t>
            </a:r>
            <a:r>
              <a:rPr sz="1800" dirty="0">
                <a:latin typeface="Calibri"/>
                <a:cs typeface="Calibri"/>
              </a:rPr>
              <a:t>H.</a:t>
            </a:r>
            <a:r>
              <a:rPr sz="1800" spc="20" dirty="0">
                <a:latin typeface="Calibri"/>
                <a:cs typeface="Calibri"/>
              </a:rPr>
              <a:t> </a:t>
            </a:r>
            <a:r>
              <a:rPr sz="1800" dirty="0">
                <a:latin typeface="Calibri"/>
                <a:cs typeface="Calibri"/>
              </a:rPr>
              <a:t>(2023).</a:t>
            </a:r>
            <a:r>
              <a:rPr sz="1800" spc="60" dirty="0">
                <a:latin typeface="Calibri"/>
                <a:cs typeface="Calibri"/>
              </a:rPr>
              <a:t> </a:t>
            </a:r>
            <a:r>
              <a:rPr sz="1800" i="1" spc="-10" dirty="0">
                <a:latin typeface="Calibri"/>
                <a:cs typeface="Calibri"/>
              </a:rPr>
              <a:t>Multi-</a:t>
            </a:r>
            <a:r>
              <a:rPr sz="1800" i="1" dirty="0">
                <a:latin typeface="Calibri"/>
                <a:cs typeface="Calibri"/>
              </a:rPr>
              <a:t>class</a:t>
            </a:r>
            <a:r>
              <a:rPr sz="1800" i="1" spc="10" dirty="0">
                <a:latin typeface="Calibri"/>
                <a:cs typeface="Calibri"/>
              </a:rPr>
              <a:t> </a:t>
            </a:r>
            <a:r>
              <a:rPr sz="1800" i="1" dirty="0">
                <a:latin typeface="Calibri"/>
                <a:cs typeface="Calibri"/>
              </a:rPr>
              <a:t>brain</a:t>
            </a:r>
            <a:r>
              <a:rPr sz="1800" i="1" spc="25" dirty="0">
                <a:latin typeface="Calibri"/>
                <a:cs typeface="Calibri"/>
              </a:rPr>
              <a:t> </a:t>
            </a:r>
            <a:r>
              <a:rPr sz="1800" i="1" dirty="0">
                <a:latin typeface="Calibri"/>
                <a:cs typeface="Calibri"/>
              </a:rPr>
              <a:t>tumor</a:t>
            </a:r>
            <a:r>
              <a:rPr sz="1800" i="1" spc="25" dirty="0">
                <a:latin typeface="Calibri"/>
                <a:cs typeface="Calibri"/>
              </a:rPr>
              <a:t> </a:t>
            </a:r>
            <a:r>
              <a:rPr sz="1800" i="1" dirty="0">
                <a:latin typeface="Calibri"/>
                <a:cs typeface="Calibri"/>
              </a:rPr>
              <a:t>classification</a:t>
            </a:r>
            <a:r>
              <a:rPr sz="1800" i="1" spc="25" dirty="0">
                <a:latin typeface="Calibri"/>
                <a:cs typeface="Calibri"/>
              </a:rPr>
              <a:t> </a:t>
            </a:r>
            <a:r>
              <a:rPr sz="1800" i="1" dirty="0">
                <a:latin typeface="Calibri"/>
                <a:cs typeface="Calibri"/>
              </a:rPr>
              <a:t>using</a:t>
            </a:r>
            <a:r>
              <a:rPr sz="1800" i="1" spc="30" dirty="0">
                <a:latin typeface="Calibri"/>
                <a:cs typeface="Calibri"/>
              </a:rPr>
              <a:t> </a:t>
            </a:r>
            <a:r>
              <a:rPr sz="1800" i="1" dirty="0">
                <a:latin typeface="Calibri"/>
                <a:cs typeface="Calibri"/>
              </a:rPr>
              <a:t>ensemble</a:t>
            </a:r>
            <a:r>
              <a:rPr sz="1800" i="1" spc="20" dirty="0">
                <a:latin typeface="Calibri"/>
                <a:cs typeface="Calibri"/>
              </a:rPr>
              <a:t> </a:t>
            </a:r>
            <a:r>
              <a:rPr sz="1800" i="1" dirty="0">
                <a:latin typeface="Calibri"/>
                <a:cs typeface="Calibri"/>
              </a:rPr>
              <a:t>CNNs.</a:t>
            </a:r>
            <a:r>
              <a:rPr sz="1800" i="1" spc="80" dirty="0">
                <a:latin typeface="Calibri"/>
                <a:cs typeface="Calibri"/>
              </a:rPr>
              <a:t> </a:t>
            </a:r>
            <a:r>
              <a:rPr sz="1800" spc="-10" dirty="0">
                <a:latin typeface="Calibri"/>
                <a:cs typeface="Calibri"/>
              </a:rPr>
              <a:t>Computers </a:t>
            </a:r>
            <a:r>
              <a:rPr sz="1800" dirty="0">
                <a:latin typeface="Calibri"/>
                <a:cs typeface="Calibri"/>
              </a:rPr>
              <a:t>in</a:t>
            </a:r>
            <a:r>
              <a:rPr sz="1800" spc="-55" dirty="0">
                <a:latin typeface="Calibri"/>
                <a:cs typeface="Calibri"/>
              </a:rPr>
              <a:t> </a:t>
            </a:r>
            <a:r>
              <a:rPr sz="1800" dirty="0">
                <a:latin typeface="Calibri"/>
                <a:cs typeface="Calibri"/>
              </a:rPr>
              <a:t>Biology</a:t>
            </a:r>
            <a:r>
              <a:rPr sz="1800" spc="-45" dirty="0">
                <a:latin typeface="Calibri"/>
                <a:cs typeface="Calibri"/>
              </a:rPr>
              <a:t> </a:t>
            </a:r>
            <a:r>
              <a:rPr sz="1800" dirty="0">
                <a:latin typeface="Calibri"/>
                <a:cs typeface="Calibri"/>
              </a:rPr>
              <a:t>and</a:t>
            </a:r>
            <a:r>
              <a:rPr sz="1800" spc="-50" dirty="0">
                <a:latin typeface="Calibri"/>
                <a:cs typeface="Calibri"/>
              </a:rPr>
              <a:t> </a:t>
            </a:r>
            <a:r>
              <a:rPr sz="1800" dirty="0">
                <a:latin typeface="Calibri"/>
                <a:cs typeface="Calibri"/>
              </a:rPr>
              <a:t>Medicine,</a:t>
            </a:r>
            <a:r>
              <a:rPr sz="1800" spc="-45" dirty="0">
                <a:latin typeface="Calibri"/>
                <a:cs typeface="Calibri"/>
              </a:rPr>
              <a:t> </a:t>
            </a:r>
            <a:r>
              <a:rPr sz="1800" dirty="0">
                <a:latin typeface="Calibri"/>
                <a:cs typeface="Calibri"/>
              </a:rPr>
              <a:t>154,</a:t>
            </a:r>
            <a:r>
              <a:rPr sz="1800" spc="-45" dirty="0">
                <a:latin typeface="Calibri"/>
                <a:cs typeface="Calibri"/>
              </a:rPr>
              <a:t> </a:t>
            </a:r>
            <a:r>
              <a:rPr sz="1800" spc="-10" dirty="0">
                <a:latin typeface="Calibri"/>
                <a:cs typeface="Calibri"/>
              </a:rPr>
              <a:t>106594.</a:t>
            </a:r>
            <a:endParaRPr sz="1800" dirty="0">
              <a:latin typeface="Calibri"/>
              <a:cs typeface="Calibri"/>
            </a:endParaRPr>
          </a:p>
          <a:p>
            <a:pPr marL="506095" indent="-493395">
              <a:lnSpc>
                <a:spcPct val="100000"/>
              </a:lnSpc>
              <a:spcBef>
                <a:spcPts val="1155"/>
              </a:spcBef>
              <a:buSzPct val="66666"/>
              <a:buFont typeface="Cambria"/>
              <a:buAutoNum type="arabicPlain" startAt="7"/>
              <a:tabLst>
                <a:tab pos="506095" algn="l"/>
              </a:tabLst>
            </a:pPr>
            <a:r>
              <a:rPr sz="1800" dirty="0">
                <a:latin typeface="Calibri"/>
                <a:cs typeface="Calibri"/>
              </a:rPr>
              <a:t>Lakkimsetty,</a:t>
            </a:r>
            <a:r>
              <a:rPr sz="1800" spc="135" dirty="0">
                <a:latin typeface="Calibri"/>
                <a:cs typeface="Calibri"/>
              </a:rPr>
              <a:t> </a:t>
            </a:r>
            <a:r>
              <a:rPr sz="1800" dirty="0">
                <a:latin typeface="Calibri"/>
                <a:cs typeface="Calibri"/>
              </a:rPr>
              <a:t>V.,</a:t>
            </a:r>
            <a:r>
              <a:rPr sz="1800" spc="140" dirty="0">
                <a:latin typeface="Calibri"/>
                <a:cs typeface="Calibri"/>
              </a:rPr>
              <a:t> </a:t>
            </a:r>
            <a:r>
              <a:rPr sz="1800" dirty="0">
                <a:latin typeface="Calibri"/>
                <a:cs typeface="Calibri"/>
              </a:rPr>
              <a:t>&amp;</a:t>
            </a:r>
            <a:r>
              <a:rPr sz="1800" spc="130" dirty="0">
                <a:latin typeface="Calibri"/>
                <a:cs typeface="Calibri"/>
              </a:rPr>
              <a:t> </a:t>
            </a:r>
            <a:r>
              <a:rPr sz="1800" dirty="0">
                <a:latin typeface="Calibri"/>
                <a:cs typeface="Calibri"/>
              </a:rPr>
              <a:t>Ghanta,</a:t>
            </a:r>
            <a:r>
              <a:rPr sz="1800" spc="135" dirty="0">
                <a:latin typeface="Calibri"/>
                <a:cs typeface="Calibri"/>
              </a:rPr>
              <a:t> </a:t>
            </a:r>
            <a:r>
              <a:rPr sz="1800" dirty="0">
                <a:latin typeface="Calibri"/>
                <a:cs typeface="Calibri"/>
              </a:rPr>
              <a:t>S.</a:t>
            </a:r>
            <a:r>
              <a:rPr sz="1800" spc="135" dirty="0">
                <a:latin typeface="Calibri"/>
                <a:cs typeface="Calibri"/>
              </a:rPr>
              <a:t> </a:t>
            </a:r>
            <a:r>
              <a:rPr sz="1800" dirty="0">
                <a:latin typeface="Calibri"/>
                <a:cs typeface="Calibri"/>
              </a:rPr>
              <a:t>K.</a:t>
            </a:r>
            <a:r>
              <a:rPr sz="1800" spc="155" dirty="0">
                <a:latin typeface="Calibri"/>
                <a:cs typeface="Calibri"/>
              </a:rPr>
              <a:t> </a:t>
            </a:r>
            <a:r>
              <a:rPr sz="1800" dirty="0">
                <a:latin typeface="Calibri"/>
                <a:cs typeface="Calibri"/>
              </a:rPr>
              <a:t>(2023).</a:t>
            </a:r>
            <a:r>
              <a:rPr sz="1800" spc="165" dirty="0">
                <a:latin typeface="Calibri"/>
                <a:cs typeface="Calibri"/>
              </a:rPr>
              <a:t> </a:t>
            </a:r>
            <a:r>
              <a:rPr sz="1800" i="1" dirty="0">
                <a:latin typeface="Calibri"/>
                <a:cs typeface="Calibri"/>
              </a:rPr>
              <a:t>Transfer</a:t>
            </a:r>
            <a:r>
              <a:rPr sz="1800" i="1" spc="140" dirty="0">
                <a:latin typeface="Calibri"/>
                <a:cs typeface="Calibri"/>
              </a:rPr>
              <a:t> </a:t>
            </a:r>
            <a:r>
              <a:rPr sz="1800" i="1" dirty="0">
                <a:latin typeface="Calibri"/>
                <a:cs typeface="Calibri"/>
              </a:rPr>
              <a:t>learning</a:t>
            </a:r>
            <a:r>
              <a:rPr sz="1800" i="1" spc="140" dirty="0">
                <a:latin typeface="Calibri"/>
                <a:cs typeface="Calibri"/>
              </a:rPr>
              <a:t> </a:t>
            </a:r>
            <a:r>
              <a:rPr sz="1800" i="1" dirty="0">
                <a:latin typeface="Calibri"/>
                <a:cs typeface="Calibri"/>
              </a:rPr>
              <a:t>for</a:t>
            </a:r>
            <a:r>
              <a:rPr sz="1800" i="1" spc="114" dirty="0">
                <a:latin typeface="Calibri"/>
                <a:cs typeface="Calibri"/>
              </a:rPr>
              <a:t> </a:t>
            </a:r>
            <a:r>
              <a:rPr sz="1800" i="1" dirty="0">
                <a:latin typeface="Calibri"/>
                <a:cs typeface="Calibri"/>
              </a:rPr>
              <a:t>brain</a:t>
            </a:r>
            <a:r>
              <a:rPr sz="1800" i="1" spc="140" dirty="0">
                <a:latin typeface="Calibri"/>
                <a:cs typeface="Calibri"/>
              </a:rPr>
              <a:t> </a:t>
            </a:r>
            <a:r>
              <a:rPr sz="1800" i="1" dirty="0">
                <a:latin typeface="Calibri"/>
                <a:cs typeface="Calibri"/>
              </a:rPr>
              <a:t>tumor</a:t>
            </a:r>
            <a:r>
              <a:rPr sz="1800" i="1" spc="140" dirty="0">
                <a:latin typeface="Calibri"/>
                <a:cs typeface="Calibri"/>
              </a:rPr>
              <a:t> </a:t>
            </a:r>
            <a:r>
              <a:rPr sz="1800" i="1" dirty="0">
                <a:latin typeface="Calibri"/>
                <a:cs typeface="Calibri"/>
              </a:rPr>
              <a:t>detection</a:t>
            </a:r>
            <a:r>
              <a:rPr sz="1800" i="1" spc="140" dirty="0">
                <a:latin typeface="Calibri"/>
                <a:cs typeface="Calibri"/>
              </a:rPr>
              <a:t> </a:t>
            </a:r>
            <a:r>
              <a:rPr sz="1800" i="1" dirty="0">
                <a:latin typeface="Calibri"/>
                <a:cs typeface="Calibri"/>
              </a:rPr>
              <a:t>using</a:t>
            </a:r>
            <a:r>
              <a:rPr sz="1800" i="1" spc="145" dirty="0">
                <a:latin typeface="Calibri"/>
                <a:cs typeface="Calibri"/>
              </a:rPr>
              <a:t> </a:t>
            </a:r>
            <a:r>
              <a:rPr sz="1800" i="1" dirty="0">
                <a:latin typeface="Calibri"/>
                <a:cs typeface="Calibri"/>
              </a:rPr>
              <a:t>fine-tuned</a:t>
            </a:r>
            <a:r>
              <a:rPr sz="1800" i="1" spc="140" dirty="0">
                <a:latin typeface="Calibri"/>
                <a:cs typeface="Calibri"/>
              </a:rPr>
              <a:t> </a:t>
            </a:r>
            <a:r>
              <a:rPr sz="1800" i="1" spc="-10" dirty="0">
                <a:latin typeface="Calibri"/>
                <a:cs typeface="Calibri"/>
              </a:rPr>
              <a:t>ResNet</a:t>
            </a:r>
            <a:endParaRPr sz="1800" dirty="0">
              <a:latin typeface="Calibri"/>
              <a:cs typeface="Calibri"/>
            </a:endParaRPr>
          </a:p>
          <a:p>
            <a:pPr marL="12700">
              <a:lnSpc>
                <a:spcPct val="100000"/>
              </a:lnSpc>
              <a:spcBef>
                <a:spcPts val="1560"/>
              </a:spcBef>
            </a:pPr>
            <a:r>
              <a:rPr sz="1800" i="1" dirty="0">
                <a:latin typeface="Calibri"/>
                <a:cs typeface="Calibri"/>
              </a:rPr>
              <a:t>models.</a:t>
            </a:r>
            <a:r>
              <a:rPr sz="1800" i="1" spc="-50" dirty="0">
                <a:latin typeface="Calibri"/>
                <a:cs typeface="Calibri"/>
              </a:rPr>
              <a:t> </a:t>
            </a:r>
            <a:r>
              <a:rPr sz="1800" dirty="0">
                <a:latin typeface="Calibri"/>
                <a:cs typeface="Calibri"/>
              </a:rPr>
              <a:t>Materials</a:t>
            </a:r>
            <a:r>
              <a:rPr sz="1800" spc="-55" dirty="0">
                <a:latin typeface="Calibri"/>
                <a:cs typeface="Calibri"/>
              </a:rPr>
              <a:t> </a:t>
            </a:r>
            <a:r>
              <a:rPr sz="1800" dirty="0">
                <a:latin typeface="Calibri"/>
                <a:cs typeface="Calibri"/>
              </a:rPr>
              <a:t>Today:</a:t>
            </a:r>
            <a:r>
              <a:rPr sz="1800" spc="-50" dirty="0">
                <a:latin typeface="Calibri"/>
                <a:cs typeface="Calibri"/>
              </a:rPr>
              <a:t> </a:t>
            </a:r>
            <a:r>
              <a:rPr sz="1800" dirty="0">
                <a:latin typeface="Calibri"/>
                <a:cs typeface="Calibri"/>
              </a:rPr>
              <a:t>Proceedings,</a:t>
            </a:r>
            <a:r>
              <a:rPr sz="1800" spc="-50" dirty="0">
                <a:latin typeface="Calibri"/>
                <a:cs typeface="Calibri"/>
              </a:rPr>
              <a:t> </a:t>
            </a:r>
            <a:r>
              <a:rPr sz="1800" dirty="0">
                <a:latin typeface="Calibri"/>
                <a:cs typeface="Calibri"/>
              </a:rPr>
              <a:t>80,</a:t>
            </a:r>
            <a:r>
              <a:rPr sz="1800" spc="-50" dirty="0">
                <a:latin typeface="Calibri"/>
                <a:cs typeface="Calibri"/>
              </a:rPr>
              <a:t> </a:t>
            </a:r>
            <a:r>
              <a:rPr sz="1800" spc="-10" dirty="0">
                <a:latin typeface="Calibri"/>
                <a:cs typeface="Calibri"/>
              </a:rPr>
              <a:t>1144–1151.</a:t>
            </a:r>
            <a:endParaRPr sz="1800" dirty="0">
              <a:latin typeface="Calibri"/>
              <a:cs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1133" y="2725623"/>
            <a:ext cx="4102735" cy="1031875"/>
          </a:xfrm>
          <a:prstGeom prst="rect">
            <a:avLst/>
          </a:prstGeom>
        </p:spPr>
        <p:txBody>
          <a:bodyPr vert="horz" wrap="square" lIns="0" tIns="12700" rIns="0" bIns="0" rtlCol="0">
            <a:spAutoFit/>
          </a:bodyPr>
          <a:lstStyle/>
          <a:p>
            <a:pPr marL="12700">
              <a:lnSpc>
                <a:spcPct val="100000"/>
              </a:lnSpc>
              <a:spcBef>
                <a:spcPts val="100"/>
              </a:spcBef>
            </a:pPr>
            <a:r>
              <a:rPr sz="6600" b="0" dirty="0">
                <a:latin typeface="Calibri"/>
                <a:cs typeface="Calibri"/>
              </a:rPr>
              <a:t>THANK</a:t>
            </a:r>
            <a:r>
              <a:rPr sz="6600" b="0" spc="-15" dirty="0">
                <a:latin typeface="Calibri"/>
                <a:cs typeface="Calibri"/>
              </a:rPr>
              <a:t> </a:t>
            </a:r>
            <a:r>
              <a:rPr sz="6600" b="0" spc="-25" dirty="0">
                <a:latin typeface="Calibri"/>
                <a:cs typeface="Calibri"/>
              </a:rPr>
              <a:t>YOU</a:t>
            </a:r>
            <a:endParaRPr sz="6600">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526</TotalTime>
  <Words>1618</Words>
  <Application>Microsoft Office PowerPoint</Application>
  <PresentationFormat>Widescreen</PresentationFormat>
  <Paragraphs>187</Paragraphs>
  <Slides>21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Cambria</vt:lpstr>
      <vt:lpstr>Noto Sans Symbols</vt:lpstr>
      <vt:lpstr>Times New Roman</vt:lpstr>
      <vt:lpstr>Wingdings</vt:lpstr>
      <vt:lpstr>Office Theme</vt:lpstr>
      <vt:lpstr>SAVITRIBAI PHULE PUNE UNIVERSITY</vt:lpstr>
      <vt:lpstr>PowerPoint Presentation</vt:lpstr>
      <vt:lpstr>PowerPoint Presentation</vt:lpstr>
      <vt:lpstr>INTRODUCTION</vt:lpstr>
      <vt:lpstr>Applications</vt:lpstr>
      <vt:lpstr>Literature Review</vt:lpstr>
      <vt:lpstr>PowerPoint Presentation</vt:lpstr>
      <vt:lpstr>PowerPoint Presentation</vt:lpstr>
      <vt:lpstr>Objective</vt:lpstr>
      <vt:lpstr>MOTIVATION</vt:lpstr>
      <vt:lpstr>PowerPoint Presentation</vt:lpstr>
      <vt:lpstr>PowerPoint Presentation</vt:lpstr>
      <vt:lpstr>PowerPoint Presentation</vt:lpstr>
      <vt:lpstr>PowerPoint Presentation</vt:lpstr>
      <vt:lpstr>PowerPoint Presentation</vt:lpstr>
      <vt:lpstr>CONCLUSION</vt:lpstr>
      <vt:lpstr>PowerPoint Presentation</vt:lpstr>
      <vt:lpstr>PowerPoint Presentation</vt:lpstr>
      <vt:lpstr>References</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samruddhihsabale@outlook.com</dc:creator>
  <cp:lastModifiedBy>Samruddhi Sabale</cp:lastModifiedBy>
  <cp:revision>4</cp:revision>
  <dcterms:created xsi:type="dcterms:W3CDTF">2025-09-18T13:53:50Z</dcterms:created>
  <dcterms:modified xsi:type="dcterms:W3CDTF">2026-03-30T04:34:39Z</dcterms:modified>
</cp:coreProperties>
</file>